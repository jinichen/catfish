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4"/>
  </p:sldMasterIdLst>
  <p:notesMasterIdLst>
    <p:notesMasterId r:id="rId35"/>
  </p:notes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9144000" cy="51435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Master" Target="slideMasters/slideMaster1.xml"/><Relationship Id="rId35" Type="http://schemas.openxmlformats.org/officeDocument/2006/relationships/notesMaster" Target="notesMasters/notesMaster1.xml"/><Relationship Id="rId36" Type="http://schemas.openxmlformats.org/officeDocument/2006/relationships/theme" Target="theme/theme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今天我用 30 分钟给大家展示鲶鱼。不展示 AI 多牛，展示员工每天怎么用。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员工 8 小时，很多时间在切系统、找数据、排版、凑字数。鲶鱼专门解决这些。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聊天工具员工已经有了，不缺。缺的是端到端自动化加跨对话记忆。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员工说一句话，鲶鱼自动化整个流程。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演示时强调密码走 secret_ref，不进 LLM；数据全程在员工本机。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客户看到的一行话，背后是本地服务加中央网关。中央看 metadata 做容灾路由。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接下来展示员工屏幕上有一封客户邮件，鲶鱼只负责理解和起草。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强调 vision 模型自动切，不需要员工手动选模型；隐私设计里员工是用户，不是被监控对象。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这个场景是给 IT 和合规负责人看的。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中央只看 metadata，看不到对话内容；IT 能审计风险，员工工作流不被打扰。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客户最在意的是，它真的像同事吗，还是每次都要重新介绍背景。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ChatGPT 打开新对话什么都不记得。鲶鱼跟你共事半年，记得你的业务背景，而且记忆 100% 在员工电脑里。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4 个场景对应 4 层价值：干活、体感、合规、像同事。缺一层都不是真副手。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这里嵌入 30 秒你日常用鲶鱼的录屏，不是排练 demo。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这不是替代员工，而是把员工从重复劳动里解放出来。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我们不是通用聊天工具的竞争对手，是完全不一样的物种。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用这页把客户心里的竞品分类，避免陷入“谁模型更强”的比较。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IT 拿到三个明确控制点，SaaS 没有，单层桌面 Agent 也没有。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CISO 最关心的事在设计阶段就解决，不是后补合规。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这是一句话直击差异化：鲶鱼像同事一样记得你，且记忆在员工本地。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这是真正护城河。12 个月内 ship，是基础设施路线，不是单机工具路线。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差异化不是“比 ChatGPT 强”，而是企业可控、员工好用、组织能沉淀。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这里从技术信任转到交付和采购问题。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今年签 Phase 1，自动升级到 Phase 3，不需要重新部署或换产品。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我们不靠员工用得多收钱，靠装得久收钱，客户越用越省。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让客户感到这是可落地节奏，不是大项目启动会。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这一页是引导，不要展开讲，直接请客户提最关心的问题。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第 6 题简答：档1 注入最近 7 天 session 元数据，档2 长期 journal，全在员工本机。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这一页要讲得慢一点，给客户一个长期投入的确定性。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收尾不要拖，明确下一步是技术对接会。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只有技术负责人追问时打开。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备用页，把 IT 追问集中承接。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客户要求详细对比时再放，不主动讲。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1-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1-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1-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1-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1-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-1-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-1-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-1-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-1-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-1-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-1-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-1-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-1-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-1-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-1-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-1-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-1-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-1-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-1-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-1-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-1-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-1-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-1-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-1-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-1-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-1-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-1-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-1-1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-1-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-1-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-1-1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-1-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-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914400"/>
            <a:ext cx="1325880" cy="1325880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2331720" y="86868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4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鲶鱼</a:t>
            </a:r>
            <a:endParaRPr lang="zh-CN" sz="4800"/>
          </a:p>
        </p:txBody>
      </p:sp>
      <p:sp>
        <p:nvSpPr>
          <p:cNvPr id="8" name="en"/>
          <p:cNvSpPr/>
          <p:nvPr/>
        </p:nvSpPr>
        <p:spPr>
          <a:xfrm>
            <a:off x="2340864" y="175564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000" i="1">
                <a:solidFill>
                  <a:srgbClr val="1A8A95"/>
                </a:solidFill>
                <a:latin typeface="Helvetica Neue"/>
                <a:ea typeface="Helvetica Neue"/>
                <a:cs typeface="Helvetica Neue"/>
              </a:rPr>
              <a:t>Catfish</a:t>
            </a:r>
            <a:endParaRPr lang="zh-CN" sz="2000"/>
          </a:p>
        </p:txBody>
      </p:sp>
      <p:sp>
        <p:nvSpPr>
          <p:cNvPr id="9" name="dot"/>
          <p:cNvSpPr/>
          <p:nvPr/>
        </p:nvSpPr>
        <p:spPr>
          <a:xfrm>
            <a:off x="2340864" y="2487168"/>
            <a:ext cx="128016" cy="128016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0" name="sub"/>
          <p:cNvSpPr/>
          <p:nvPr/>
        </p:nvSpPr>
        <p:spPr>
          <a:xfrm>
            <a:off x="2578608" y="237744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员工的 AI 副手 · 边缘主权 · 平等</a:t>
            </a:r>
            <a:endParaRPr lang="zh-CN" sz="1800"/>
          </a:p>
        </p:txBody>
      </p:sp>
      <p:sp>
        <p:nvSpPr>
          <p:cNvPr id="11" name="meta"/>
          <p:cNvSpPr/>
          <p:nvPr/>
        </p:nvSpPr>
        <p:spPr>
          <a:xfrm>
            <a:off x="731520" y="3401568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陈鸿波 / 鲶鱼平台 (Catfish)</a:t>
            </a:r>
            <a:endParaRPr lang="zh-CN" sz="1800"/>
          </a:p>
          <a:p>
            <a:pPr algn="l" indent="0" marL="0">
              <a:spcAft>
                <a:spcPts val="30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2026 年 5 月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01/33 · 2026.05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4124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你们公司员工的真实一天</a:t>
            </a:r>
            <a:endParaRPr lang="zh-CN" sz="2700"/>
          </a:p>
        </p:txBody>
      </p:sp>
      <p:sp>
        <p:nvSpPr>
          <p:cNvPr id="10" name="th"/>
          <p:cNvSpPr/>
          <p:nvPr/>
        </p:nvSpPr>
        <p:spPr>
          <a:xfrm>
            <a:off x="502920" y="1417320"/>
            <a:ext cx="269443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1" name="tht"/>
          <p:cNvSpPr/>
          <p:nvPr/>
        </p:nvSpPr>
        <p:spPr>
          <a:xfrm>
            <a:off x="576072" y="1527048"/>
            <a:ext cx="2566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时段</a:t>
            </a:r>
            <a:endParaRPr lang="zh-CN" sz="1250"/>
          </a:p>
        </p:txBody>
      </p:sp>
      <p:sp>
        <p:nvSpPr>
          <p:cNvPr id="12" name="th"/>
          <p:cNvSpPr/>
          <p:nvPr/>
        </p:nvSpPr>
        <p:spPr>
          <a:xfrm>
            <a:off x="3215640" y="1417320"/>
            <a:ext cx="269443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3" name="tht"/>
          <p:cNvSpPr/>
          <p:nvPr/>
        </p:nvSpPr>
        <p:spPr>
          <a:xfrm>
            <a:off x="3288792" y="1527048"/>
            <a:ext cx="2566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动作</a:t>
            </a:r>
            <a:endParaRPr lang="zh-CN" sz="1250"/>
          </a:p>
        </p:txBody>
      </p:sp>
      <p:sp>
        <p:nvSpPr>
          <p:cNvPr id="14" name="th"/>
          <p:cNvSpPr/>
          <p:nvPr/>
        </p:nvSpPr>
        <p:spPr>
          <a:xfrm>
            <a:off x="5928360" y="1417320"/>
            <a:ext cx="269443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5" name="tht"/>
          <p:cNvSpPr/>
          <p:nvPr/>
        </p:nvSpPr>
        <p:spPr>
          <a:xfrm>
            <a:off x="6001512" y="1527048"/>
            <a:ext cx="2566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痛点</a:t>
            </a:r>
            <a:endParaRPr lang="zh-CN" sz="1250"/>
          </a:p>
        </p:txBody>
      </p:sp>
      <p:sp>
        <p:nvSpPr>
          <p:cNvPr id="16" name="td"/>
          <p:cNvSpPr/>
          <p:nvPr/>
        </p:nvSpPr>
        <p:spPr>
          <a:xfrm>
            <a:off x="502920" y="1911095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7" name="tdt"/>
          <p:cNvSpPr/>
          <p:nvPr/>
        </p:nvSpPr>
        <p:spPr>
          <a:xfrm>
            <a:off x="576072" y="1984248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9:00</a:t>
            </a:r>
            <a:endParaRPr lang="zh-CN" sz="1150"/>
          </a:p>
        </p:txBody>
      </p:sp>
      <p:sp>
        <p:nvSpPr>
          <p:cNvPr id="18" name="td"/>
          <p:cNvSpPr/>
          <p:nvPr/>
        </p:nvSpPr>
        <p:spPr>
          <a:xfrm>
            <a:off x="3215640" y="1911095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tdt"/>
          <p:cNvSpPr/>
          <p:nvPr/>
        </p:nvSpPr>
        <p:spPr>
          <a:xfrm>
            <a:off x="3288792" y="1984248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登录 EIS / OA / 飞书 / 邮箱</a:t>
            </a:r>
            <a:endParaRPr lang="zh-CN" sz="1150"/>
          </a:p>
        </p:txBody>
      </p:sp>
      <p:sp>
        <p:nvSpPr>
          <p:cNvPr id="20" name="td"/>
          <p:cNvSpPr/>
          <p:nvPr/>
        </p:nvSpPr>
        <p:spPr>
          <a:xfrm>
            <a:off x="5928360" y="1911095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1" name="tdt"/>
          <p:cNvSpPr/>
          <p:nvPr/>
        </p:nvSpPr>
        <p:spPr>
          <a:xfrm>
            <a:off x="6001512" y="1984248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30 分钟纯切换</a:t>
            </a:r>
            <a:endParaRPr lang="zh-CN" sz="1150"/>
          </a:p>
        </p:txBody>
      </p:sp>
      <p:sp>
        <p:nvSpPr>
          <p:cNvPr id="22" name="td"/>
          <p:cNvSpPr/>
          <p:nvPr/>
        </p:nvSpPr>
        <p:spPr>
          <a:xfrm>
            <a:off x="502920" y="2377439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3" name="tdt"/>
          <p:cNvSpPr/>
          <p:nvPr/>
        </p:nvSpPr>
        <p:spPr>
          <a:xfrm>
            <a:off x="576072" y="2450591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10:00</a:t>
            </a:r>
            <a:endParaRPr lang="zh-CN" sz="1150"/>
          </a:p>
        </p:txBody>
      </p:sp>
      <p:sp>
        <p:nvSpPr>
          <p:cNvPr id="24" name="td"/>
          <p:cNvSpPr/>
          <p:nvPr/>
        </p:nvSpPr>
        <p:spPr>
          <a:xfrm>
            <a:off x="3215640" y="2377439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5" name="tdt"/>
          <p:cNvSpPr/>
          <p:nvPr/>
        </p:nvSpPr>
        <p:spPr>
          <a:xfrm>
            <a:off x="3288792" y="2450591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查客户 X 状态</a:t>
            </a:r>
            <a:endParaRPr lang="zh-CN" sz="1150"/>
          </a:p>
        </p:txBody>
      </p:sp>
      <p:sp>
        <p:nvSpPr>
          <p:cNvPr id="26" name="td"/>
          <p:cNvSpPr/>
          <p:nvPr/>
        </p:nvSpPr>
        <p:spPr>
          <a:xfrm>
            <a:off x="5928360" y="2377439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7" name="tdt"/>
          <p:cNvSpPr/>
          <p:nvPr/>
        </p:nvSpPr>
        <p:spPr>
          <a:xfrm>
            <a:off x="6001512" y="2450591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数据散在 5 处</a:t>
            </a:r>
            <a:endParaRPr lang="zh-CN" sz="1150"/>
          </a:p>
        </p:txBody>
      </p:sp>
      <p:sp>
        <p:nvSpPr>
          <p:cNvPr id="28" name="td"/>
          <p:cNvSpPr/>
          <p:nvPr/>
        </p:nvSpPr>
        <p:spPr>
          <a:xfrm>
            <a:off x="502920" y="2843784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9" name="tdt"/>
          <p:cNvSpPr/>
          <p:nvPr/>
        </p:nvSpPr>
        <p:spPr>
          <a:xfrm>
            <a:off x="576072" y="2916936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11:00</a:t>
            </a:r>
            <a:endParaRPr lang="zh-CN" sz="1150"/>
          </a:p>
        </p:txBody>
      </p:sp>
      <p:sp>
        <p:nvSpPr>
          <p:cNvPr id="30" name="td"/>
          <p:cNvSpPr/>
          <p:nvPr/>
        </p:nvSpPr>
        <p:spPr>
          <a:xfrm>
            <a:off x="3215640" y="2843784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1" name="tdt"/>
          <p:cNvSpPr/>
          <p:nvPr/>
        </p:nvSpPr>
        <p:spPr>
          <a:xfrm>
            <a:off x="3288792" y="2916936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报销填 12 字段</a:t>
            </a:r>
            <a:endParaRPr lang="zh-CN" sz="1150"/>
          </a:p>
        </p:txBody>
      </p:sp>
      <p:sp>
        <p:nvSpPr>
          <p:cNvPr id="32" name="td"/>
          <p:cNvSpPr/>
          <p:nvPr/>
        </p:nvSpPr>
        <p:spPr>
          <a:xfrm>
            <a:off x="5928360" y="2843784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3" name="tdt"/>
          <p:cNvSpPr/>
          <p:nvPr/>
        </p:nvSpPr>
        <p:spPr>
          <a:xfrm>
            <a:off x="6001512" y="2916936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重复劳动</a:t>
            </a:r>
            <a:endParaRPr lang="zh-CN" sz="1150"/>
          </a:p>
        </p:txBody>
      </p:sp>
      <p:sp>
        <p:nvSpPr>
          <p:cNvPr id="34" name="td"/>
          <p:cNvSpPr/>
          <p:nvPr/>
        </p:nvSpPr>
        <p:spPr>
          <a:xfrm>
            <a:off x="502920" y="3310128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5" name="tdt"/>
          <p:cNvSpPr/>
          <p:nvPr/>
        </p:nvSpPr>
        <p:spPr>
          <a:xfrm>
            <a:off x="576072" y="3383280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14:00</a:t>
            </a:r>
            <a:endParaRPr lang="zh-CN" sz="1150"/>
          </a:p>
        </p:txBody>
      </p:sp>
      <p:sp>
        <p:nvSpPr>
          <p:cNvPr id="36" name="td"/>
          <p:cNvSpPr/>
          <p:nvPr/>
        </p:nvSpPr>
        <p:spPr>
          <a:xfrm>
            <a:off x="3215640" y="3310128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7" name="tdt"/>
          <p:cNvSpPr/>
          <p:nvPr/>
        </p:nvSpPr>
        <p:spPr>
          <a:xfrm>
            <a:off x="3288792" y="3383280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写汇报套模板</a:t>
            </a:r>
            <a:endParaRPr lang="zh-CN" sz="1150"/>
          </a:p>
        </p:txBody>
      </p:sp>
      <p:sp>
        <p:nvSpPr>
          <p:cNvPr id="38" name="td"/>
          <p:cNvSpPr/>
          <p:nvPr/>
        </p:nvSpPr>
        <p:spPr>
          <a:xfrm>
            <a:off x="5928360" y="3310128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9" name="tdt"/>
          <p:cNvSpPr/>
          <p:nvPr/>
        </p:nvSpPr>
        <p:spPr>
          <a:xfrm>
            <a:off x="6001512" y="3383280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2 小时排版</a:t>
            </a:r>
            <a:endParaRPr lang="zh-CN" sz="1150"/>
          </a:p>
        </p:txBody>
      </p:sp>
      <p:sp>
        <p:nvSpPr>
          <p:cNvPr id="40" name="td"/>
          <p:cNvSpPr/>
          <p:nvPr/>
        </p:nvSpPr>
        <p:spPr>
          <a:xfrm>
            <a:off x="502920" y="3776472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41" name="tdt"/>
          <p:cNvSpPr/>
          <p:nvPr/>
        </p:nvSpPr>
        <p:spPr>
          <a:xfrm>
            <a:off x="576072" y="3849624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17:00</a:t>
            </a:r>
            <a:endParaRPr lang="zh-CN" sz="1150"/>
          </a:p>
        </p:txBody>
      </p:sp>
      <p:sp>
        <p:nvSpPr>
          <p:cNvPr id="42" name="td"/>
          <p:cNvSpPr/>
          <p:nvPr/>
        </p:nvSpPr>
        <p:spPr>
          <a:xfrm>
            <a:off x="3215640" y="3776472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43" name="tdt"/>
          <p:cNvSpPr/>
          <p:nvPr/>
        </p:nvSpPr>
        <p:spPr>
          <a:xfrm>
            <a:off x="3288792" y="3849624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周报翻邮件日历</a:t>
            </a:r>
            <a:endParaRPr lang="zh-CN" sz="1150"/>
          </a:p>
        </p:txBody>
      </p:sp>
      <p:sp>
        <p:nvSpPr>
          <p:cNvPr id="44" name="td"/>
          <p:cNvSpPr/>
          <p:nvPr/>
        </p:nvSpPr>
        <p:spPr>
          <a:xfrm>
            <a:off x="5928360" y="3776472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45" name="tdt"/>
          <p:cNvSpPr/>
          <p:nvPr/>
        </p:nvSpPr>
        <p:spPr>
          <a:xfrm>
            <a:off x="6001512" y="3849624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1 小时回忆</a:t>
            </a:r>
            <a:endParaRPr lang="zh-CN" sz="11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02/33 · 2026.05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不是聊天工具，是工作流副手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card"/>
          <p:cNvSpPr/>
          <p:nvPr/>
        </p:nvSpPr>
        <p:spPr>
          <a:xfrm>
            <a:off x="566928" y="1783080"/>
            <a:ext cx="38862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3" name="card h"/>
          <p:cNvSpPr/>
          <p:nvPr/>
        </p:nvSpPr>
        <p:spPr>
          <a:xfrm>
            <a:off x="731520" y="1947672"/>
            <a:ext cx="35570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ChatGPT / Claude</a:t>
            </a:r>
            <a:endParaRPr lang="zh-CN" sz="1800"/>
          </a:p>
        </p:txBody>
      </p:sp>
      <p:sp>
        <p:nvSpPr>
          <p:cNvPr id="14" name="card b"/>
          <p:cNvSpPr/>
          <p:nvPr/>
        </p:nvSpPr>
        <p:spPr>
          <a:xfrm>
            <a:off x="731520" y="2423160"/>
            <a:ext cx="35570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帮我写一段文字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聊天，每次从零开始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缺工具、缺审计、缺组织面</a:t>
            </a:r>
            <a:endParaRPr lang="zh-CN" sz="1350"/>
          </a:p>
        </p:txBody>
      </p:sp>
      <p:sp>
        <p:nvSpPr>
          <p:cNvPr id="15" name="card"/>
          <p:cNvSpPr/>
          <p:nvPr/>
        </p:nvSpPr>
        <p:spPr>
          <a:xfrm>
            <a:off x="4681728" y="1783080"/>
            <a:ext cx="38862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6" name="card h"/>
          <p:cNvSpPr/>
          <p:nvPr/>
        </p:nvSpPr>
        <p:spPr>
          <a:xfrm>
            <a:off x="4846320" y="1947672"/>
            <a:ext cx="35570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鲶鱼</a:t>
            </a:r>
            <a:endParaRPr lang="zh-CN" sz="1800"/>
          </a:p>
        </p:txBody>
      </p:sp>
      <p:sp>
        <p:nvSpPr>
          <p:cNvPr id="17" name="card b"/>
          <p:cNvSpPr/>
          <p:nvPr/>
        </p:nvSpPr>
        <p:spPr>
          <a:xfrm>
            <a:off x="4846320" y="2423160"/>
            <a:ext cx="35570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抓 EIS 145 条资质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套部门模板生成汇报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周报草稿发飞书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工作流，记得你</a:t>
            </a:r>
            <a:endParaRPr lang="zh-CN" sz="13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03/33 · 2026.05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777240" cy="777240"/>
          </a:xfrm>
          <a:prstGeom prst="rect">
            <a:avLst/>
          </a:prstGeom>
        </p:spPr>
      </p:pic>
      <p:sp>
        <p:nvSpPr>
          <p:cNvPr id="7" name="section"/>
          <p:cNvSpPr/>
          <p:nvPr/>
        </p:nvSpPr>
        <p:spPr>
          <a:xfrm>
            <a:off x="658368" y="182880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3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场景 1：9 点生成汇报</a:t>
            </a:r>
            <a:endParaRPr lang="zh-CN" sz="3400"/>
          </a:p>
        </p:txBody>
      </p:sp>
      <p:sp>
        <p:nvSpPr>
          <p:cNvPr id="8" name="dot"/>
          <p:cNvSpPr/>
          <p:nvPr/>
        </p:nvSpPr>
        <p:spPr>
          <a:xfrm>
            <a:off x="685800" y="2651760"/>
            <a:ext cx="118872" cy="118872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9" name="subtitle"/>
          <p:cNvSpPr/>
          <p:nvPr/>
        </p:nvSpPr>
        <p:spPr>
          <a:xfrm>
            <a:off x="914400" y="254203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一句话抓 EIS 资质，套模板生成本月汇报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04/33 · 2026.05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Live Demo：汇报生成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输入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抓 EIS 资质 145 条，用部门模板生成本月汇报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浏览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Catfish Chrome 翻 15 页，数据落 qual.jsonl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统计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pandas 按部门 / 类别汇总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成文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4 段公文结构，CSV 附件保持主文档干净</a:t>
            </a:r>
            <a:endParaRPr lang="zh-CN" sz="1250"/>
          </a:p>
        </p:txBody>
      </p:sp>
      <p:sp>
        <p:nvSpPr>
          <p:cNvPr id="25" name="arrow"/>
          <p:cNvSpPr/>
          <p:nvPr/>
        </p:nvSpPr>
        <p:spPr>
          <a:xfrm>
            <a:off x="2624328" y="3108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6" name="node"/>
          <p:cNvSpPr/>
          <p:nvPr/>
        </p:nvSpPr>
        <p:spPr>
          <a:xfrm>
            <a:off x="640080" y="345643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7" name="nodet"/>
          <p:cNvSpPr/>
          <p:nvPr/>
        </p:nvSpPr>
        <p:spPr>
          <a:xfrm>
            <a:off x="749808" y="352958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自审</a:t>
            </a:r>
            <a:endParaRPr lang="zh-CN" sz="1250"/>
          </a:p>
        </p:txBody>
      </p:sp>
      <p:sp>
        <p:nvSpPr>
          <p:cNvPr id="28" name="desc"/>
          <p:cNvSpPr/>
          <p:nvPr/>
        </p:nvSpPr>
        <p:spPr>
          <a:xfrm>
            <a:off x="2788920" y="348386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公文高频字典 + pycorrector 双 backend 校对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05/33 · 2026.05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后台架构：本地干活，中央路由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员工说话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Companion 本地客户端接收任务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JWT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catfish-gateway 路由、审计、注入历史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模型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Qwen / Gemini / 客户私有 LLM 可切换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tool calls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tool-bridge 通过 unix socket 执行</a:t>
            </a:r>
            <a:endParaRPr lang="zh-CN" sz="1250"/>
          </a:p>
        </p:txBody>
      </p:sp>
      <p:sp>
        <p:nvSpPr>
          <p:cNvPr id="25" name="arrow"/>
          <p:cNvSpPr/>
          <p:nvPr/>
        </p:nvSpPr>
        <p:spPr>
          <a:xfrm>
            <a:off x="2624328" y="3108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6" name="node"/>
          <p:cNvSpPr/>
          <p:nvPr/>
        </p:nvSpPr>
        <p:spPr>
          <a:xfrm>
            <a:off x="640080" y="345643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7" name="nodet"/>
          <p:cNvSpPr/>
          <p:nvPr/>
        </p:nvSpPr>
        <p:spPr>
          <a:xfrm>
            <a:off x="749808" y="352958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内网</a:t>
            </a:r>
            <a:endParaRPr lang="zh-CN" sz="1250"/>
          </a:p>
        </p:txBody>
      </p:sp>
      <p:sp>
        <p:nvSpPr>
          <p:cNvPr id="28" name="desc"/>
          <p:cNvSpPr/>
          <p:nvPr/>
        </p:nvSpPr>
        <p:spPr>
          <a:xfrm>
            <a:off x="2788920" y="348386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Catfish Chrome 隔离 profile 访问 EIS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06/33 · 2026.05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777240" cy="777240"/>
          </a:xfrm>
          <a:prstGeom prst="rect">
            <a:avLst/>
          </a:prstGeom>
        </p:spPr>
      </p:pic>
      <p:sp>
        <p:nvSpPr>
          <p:cNvPr id="7" name="section"/>
          <p:cNvSpPr/>
          <p:nvPr/>
        </p:nvSpPr>
        <p:spPr>
          <a:xfrm>
            <a:off x="658368" y="182880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3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场景 2：看屏幕处理邮件</a:t>
            </a:r>
            <a:endParaRPr lang="zh-CN" sz="3400"/>
          </a:p>
        </p:txBody>
      </p:sp>
      <p:sp>
        <p:nvSpPr>
          <p:cNvPr id="8" name="dot"/>
          <p:cNvSpPr/>
          <p:nvPr/>
        </p:nvSpPr>
        <p:spPr>
          <a:xfrm>
            <a:off x="685800" y="2651760"/>
            <a:ext cx="118872" cy="118872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9" name="subtitle"/>
          <p:cNvSpPr/>
          <p:nvPr/>
        </p:nvSpPr>
        <p:spPr>
          <a:xfrm>
            <a:off x="914400" y="254203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多模态理解当前屏幕，员工保留最终决策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07/33 · 2026.05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Live Demo：屏幕与邮件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截图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catfish_screenshot 捕捉当前邮件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路由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multimodal_guard 自动切 vision 模型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判断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识别客户问报价，结合历史购买记录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起草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生成回邮草稿，不替员工点击发送</a:t>
            </a:r>
            <a:endParaRPr lang="zh-CN" sz="1250"/>
          </a:p>
        </p:txBody>
      </p:sp>
      <p:sp>
        <p:nvSpPr>
          <p:cNvPr id="25" name="arrow"/>
          <p:cNvSpPr/>
          <p:nvPr/>
        </p:nvSpPr>
        <p:spPr>
          <a:xfrm>
            <a:off x="2624328" y="3108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6" name="node"/>
          <p:cNvSpPr/>
          <p:nvPr/>
        </p:nvSpPr>
        <p:spPr>
          <a:xfrm>
            <a:off x="640080" y="345643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7" name="nodet"/>
          <p:cNvSpPr/>
          <p:nvPr/>
        </p:nvSpPr>
        <p:spPr>
          <a:xfrm>
            <a:off x="749808" y="352958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原则</a:t>
            </a:r>
            <a:endParaRPr lang="zh-CN" sz="1250"/>
          </a:p>
        </p:txBody>
      </p:sp>
      <p:sp>
        <p:nvSpPr>
          <p:cNvPr id="28" name="desc"/>
          <p:cNvSpPr/>
          <p:nvPr/>
        </p:nvSpPr>
        <p:spPr>
          <a:xfrm>
            <a:off x="2788920" y="348386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员工 review，员工本人按发送键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08/33 · 2026.05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777240" cy="777240"/>
          </a:xfrm>
          <a:prstGeom prst="rect">
            <a:avLst/>
          </a:prstGeom>
        </p:spPr>
      </p:pic>
      <p:sp>
        <p:nvSpPr>
          <p:cNvPr id="7" name="section"/>
          <p:cNvSpPr/>
          <p:nvPr/>
        </p:nvSpPr>
        <p:spPr>
          <a:xfrm>
            <a:off x="658368" y="182880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3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场景 3：IT 看仪表盘</a:t>
            </a:r>
            <a:endParaRPr lang="zh-CN" sz="3400"/>
          </a:p>
        </p:txBody>
      </p:sp>
      <p:sp>
        <p:nvSpPr>
          <p:cNvPr id="8" name="dot"/>
          <p:cNvSpPr/>
          <p:nvPr/>
        </p:nvSpPr>
        <p:spPr>
          <a:xfrm>
            <a:off x="685800" y="2651760"/>
            <a:ext cx="118872" cy="118872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9" name="subtitle"/>
          <p:cNvSpPr/>
          <p:nvPr/>
        </p:nvSpPr>
        <p:spPr>
          <a:xfrm>
            <a:off x="914400" y="254203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30 个员工都在用什么，哪里有安全风险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09/33 · 2026.05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Companion 仪表盘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今日请求数 / 错误率 / Token / 本地优先 %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TTFT p50 / p95 看体验，不靠感觉猜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模型分布：80% 内网私有，20% 公网 flash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security_concern：自动发现明文密码 prompt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10/33 · 2026.05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777240" cy="777240"/>
          </a:xfrm>
          <a:prstGeom prst="rect">
            <a:avLst/>
          </a:prstGeom>
        </p:spPr>
      </p:pic>
      <p:sp>
        <p:nvSpPr>
          <p:cNvPr id="7" name="section"/>
          <p:cNvSpPr/>
          <p:nvPr/>
        </p:nvSpPr>
        <p:spPr>
          <a:xfrm>
            <a:off x="658368" y="182880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3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场景 4：第二天新对话</a:t>
            </a:r>
            <a:endParaRPr lang="zh-CN" sz="3400"/>
          </a:p>
        </p:txBody>
      </p:sp>
      <p:sp>
        <p:nvSpPr>
          <p:cNvPr id="8" name="dot"/>
          <p:cNvSpPr/>
          <p:nvPr/>
        </p:nvSpPr>
        <p:spPr>
          <a:xfrm>
            <a:off x="685800" y="2651760"/>
            <a:ext cx="118872" cy="118872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9" name="subtitle"/>
          <p:cNvSpPr/>
          <p:nvPr/>
        </p:nvSpPr>
        <p:spPr>
          <a:xfrm>
            <a:off x="914400" y="254203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“昨天那个汇报材料怎么改的？”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11/33 · 2026.05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Live Demo：跨 session 记忆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新开 session，员工只说“昨天那个汇报怎么改”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鲶鱼引用 4-29 月度汇报摘要，直接接上下文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补一句“加金智达进展”，不问“什么金智达”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最近 7 天 session + 长期 employee_journal.md 全本地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12/33 · 2026.05</a:t>
            </a:r>
            <a:endParaRPr lang="zh-CN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4 个场景，4 层价值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card"/>
          <p:cNvSpPr/>
          <p:nvPr/>
        </p:nvSpPr>
        <p:spPr>
          <a:xfrm>
            <a:off x="566928" y="1783080"/>
            <a:ext cx="18288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3" name="card h"/>
          <p:cNvSpPr/>
          <p:nvPr/>
        </p:nvSpPr>
        <p:spPr>
          <a:xfrm>
            <a:off x="731520" y="1947672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干活</a:t>
            </a:r>
            <a:endParaRPr lang="zh-CN" sz="1800"/>
          </a:p>
        </p:txBody>
      </p:sp>
      <p:sp>
        <p:nvSpPr>
          <p:cNvPr id="14" name="card b"/>
          <p:cNvSpPr/>
          <p:nvPr/>
        </p:nvSpPr>
        <p:spPr>
          <a:xfrm>
            <a:off x="731520" y="2423160"/>
            <a:ext cx="14996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跨内网系统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跨格式自动化</a:t>
            </a:r>
            <a:endParaRPr lang="zh-CN" sz="1350"/>
          </a:p>
        </p:txBody>
      </p:sp>
      <p:sp>
        <p:nvSpPr>
          <p:cNvPr id="15" name="card"/>
          <p:cNvSpPr/>
          <p:nvPr/>
        </p:nvSpPr>
        <p:spPr>
          <a:xfrm>
            <a:off x="2624328" y="1783080"/>
            <a:ext cx="18288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6" name="card h"/>
          <p:cNvSpPr/>
          <p:nvPr/>
        </p:nvSpPr>
        <p:spPr>
          <a:xfrm>
            <a:off x="2788920" y="1947672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体感</a:t>
            </a:r>
            <a:endParaRPr lang="zh-CN" sz="1800"/>
          </a:p>
        </p:txBody>
      </p:sp>
      <p:sp>
        <p:nvSpPr>
          <p:cNvPr id="17" name="card b"/>
          <p:cNvSpPr/>
          <p:nvPr/>
        </p:nvSpPr>
        <p:spPr>
          <a:xfrm>
            <a:off x="2788920" y="2423160"/>
            <a:ext cx="14996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多模态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隐私设计</a:t>
            </a:r>
            <a:endParaRPr lang="zh-CN" sz="1350"/>
          </a:p>
        </p:txBody>
      </p:sp>
      <p:sp>
        <p:nvSpPr>
          <p:cNvPr id="18" name="card"/>
          <p:cNvSpPr/>
          <p:nvPr/>
        </p:nvSpPr>
        <p:spPr>
          <a:xfrm>
            <a:off x="4681728" y="1783080"/>
            <a:ext cx="18288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card h"/>
          <p:cNvSpPr/>
          <p:nvPr/>
        </p:nvSpPr>
        <p:spPr>
          <a:xfrm>
            <a:off x="4846320" y="1947672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合规</a:t>
            </a:r>
            <a:endParaRPr lang="zh-CN" sz="1800"/>
          </a:p>
        </p:txBody>
      </p:sp>
      <p:sp>
        <p:nvSpPr>
          <p:cNvPr id="20" name="card b"/>
          <p:cNvSpPr/>
          <p:nvPr/>
        </p:nvSpPr>
        <p:spPr>
          <a:xfrm>
            <a:off x="4846320" y="2423160"/>
            <a:ext cx="14996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中央可审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员工自主</a:t>
            </a:r>
            <a:endParaRPr lang="zh-CN" sz="1350"/>
          </a:p>
        </p:txBody>
      </p:sp>
      <p:sp>
        <p:nvSpPr>
          <p:cNvPr id="21" name="card"/>
          <p:cNvSpPr/>
          <p:nvPr/>
        </p:nvSpPr>
        <p:spPr>
          <a:xfrm>
            <a:off x="6739128" y="1783080"/>
            <a:ext cx="18288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2" name="card h"/>
          <p:cNvSpPr/>
          <p:nvPr/>
        </p:nvSpPr>
        <p:spPr>
          <a:xfrm>
            <a:off x="6903720" y="1947672"/>
            <a:ext cx="14996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像同事</a:t>
            </a:r>
            <a:endParaRPr lang="zh-CN" sz="1800"/>
          </a:p>
        </p:txBody>
      </p:sp>
      <p:sp>
        <p:nvSpPr>
          <p:cNvPr id="23" name="card b"/>
          <p:cNvSpPr/>
          <p:nvPr/>
        </p:nvSpPr>
        <p:spPr>
          <a:xfrm>
            <a:off x="6903720" y="2423160"/>
            <a:ext cx="14996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 session 记忆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长期工作日记</a:t>
            </a:r>
            <a:endParaRPr lang="zh-CN" sz="13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13/33 · 2026.05</a:t>
            </a:r>
            <a:endParaRPr lang="zh-CN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真实使用录屏</a:t>
            </a:r>
            <a:endParaRPr lang="zh-CN" sz="2700"/>
          </a:p>
        </p:txBody>
      </p:sp>
      <p:sp>
        <p:nvSpPr>
          <p:cNvPr id="7" name="quoteBox"/>
          <p:cNvSpPr/>
          <p:nvPr/>
        </p:nvSpPr>
        <p:spPr>
          <a:xfrm>
            <a:off x="658368" y="1508760"/>
            <a:ext cx="7589520" cy="11430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8" name="quote"/>
          <p:cNvSpPr/>
          <p:nvPr/>
        </p:nvSpPr>
        <p:spPr>
          <a:xfrm>
            <a:off x="914400" y="173736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indent="0" marL="0">
              <a:spcAft>
                <a:spcPts val="0"/>
              </a:spcAft>
              <a:buNone/>
            </a:pPr>
            <a:r>
              <a:rPr lang="zh-CN" sz="2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30 秒日常工作，不是排练</a:t>
            </a:r>
            <a:endParaRPr lang="zh-CN" sz="2400"/>
          </a:p>
        </p:txBody>
      </p:sp>
      <p:sp>
        <p:nvSpPr>
          <p:cNvPr id="9" name="points"/>
          <p:cNvSpPr/>
          <p:nvPr/>
        </p:nvSpPr>
        <p:spPr>
          <a:xfrm>
            <a:off x="841248" y="2971800"/>
            <a:ext cx="7498079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展示你自己的工作日片段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替代现场网络不稳时的 fallback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让客户看到鲶鱼真的在干日常事</a:t>
            </a:r>
            <a:endParaRPr lang="zh-CN" sz="16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14/33 · 2026.05</a:t>
            </a:r>
            <a:endParaRPr lang="zh-CN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场景小结</a:t>
            </a:r>
            <a:endParaRPr lang="zh-CN" sz="2700"/>
          </a:p>
        </p:txBody>
      </p:sp>
      <p:sp>
        <p:nvSpPr>
          <p:cNvPr id="7" name="quoteBox"/>
          <p:cNvSpPr/>
          <p:nvPr/>
        </p:nvSpPr>
        <p:spPr>
          <a:xfrm>
            <a:off x="658368" y="1508760"/>
            <a:ext cx="7589520" cy="11430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8" name="quote"/>
          <p:cNvSpPr/>
          <p:nvPr/>
        </p:nvSpPr>
        <p:spPr>
          <a:xfrm>
            <a:off x="914400" y="173736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indent="0" marL="0">
              <a:spcAft>
                <a:spcPts val="0"/>
              </a:spcAft>
              <a:buNone/>
            </a:pPr>
            <a:r>
              <a:rPr lang="zh-CN" sz="2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员工 8 小时变 5 小时</a:t>
            </a:r>
            <a:endParaRPr lang="zh-CN" sz="2400"/>
          </a:p>
        </p:txBody>
      </p:sp>
      <p:sp>
        <p:nvSpPr>
          <p:cNvPr id="9" name="points"/>
          <p:cNvSpPr/>
          <p:nvPr/>
        </p:nvSpPr>
        <p:spPr>
          <a:xfrm>
            <a:off x="841248" y="2971800"/>
            <a:ext cx="7498079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省下 3 小时做真正需要思考的事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不是替代员工，是把员工从重复劳动里解放出来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越用鲶鱼越懂你</a:t>
            </a:r>
            <a:endParaRPr lang="zh-CN" sz="16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15/33 · 2026.05</a:t>
            </a:r>
            <a:endParaRPr lang="zh-CN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777240" cy="777240"/>
          </a:xfrm>
          <a:prstGeom prst="rect">
            <a:avLst/>
          </a:prstGeom>
        </p:spPr>
      </p:pic>
      <p:sp>
        <p:nvSpPr>
          <p:cNvPr id="7" name="section"/>
          <p:cNvSpPr/>
          <p:nvPr/>
        </p:nvSpPr>
        <p:spPr>
          <a:xfrm>
            <a:off x="658368" y="182880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3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差异化：不比谁更会聊天</a:t>
            </a:r>
            <a:endParaRPr lang="zh-CN" sz="3400"/>
          </a:p>
        </p:txBody>
      </p:sp>
      <p:sp>
        <p:nvSpPr>
          <p:cNvPr id="8" name="dot"/>
          <p:cNvSpPr/>
          <p:nvPr/>
        </p:nvSpPr>
        <p:spPr>
          <a:xfrm>
            <a:off x="685800" y="2651760"/>
            <a:ext cx="118872" cy="118872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9" name="subtitle"/>
          <p:cNvSpPr/>
          <p:nvPr/>
        </p:nvSpPr>
        <p:spPr>
          <a:xfrm>
            <a:off x="914400" y="254203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企业中台 + 员工副手 + 组织基础设施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16/33 · 2026.05</a:t>
            </a:r>
            <a:endParaRPr lang="zh-CN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市场上看着像鲶鱼的产品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card"/>
          <p:cNvSpPr/>
          <p:nvPr/>
        </p:nvSpPr>
        <p:spPr>
          <a:xfrm>
            <a:off x="566928" y="1783080"/>
            <a:ext cx="25146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3" name="card h"/>
          <p:cNvSpPr/>
          <p:nvPr/>
        </p:nvSpPr>
        <p:spPr>
          <a:xfrm>
            <a:off x="731520" y="1947672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通用聊天工具</a:t>
            </a:r>
            <a:endParaRPr lang="zh-CN" sz="1800"/>
          </a:p>
        </p:txBody>
      </p:sp>
      <p:sp>
        <p:nvSpPr>
          <p:cNvPr id="14" name="card b"/>
          <p:cNvSpPr/>
          <p:nvPr/>
        </p:nvSpPr>
        <p:spPr>
          <a:xfrm>
            <a:off x="731520" y="2423160"/>
            <a:ext cx="21854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ChatGPT / 通义千问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无工具、无审计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每次从零</a:t>
            </a:r>
            <a:endParaRPr lang="zh-CN" sz="1350"/>
          </a:p>
        </p:txBody>
      </p:sp>
      <p:sp>
        <p:nvSpPr>
          <p:cNvPr id="15" name="card"/>
          <p:cNvSpPr/>
          <p:nvPr/>
        </p:nvSpPr>
        <p:spPr>
          <a:xfrm>
            <a:off x="3310128" y="1783080"/>
            <a:ext cx="25146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6" name="card h"/>
          <p:cNvSpPr/>
          <p:nvPr/>
        </p:nvSpPr>
        <p:spPr>
          <a:xfrm>
            <a:off x="3474720" y="1947672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桌面 Agent</a:t>
            </a:r>
            <a:endParaRPr lang="zh-CN" sz="1800"/>
          </a:p>
        </p:txBody>
      </p:sp>
      <p:sp>
        <p:nvSpPr>
          <p:cNvPr id="17" name="card b"/>
          <p:cNvSpPr/>
          <p:nvPr/>
        </p:nvSpPr>
        <p:spPr>
          <a:xfrm>
            <a:off x="3474720" y="2423160"/>
            <a:ext cx="21854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TeleAI / Agent SDK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单层工具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缺组织控制面</a:t>
            </a:r>
            <a:endParaRPr lang="zh-CN" sz="1350"/>
          </a:p>
        </p:txBody>
      </p:sp>
      <p:sp>
        <p:nvSpPr>
          <p:cNvPr id="18" name="card"/>
          <p:cNvSpPr/>
          <p:nvPr/>
        </p:nvSpPr>
        <p:spPr>
          <a:xfrm>
            <a:off x="6053328" y="1783080"/>
            <a:ext cx="25146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card h"/>
          <p:cNvSpPr/>
          <p:nvPr/>
        </p:nvSpPr>
        <p:spPr>
          <a:xfrm>
            <a:off x="6217920" y="1947672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鲶鱼</a:t>
            </a:r>
            <a:endParaRPr lang="zh-CN" sz="1800"/>
          </a:p>
        </p:txBody>
      </p:sp>
      <p:sp>
        <p:nvSpPr>
          <p:cNvPr id="20" name="card b"/>
          <p:cNvSpPr/>
          <p:nvPr/>
        </p:nvSpPr>
        <p:spPr>
          <a:xfrm>
            <a:off x="6217920" y="2423160"/>
            <a:ext cx="21854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企业 LLM 中台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员工副手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组织 AI 基础设施</a:t>
            </a:r>
            <a:endParaRPr lang="zh-CN" sz="13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17/33 · 2026.05</a:t>
            </a:r>
            <a:endParaRPr lang="zh-CN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锁层差 1：三层架构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gateway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路由、审计、身份、策略注入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tool-bridge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本地执行工具，隔离权限边界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identity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员工身份、企业控制点、客户可审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结论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能审、能改、能切，不是黑盒 SaaS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18/33 · 2026.05</a:t>
            </a:r>
            <a:endParaRPr lang="zh-CN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4124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锁层差 2：凭据与数据全本地</a:t>
            </a:r>
            <a:endParaRPr lang="zh-CN" sz="2700"/>
          </a:p>
        </p:txBody>
      </p:sp>
      <p:sp>
        <p:nvSpPr>
          <p:cNvPr id="10" name="th"/>
          <p:cNvSpPr/>
          <p:nvPr/>
        </p:nvSpPr>
        <p:spPr>
          <a:xfrm>
            <a:off x="502920" y="1417320"/>
            <a:ext cx="269443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1" name="tht"/>
          <p:cNvSpPr/>
          <p:nvPr/>
        </p:nvSpPr>
        <p:spPr>
          <a:xfrm>
            <a:off x="576072" y="1527048"/>
            <a:ext cx="2566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数据</a:t>
            </a:r>
            <a:endParaRPr lang="zh-CN" sz="1250"/>
          </a:p>
        </p:txBody>
      </p:sp>
      <p:sp>
        <p:nvSpPr>
          <p:cNvPr id="12" name="th"/>
          <p:cNvSpPr/>
          <p:nvPr/>
        </p:nvSpPr>
        <p:spPr>
          <a:xfrm>
            <a:off x="3215640" y="1417320"/>
            <a:ext cx="269443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3" name="tht"/>
          <p:cNvSpPr/>
          <p:nvPr/>
        </p:nvSpPr>
        <p:spPr>
          <a:xfrm>
            <a:off x="3288792" y="1527048"/>
            <a:ext cx="2566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ChatGPT 类</a:t>
            </a:r>
            <a:endParaRPr lang="zh-CN" sz="1250"/>
          </a:p>
        </p:txBody>
      </p:sp>
      <p:sp>
        <p:nvSpPr>
          <p:cNvPr id="14" name="th"/>
          <p:cNvSpPr/>
          <p:nvPr/>
        </p:nvSpPr>
        <p:spPr>
          <a:xfrm>
            <a:off x="5928360" y="1417320"/>
            <a:ext cx="269443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5" name="tht"/>
          <p:cNvSpPr/>
          <p:nvPr/>
        </p:nvSpPr>
        <p:spPr>
          <a:xfrm>
            <a:off x="6001512" y="1527048"/>
            <a:ext cx="2566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鲶鱼</a:t>
            </a:r>
            <a:endParaRPr lang="zh-CN" sz="1250"/>
          </a:p>
        </p:txBody>
      </p:sp>
      <p:sp>
        <p:nvSpPr>
          <p:cNvPr id="16" name="td"/>
          <p:cNvSpPr/>
          <p:nvPr/>
        </p:nvSpPr>
        <p:spPr>
          <a:xfrm>
            <a:off x="502920" y="1911095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7" name="tdt"/>
          <p:cNvSpPr/>
          <p:nvPr/>
        </p:nvSpPr>
        <p:spPr>
          <a:xfrm>
            <a:off x="576072" y="1984248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对话内容</a:t>
            </a:r>
            <a:endParaRPr lang="zh-CN" sz="1150"/>
          </a:p>
        </p:txBody>
      </p:sp>
      <p:sp>
        <p:nvSpPr>
          <p:cNvPr id="18" name="td"/>
          <p:cNvSpPr/>
          <p:nvPr/>
        </p:nvSpPr>
        <p:spPr>
          <a:xfrm>
            <a:off x="3215640" y="1911095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tdt"/>
          <p:cNvSpPr/>
          <p:nvPr/>
        </p:nvSpPr>
        <p:spPr>
          <a:xfrm>
            <a:off x="3288792" y="1984248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厂商服务器</a:t>
            </a:r>
            <a:endParaRPr lang="zh-CN" sz="1150"/>
          </a:p>
        </p:txBody>
      </p:sp>
      <p:sp>
        <p:nvSpPr>
          <p:cNvPr id="20" name="td"/>
          <p:cNvSpPr/>
          <p:nvPr/>
        </p:nvSpPr>
        <p:spPr>
          <a:xfrm>
            <a:off x="5928360" y="1911095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1" name="tdt"/>
          <p:cNvSpPr/>
          <p:nvPr/>
        </p:nvSpPr>
        <p:spPr>
          <a:xfrm>
            <a:off x="6001512" y="1984248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本地</a:t>
            </a:r>
            <a:endParaRPr lang="zh-CN" sz="1150"/>
          </a:p>
        </p:txBody>
      </p:sp>
      <p:sp>
        <p:nvSpPr>
          <p:cNvPr id="22" name="td"/>
          <p:cNvSpPr/>
          <p:nvPr/>
        </p:nvSpPr>
        <p:spPr>
          <a:xfrm>
            <a:off x="502920" y="2377439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3" name="tdt"/>
          <p:cNvSpPr/>
          <p:nvPr/>
        </p:nvSpPr>
        <p:spPr>
          <a:xfrm>
            <a:off x="576072" y="2450591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凭据</a:t>
            </a:r>
            <a:endParaRPr lang="zh-CN" sz="1150"/>
          </a:p>
        </p:txBody>
      </p:sp>
      <p:sp>
        <p:nvSpPr>
          <p:cNvPr id="24" name="td"/>
          <p:cNvSpPr/>
          <p:nvPr/>
        </p:nvSpPr>
        <p:spPr>
          <a:xfrm>
            <a:off x="3215640" y="2377439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5" name="tdt"/>
          <p:cNvSpPr/>
          <p:nvPr/>
        </p:nvSpPr>
        <p:spPr>
          <a:xfrm>
            <a:off x="3288792" y="2450591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进 prompt 上云</a:t>
            </a:r>
            <a:endParaRPr lang="zh-CN" sz="1150"/>
          </a:p>
        </p:txBody>
      </p:sp>
      <p:sp>
        <p:nvSpPr>
          <p:cNvPr id="26" name="td"/>
          <p:cNvSpPr/>
          <p:nvPr/>
        </p:nvSpPr>
        <p:spPr>
          <a:xfrm>
            <a:off x="5928360" y="2377439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7" name="tdt"/>
          <p:cNvSpPr/>
          <p:nvPr/>
        </p:nvSpPr>
        <p:spPr>
          <a:xfrm>
            <a:off x="6001512" y="2450591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macOS Keychain</a:t>
            </a:r>
            <a:endParaRPr lang="zh-CN" sz="1150"/>
          </a:p>
        </p:txBody>
      </p:sp>
      <p:sp>
        <p:nvSpPr>
          <p:cNvPr id="28" name="td"/>
          <p:cNvSpPr/>
          <p:nvPr/>
        </p:nvSpPr>
        <p:spPr>
          <a:xfrm>
            <a:off x="502920" y="2843784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9" name="tdt"/>
          <p:cNvSpPr/>
          <p:nvPr/>
        </p:nvSpPr>
        <p:spPr>
          <a:xfrm>
            <a:off x="576072" y="2916936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audit</a:t>
            </a:r>
            <a:endParaRPr lang="zh-CN" sz="1150"/>
          </a:p>
        </p:txBody>
      </p:sp>
      <p:sp>
        <p:nvSpPr>
          <p:cNvPr id="30" name="td"/>
          <p:cNvSpPr/>
          <p:nvPr/>
        </p:nvSpPr>
        <p:spPr>
          <a:xfrm>
            <a:off x="3215640" y="2843784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1" name="tdt"/>
          <p:cNvSpPr/>
          <p:nvPr/>
        </p:nvSpPr>
        <p:spPr>
          <a:xfrm>
            <a:off x="3288792" y="2916936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你看不到</a:t>
            </a:r>
            <a:endParaRPr lang="zh-CN" sz="1150"/>
          </a:p>
        </p:txBody>
      </p:sp>
      <p:sp>
        <p:nvSpPr>
          <p:cNvPr id="32" name="td"/>
          <p:cNvSpPr/>
          <p:nvPr/>
        </p:nvSpPr>
        <p:spPr>
          <a:xfrm>
            <a:off x="5928360" y="2843784"/>
            <a:ext cx="269443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3" name="tdt"/>
          <p:cNvSpPr/>
          <p:nvPr/>
        </p:nvSpPr>
        <p:spPr>
          <a:xfrm>
            <a:off x="6001512" y="2916936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中央 metadata 可审</a:t>
            </a:r>
            <a:endParaRPr lang="zh-CN" sz="1150"/>
          </a:p>
        </p:txBody>
      </p:sp>
      <p:sp>
        <p:nvSpPr>
          <p:cNvPr id="34" name="td"/>
          <p:cNvSpPr/>
          <p:nvPr/>
        </p:nvSpPr>
        <p:spPr>
          <a:xfrm>
            <a:off x="502920" y="3310128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5" name="tdt"/>
          <p:cNvSpPr/>
          <p:nvPr/>
        </p:nvSpPr>
        <p:spPr>
          <a:xfrm>
            <a:off x="576072" y="3383280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跨对话记忆</a:t>
            </a:r>
            <a:endParaRPr lang="zh-CN" sz="1150"/>
          </a:p>
        </p:txBody>
      </p:sp>
      <p:sp>
        <p:nvSpPr>
          <p:cNvPr id="36" name="td"/>
          <p:cNvSpPr/>
          <p:nvPr/>
        </p:nvSpPr>
        <p:spPr>
          <a:xfrm>
            <a:off x="3215640" y="3310128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7" name="tdt"/>
          <p:cNvSpPr/>
          <p:nvPr/>
        </p:nvSpPr>
        <p:spPr>
          <a:xfrm>
            <a:off x="3288792" y="3383280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云端不透明</a:t>
            </a:r>
            <a:endParaRPr lang="zh-CN" sz="1150"/>
          </a:p>
        </p:txBody>
      </p:sp>
      <p:sp>
        <p:nvSpPr>
          <p:cNvPr id="38" name="td"/>
          <p:cNvSpPr/>
          <p:nvPr/>
        </p:nvSpPr>
        <p:spPr>
          <a:xfrm>
            <a:off x="5928360" y="3310128"/>
            <a:ext cx="269443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9" name="tdt"/>
          <p:cNvSpPr/>
          <p:nvPr/>
        </p:nvSpPr>
        <p:spPr>
          <a:xfrm>
            <a:off x="6001512" y="3383280"/>
            <a:ext cx="2566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~/.catfish/journal</a:t>
            </a:r>
            <a:endParaRPr lang="zh-CN" sz="11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19/33 · 2026.05</a:t>
            </a:r>
            <a:endParaRPr lang="zh-CN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锁层差 3：跨 session 记忆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每开新对话，不等于从零开始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最近 7 天 session 元数据自动注入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employee_journal.md append-only，全本地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中央只看 metadata，看不到员工内容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20/33 · 2026.05</a:t>
            </a:r>
            <a:endParaRPr lang="zh-CN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锁层差 4：Catfish Federation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A 员工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请鲶鱼问张三老板对项目 X 的看法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A 鲶鱼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向 B 鲶鱼请求公开偏好答复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B 鲶鱼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在隐私边界内返回可公开信息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组织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一个员工教会新流程，部门 50 人自动学会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21/33 · 2026.05</a:t>
            </a:r>
            <a:endParaRPr lang="zh-CN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差异化总结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私有化部署 + 数据完全本地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跨厂商 LLM 路由 + 中央 metadata 可审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 session 记忆：真副手，非聊天机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Phase 3 跨员工 agent 协作：Federation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22/33 · 2026.05</a:t>
            </a:r>
            <a:endParaRPr lang="zh-CN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pic>
        <p:nvPicPr>
          <p:cNvPr id="6" name="Catfish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60120"/>
            <a:ext cx="777240" cy="777240"/>
          </a:xfrm>
          <a:prstGeom prst="rect">
            <a:avLst/>
          </a:prstGeom>
        </p:spPr>
      </p:pic>
      <p:sp>
        <p:nvSpPr>
          <p:cNvPr id="7" name="section"/>
          <p:cNvSpPr/>
          <p:nvPr/>
        </p:nvSpPr>
        <p:spPr>
          <a:xfrm>
            <a:off x="658368" y="182880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3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Roadmap + 商业</a:t>
            </a:r>
            <a:endParaRPr lang="zh-CN" sz="3400"/>
          </a:p>
        </p:txBody>
      </p:sp>
      <p:sp>
        <p:nvSpPr>
          <p:cNvPr id="8" name="dot"/>
          <p:cNvSpPr/>
          <p:nvPr/>
        </p:nvSpPr>
        <p:spPr>
          <a:xfrm>
            <a:off x="685800" y="2651760"/>
            <a:ext cx="118872" cy="118872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9" name="subtitle"/>
          <p:cNvSpPr/>
          <p:nvPr/>
        </p:nvSpPr>
        <p:spPr>
          <a:xfrm>
            <a:off x="914400" y="2542032"/>
            <a:ext cx="71323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今年签 Phase 1，沿同一条 ladder 升级到 Federation</a:t>
            </a:r>
            <a:endParaRPr lang="zh-CN" sz="18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23/33 · 2026.05</a:t>
            </a:r>
            <a:endParaRPr lang="zh-CN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Roadmap 4 阶段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Phase 1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现在 ship：单员工副手 + 审计 + 记忆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Phase 2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Q3 2026：SSO + RBAC + Skill share + Windows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Phase 3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Q4 2026：Catfish Federation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Phase 4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2027 Q2+：集团级 agent mesh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24/33 · 2026.05</a:t>
            </a:r>
            <a:endParaRPr lang="zh-CN" sz="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商业模式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私有化部署：客户机房 + 客户自己的 LLM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一次性 license + 年度维护，按部署规模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不抽 API 流水，员工怎么用都不收 token 费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客户 IT 自审：audit / 配置 / 身份系统全可查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25/33 · 2026.05</a:t>
            </a:r>
            <a:endParaRPr lang="zh-CN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5 月之后怎么交付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6 月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PoC 准备：双方各 1 人，远程对接 1-2 周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7 月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现场部署：驻场 1 周，安装 / 配置 / 培训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8-9 月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10 个员工试用 Phase 1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10 月+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全部门铺开 + Phase 2 升级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26/33 · 2026.05</a:t>
            </a:r>
            <a:endParaRPr lang="zh-CN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商业问题 FAQ 入口</a:t>
            </a:r>
            <a:endParaRPr lang="zh-CN" sz="2700"/>
          </a:p>
        </p:txBody>
      </p:sp>
      <p:sp>
        <p:nvSpPr>
          <p:cNvPr id="7" name="quoteBox"/>
          <p:cNvSpPr/>
          <p:nvPr/>
        </p:nvSpPr>
        <p:spPr>
          <a:xfrm>
            <a:off x="658368" y="1508760"/>
            <a:ext cx="7589520" cy="11430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8" name="quote"/>
          <p:cNvSpPr/>
          <p:nvPr/>
        </p:nvSpPr>
        <p:spPr>
          <a:xfrm>
            <a:off x="914400" y="173736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indent="0" marL="0">
              <a:spcAft>
                <a:spcPts val="0"/>
              </a:spcAft>
              <a:buNone/>
            </a:pPr>
            <a:r>
              <a:rPr lang="zh-CN" sz="2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你们现在最关心的 5 个问题</a:t>
            </a:r>
            <a:endParaRPr lang="zh-CN" sz="2400"/>
          </a:p>
        </p:txBody>
      </p:sp>
      <p:sp>
        <p:nvSpPr>
          <p:cNvPr id="9" name="points"/>
          <p:cNvSpPr/>
          <p:nvPr/>
        </p:nvSpPr>
        <p:spPr>
          <a:xfrm>
            <a:off x="841248" y="2971800"/>
            <a:ext cx="7498079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不主动展开，留给 Q&amp;A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把讨论导向客户真实顾虑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准备成本、安全、上线、模型接入答案</a:t>
            </a:r>
            <a:endParaRPr lang="zh-CN" sz="16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27/33 · 2026.05</a:t>
            </a:r>
            <a:endParaRPr lang="zh-CN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客户必问 6 题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跟 ChatGPT / 通义比？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数据安全怎么保证？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上线时间 / PoC 多久？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跨厂商 LLM 接入难度？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成本 / 商业条款？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 session 记忆怎么实现，隐私怎么保证？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28/33 · 2026.05</a:t>
            </a:r>
            <a:endParaRPr lang="zh-CN"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我的承诺</a:t>
            </a:r>
            <a:endParaRPr lang="zh-CN" sz="2700"/>
          </a:p>
        </p:txBody>
      </p:sp>
      <p:sp>
        <p:nvSpPr>
          <p:cNvPr id="7" name="quoteBox"/>
          <p:cNvSpPr/>
          <p:nvPr/>
        </p:nvSpPr>
        <p:spPr>
          <a:xfrm>
            <a:off x="658368" y="1508760"/>
            <a:ext cx="7589520" cy="11430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8" name="quote"/>
          <p:cNvSpPr/>
          <p:nvPr/>
        </p:nvSpPr>
        <p:spPr>
          <a:xfrm>
            <a:off x="914400" y="1737360"/>
            <a:ext cx="70408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" indent="0" marL="0">
              <a:spcAft>
                <a:spcPts val="0"/>
              </a:spcAft>
              <a:buNone/>
            </a:pPr>
            <a:r>
              <a:rPr lang="zh-CN" sz="24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演化中的组织 AI 基础设施</a:t>
            </a:r>
            <a:endParaRPr lang="zh-CN" sz="2400"/>
          </a:p>
        </p:txBody>
      </p:sp>
      <p:sp>
        <p:nvSpPr>
          <p:cNvPr id="9" name="points"/>
          <p:cNvSpPr/>
          <p:nvPr/>
        </p:nvSpPr>
        <p:spPr>
          <a:xfrm>
            <a:off x="841248" y="2971800"/>
            <a:ext cx="7498079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不是一锤子工具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今年签 Phase 1，12 个月内升级 Phase 3 Federation</a:t>
            </a:r>
            <a:endParaRPr lang="zh-CN" sz="1600"/>
          </a:p>
          <a:p>
            <a:pPr algn="l" indent="0" marL="0">
              <a:spcAft>
                <a:spcPts val="360"/>
              </a:spcAft>
              <a:buNone/>
            </a:pPr>
            <a:r>
              <a:rPr lang="zh-CN" sz="16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装 1 次，用 5 年，越用越懂你的员工</a:t>
            </a:r>
            <a:endParaRPr lang="zh-CN" sz="16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29/33 · 2026.05</a:t>
            </a:r>
            <a:endParaRPr lang="zh-CN" sz="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联系 / 下一步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body"/>
          <p:cNvSpPr/>
          <p:nvPr/>
        </p:nvSpPr>
        <p:spPr>
          <a:xfrm>
            <a:off x="749808" y="1783080"/>
            <a:ext cx="7772400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PoC 申请：chenhongbo@ffcs.cn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GitHub：Phase 2 开放部分组件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demo 视频：3 个真实使用 30 秒视频 / 二维码</a:t>
            </a:r>
            <a:endParaRPr lang="zh-CN" sz="1900"/>
          </a:p>
          <a:p>
            <a:pPr algn="l" indent="0" marL="0">
              <a:spcAft>
                <a:spcPts val="500"/>
              </a:spcAft>
              <a:buNone/>
            </a:pPr>
            <a:r>
              <a:rPr lang="zh-CN" sz="190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下一步：1 周内安排技术对接会</a:t>
            </a:r>
            <a:endParaRPr lang="zh-CN" sz="190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30/33 · 2026.05</a:t>
            </a:r>
            <a:endParaRPr lang="zh-CN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22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备用：技术架构深度版</a:t>
            </a:r>
            <a:endParaRPr lang="zh-CN" sz="2700"/>
          </a:p>
        </p:txBody>
      </p:sp>
      <p:sp>
        <p:nvSpPr>
          <p:cNvPr id="10" name="node"/>
          <p:cNvSpPr/>
          <p:nvPr/>
        </p:nvSpPr>
        <p:spPr>
          <a:xfrm>
            <a:off x="640080" y="14447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1" name="nodet"/>
          <p:cNvSpPr/>
          <p:nvPr/>
        </p:nvSpPr>
        <p:spPr>
          <a:xfrm>
            <a:off x="749808" y="15179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identity</a:t>
            </a:r>
            <a:endParaRPr lang="zh-CN" sz="1250"/>
          </a:p>
        </p:txBody>
      </p:sp>
      <p:sp>
        <p:nvSpPr>
          <p:cNvPr id="12" name="desc"/>
          <p:cNvSpPr/>
          <p:nvPr/>
        </p:nvSpPr>
        <p:spPr>
          <a:xfrm>
            <a:off x="2788920" y="14721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员工身份注入</a:t>
            </a:r>
            <a:endParaRPr lang="zh-CN" sz="1250"/>
          </a:p>
        </p:txBody>
      </p:sp>
      <p:sp>
        <p:nvSpPr>
          <p:cNvPr id="13" name="arrow"/>
          <p:cNvSpPr/>
          <p:nvPr/>
        </p:nvSpPr>
        <p:spPr>
          <a:xfrm>
            <a:off x="2624328" y="16002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4" name="node"/>
          <p:cNvSpPr/>
          <p:nvPr/>
        </p:nvSpPr>
        <p:spPr>
          <a:xfrm>
            <a:off x="640080" y="194767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5" name="nodet"/>
          <p:cNvSpPr/>
          <p:nvPr/>
        </p:nvSpPr>
        <p:spPr>
          <a:xfrm>
            <a:off x="749808" y="202082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session_facts</a:t>
            </a:r>
            <a:endParaRPr lang="zh-CN" sz="1250"/>
          </a:p>
        </p:txBody>
      </p:sp>
      <p:sp>
        <p:nvSpPr>
          <p:cNvPr id="16" name="desc"/>
          <p:cNvSpPr/>
          <p:nvPr/>
        </p:nvSpPr>
        <p:spPr>
          <a:xfrm>
            <a:off x="2788920" y="1975103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最近会话事实</a:t>
            </a:r>
            <a:endParaRPr lang="zh-CN" sz="1250"/>
          </a:p>
        </p:txBody>
      </p:sp>
      <p:sp>
        <p:nvSpPr>
          <p:cNvPr id="17" name="arrow"/>
          <p:cNvSpPr/>
          <p:nvPr/>
        </p:nvSpPr>
        <p:spPr>
          <a:xfrm>
            <a:off x="2624328" y="21031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18" name="node"/>
          <p:cNvSpPr/>
          <p:nvPr/>
        </p:nvSpPr>
        <p:spPr>
          <a:xfrm>
            <a:off x="640080" y="245059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nodet"/>
          <p:cNvSpPr/>
          <p:nvPr/>
        </p:nvSpPr>
        <p:spPr>
          <a:xfrm>
            <a:off x="749808" y="252374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stats_guard</a:t>
            </a:r>
            <a:endParaRPr lang="zh-CN" sz="1250"/>
          </a:p>
        </p:txBody>
      </p:sp>
      <p:sp>
        <p:nvSpPr>
          <p:cNvPr id="20" name="desc"/>
          <p:cNvSpPr/>
          <p:nvPr/>
        </p:nvSpPr>
        <p:spPr>
          <a:xfrm>
            <a:off x="2788920" y="247802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Token / TTFT / 错误率</a:t>
            </a:r>
            <a:endParaRPr lang="zh-CN" sz="1250"/>
          </a:p>
        </p:txBody>
      </p:sp>
      <p:sp>
        <p:nvSpPr>
          <p:cNvPr id="21" name="arrow"/>
          <p:cNvSpPr/>
          <p:nvPr/>
        </p:nvSpPr>
        <p:spPr>
          <a:xfrm>
            <a:off x="2624328" y="26060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2" name="node"/>
          <p:cNvSpPr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nodet"/>
          <p:cNvSpPr/>
          <p:nvPr/>
        </p:nvSpPr>
        <p:spPr>
          <a:xfrm>
            <a:off x="749808" y="3026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skills_catalog</a:t>
            </a:r>
            <a:endParaRPr lang="zh-CN" sz="1250"/>
          </a:p>
        </p:txBody>
      </p:sp>
      <p:sp>
        <p:nvSpPr>
          <p:cNvPr id="24" name="desc"/>
          <p:cNvSpPr/>
          <p:nvPr/>
        </p:nvSpPr>
        <p:spPr>
          <a:xfrm>
            <a:off x="2788920" y="298094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可用工具目录</a:t>
            </a:r>
            <a:endParaRPr lang="zh-CN" sz="1250"/>
          </a:p>
        </p:txBody>
      </p:sp>
      <p:sp>
        <p:nvSpPr>
          <p:cNvPr id="25" name="arrow"/>
          <p:cNvSpPr/>
          <p:nvPr/>
        </p:nvSpPr>
        <p:spPr>
          <a:xfrm>
            <a:off x="2624328" y="31089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26" name="node"/>
          <p:cNvSpPr/>
          <p:nvPr/>
        </p:nvSpPr>
        <p:spPr>
          <a:xfrm>
            <a:off x="640080" y="345643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7" name="nodet"/>
          <p:cNvSpPr/>
          <p:nvPr/>
        </p:nvSpPr>
        <p:spPr>
          <a:xfrm>
            <a:off x="749808" y="352958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employee_journal</a:t>
            </a:r>
            <a:endParaRPr lang="zh-CN" sz="1250"/>
          </a:p>
        </p:txBody>
      </p:sp>
      <p:sp>
        <p:nvSpPr>
          <p:cNvPr id="28" name="desc"/>
          <p:cNvSpPr/>
          <p:nvPr/>
        </p:nvSpPr>
        <p:spPr>
          <a:xfrm>
            <a:off x="2788920" y="348386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长期日记本地注入</a:t>
            </a:r>
            <a:endParaRPr lang="zh-CN" sz="1250"/>
          </a:p>
        </p:txBody>
      </p:sp>
      <p:sp>
        <p:nvSpPr>
          <p:cNvPr id="29" name="arrow"/>
          <p:cNvSpPr/>
          <p:nvPr/>
        </p:nvSpPr>
        <p:spPr>
          <a:xfrm>
            <a:off x="2624328" y="36118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00" b="1">
                <a:solidFill>
                  <a:srgbClr val="F47B3D"/>
                </a:solidFill>
                <a:latin typeface="PingFang SC"/>
                <a:ea typeface="PingFang SC"/>
                <a:cs typeface="PingFang SC"/>
              </a:rPr>
              <a:t>→</a:t>
            </a:r>
            <a:endParaRPr lang="zh-CN" sz="1200"/>
          </a:p>
        </p:txBody>
      </p:sp>
      <p:sp>
        <p:nvSpPr>
          <p:cNvPr id="30" name="node"/>
          <p:cNvSpPr/>
          <p:nvPr/>
        </p:nvSpPr>
        <p:spPr>
          <a:xfrm>
            <a:off x="640080" y="3959352"/>
            <a:ext cx="1920240" cy="34747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1" name="nodet"/>
          <p:cNvSpPr/>
          <p:nvPr/>
        </p:nvSpPr>
        <p:spPr>
          <a:xfrm>
            <a:off x="749808" y="403250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tool_capability</a:t>
            </a:r>
            <a:endParaRPr lang="zh-CN" sz="1250"/>
          </a:p>
        </p:txBody>
      </p:sp>
      <p:sp>
        <p:nvSpPr>
          <p:cNvPr id="32" name="desc"/>
          <p:cNvSpPr/>
          <p:nvPr/>
        </p:nvSpPr>
        <p:spPr>
          <a:xfrm>
            <a:off x="2788920" y="3986784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本地工具执行边界</a:t>
            </a:r>
            <a:endParaRPr lang="zh-CN" sz="12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31/33 · 2026.05</a:t>
            </a:r>
            <a:endParaRPr lang="zh-CN" sz="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6868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备用：SSO / Skill / 安全</a:t>
            </a:r>
            <a:endParaRPr lang="zh-CN" sz="2800"/>
          </a:p>
        </p:txBody>
      </p:sp>
      <p:sp>
        <p:nvSpPr>
          <p:cNvPr id="7" name="dot"/>
          <p:cNvSpPr/>
          <p:nvPr/>
        </p:nvSpPr>
        <p:spPr>
          <a:xfrm>
            <a:off x="566928" y="1417320"/>
            <a:ext cx="91440" cy="91440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</a:ln>
        </p:spPr>
      </p:sp>
      <p:sp>
        <p:nvSpPr>
          <p:cNvPr id="12" name="card"/>
          <p:cNvSpPr/>
          <p:nvPr/>
        </p:nvSpPr>
        <p:spPr>
          <a:xfrm>
            <a:off x="566928" y="1783080"/>
            <a:ext cx="25146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3" name="card h"/>
          <p:cNvSpPr/>
          <p:nvPr/>
        </p:nvSpPr>
        <p:spPr>
          <a:xfrm>
            <a:off x="731520" y="1947672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SSO</a:t>
            </a:r>
            <a:endParaRPr lang="zh-CN" sz="1800"/>
          </a:p>
        </p:txBody>
      </p:sp>
      <p:sp>
        <p:nvSpPr>
          <p:cNvPr id="14" name="card b"/>
          <p:cNvSpPr/>
          <p:nvPr/>
        </p:nvSpPr>
        <p:spPr>
          <a:xfrm>
            <a:off x="731520" y="2423160"/>
            <a:ext cx="21854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飞书 / OIDC / 自建 / 客户 SSO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Phase 1 决策可审</a:t>
            </a:r>
            <a:endParaRPr lang="zh-CN" sz="1350"/>
          </a:p>
        </p:txBody>
      </p:sp>
      <p:sp>
        <p:nvSpPr>
          <p:cNvPr id="15" name="card"/>
          <p:cNvSpPr/>
          <p:nvPr/>
        </p:nvSpPr>
        <p:spPr>
          <a:xfrm>
            <a:off x="3310128" y="1783080"/>
            <a:ext cx="25146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6" name="card h"/>
          <p:cNvSpPr/>
          <p:nvPr/>
        </p:nvSpPr>
        <p:spPr>
          <a:xfrm>
            <a:off x="3474720" y="1947672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Skill</a:t>
            </a:r>
            <a:endParaRPr lang="zh-CN" sz="1800"/>
          </a:p>
        </p:txBody>
      </p:sp>
      <p:sp>
        <p:nvSpPr>
          <p:cNvPr id="17" name="card b"/>
          <p:cNvSpPr/>
          <p:nvPr/>
        </p:nvSpPr>
        <p:spPr>
          <a:xfrm>
            <a:off x="3474720" y="2423160"/>
            <a:ext cx="21854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SKILL.md 生命周期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业务 skill 与通用 skill 区分</a:t>
            </a:r>
            <a:endParaRPr lang="zh-CN" sz="1350"/>
          </a:p>
        </p:txBody>
      </p:sp>
      <p:sp>
        <p:nvSpPr>
          <p:cNvPr id="18" name="card"/>
          <p:cNvSpPr/>
          <p:nvPr/>
        </p:nvSpPr>
        <p:spPr>
          <a:xfrm>
            <a:off x="6053328" y="1783080"/>
            <a:ext cx="2514600" cy="2514600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card h"/>
          <p:cNvSpPr/>
          <p:nvPr/>
        </p:nvSpPr>
        <p:spPr>
          <a:xfrm>
            <a:off x="6217920" y="1947672"/>
            <a:ext cx="218541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8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安全</a:t>
            </a:r>
            <a:endParaRPr lang="zh-CN" sz="1800"/>
          </a:p>
        </p:txBody>
      </p:sp>
      <p:sp>
        <p:nvSpPr>
          <p:cNvPr id="20" name="card b"/>
          <p:cNvSpPr/>
          <p:nvPr/>
        </p:nvSpPr>
        <p:spPr>
          <a:xfrm>
            <a:off x="6217920" y="2423160"/>
            <a:ext cx="2185416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secret_ref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prompt 检测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audit JSONL</a:t>
            </a:r>
            <a:endParaRPr lang="zh-CN" sz="1350"/>
          </a:p>
          <a:p>
            <a:pPr algn="l" indent="0" marL="0">
              <a:spcAft>
                <a:spcPts val="280"/>
              </a:spcAft>
              <a:buNone/>
            </a:pPr>
            <a:r>
              <a:rPr lang="zh-CN" sz="13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journal 可 grep 审计</a:t>
            </a:r>
            <a:endParaRPr lang="zh-CN" sz="13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32/33 · 2026.05</a:t>
            </a:r>
            <a:endParaRPr lang="zh-CN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</a:ln>
        </p:spPr>
      </p:sp>
      <p:sp>
        <p:nvSpPr>
          <p:cNvPr id="3" name="bubble"/>
          <p:cNvSpPr/>
          <p:nvPr/>
        </p:nvSpPr>
        <p:spPr>
          <a:xfrm>
            <a:off x="7818120" y="219456"/>
            <a:ext cx="164592" cy="164592"/>
          </a:xfrm>
          <a:prstGeom prst="ellipse">
            <a:avLst/>
          </a:prstGeom>
          <a:solidFill>
            <a:srgbClr val="1A8A95">
              <a:alpha val="65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4" name="bubble"/>
          <p:cNvSpPr/>
          <p:nvPr/>
        </p:nvSpPr>
        <p:spPr>
          <a:xfrm>
            <a:off x="8275320" y="438912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5" name="bubble"/>
          <p:cNvSpPr/>
          <p:nvPr/>
        </p:nvSpPr>
        <p:spPr>
          <a:xfrm>
            <a:off x="8028431" y="804672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</a:ln>
        </p:spPr>
      </p:sp>
      <p:sp>
        <p:nvSpPr>
          <p:cNvPr id="6" name="title"/>
          <p:cNvSpPr/>
          <p:nvPr/>
        </p:nvSpPr>
        <p:spPr>
          <a:xfrm>
            <a:off x="530352" y="84124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270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备用：详细对比</a:t>
            </a:r>
            <a:endParaRPr lang="zh-CN" sz="2700"/>
          </a:p>
        </p:txBody>
      </p:sp>
      <p:sp>
        <p:nvSpPr>
          <p:cNvPr id="10" name="th"/>
          <p:cNvSpPr/>
          <p:nvPr/>
        </p:nvSpPr>
        <p:spPr>
          <a:xfrm>
            <a:off x="502920" y="1417320"/>
            <a:ext cx="201625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1" name="tht"/>
          <p:cNvSpPr/>
          <p:nvPr/>
        </p:nvSpPr>
        <p:spPr>
          <a:xfrm>
            <a:off x="576072" y="1527048"/>
            <a:ext cx="18882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维度</a:t>
            </a:r>
            <a:endParaRPr lang="zh-CN" sz="1250"/>
          </a:p>
        </p:txBody>
      </p:sp>
      <p:sp>
        <p:nvSpPr>
          <p:cNvPr id="12" name="th"/>
          <p:cNvSpPr/>
          <p:nvPr/>
        </p:nvSpPr>
        <p:spPr>
          <a:xfrm>
            <a:off x="2537460" y="1417320"/>
            <a:ext cx="201625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3" name="tht"/>
          <p:cNvSpPr/>
          <p:nvPr/>
        </p:nvSpPr>
        <p:spPr>
          <a:xfrm>
            <a:off x="2610612" y="1527048"/>
            <a:ext cx="18882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通用聊天</a:t>
            </a:r>
            <a:endParaRPr lang="zh-CN" sz="1250"/>
          </a:p>
        </p:txBody>
      </p:sp>
      <p:sp>
        <p:nvSpPr>
          <p:cNvPr id="14" name="th"/>
          <p:cNvSpPr/>
          <p:nvPr/>
        </p:nvSpPr>
        <p:spPr>
          <a:xfrm>
            <a:off x="4572000" y="1417320"/>
            <a:ext cx="201625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5" name="tht"/>
          <p:cNvSpPr/>
          <p:nvPr/>
        </p:nvSpPr>
        <p:spPr>
          <a:xfrm>
            <a:off x="4645152" y="1527048"/>
            <a:ext cx="18882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单机 Agent</a:t>
            </a:r>
            <a:endParaRPr lang="zh-CN" sz="1250"/>
          </a:p>
        </p:txBody>
      </p:sp>
      <p:sp>
        <p:nvSpPr>
          <p:cNvPr id="16" name="th"/>
          <p:cNvSpPr/>
          <p:nvPr/>
        </p:nvSpPr>
        <p:spPr>
          <a:xfrm>
            <a:off x="6606540" y="1417320"/>
            <a:ext cx="2016252" cy="493776"/>
          </a:xfrm>
          <a:prstGeom prst="rect">
            <a:avLst/>
          </a:prstGeom>
          <a:solidFill>
            <a:srgbClr val="1A8A95"/>
          </a:solidFill>
          <a:ln w="12700">
            <a:solidFill>
              <a:srgbClr val="1A8A95"/>
            </a:solidFill>
          </a:ln>
        </p:spPr>
      </p:sp>
      <p:sp>
        <p:nvSpPr>
          <p:cNvPr id="17" name="tht"/>
          <p:cNvSpPr/>
          <p:nvPr/>
        </p:nvSpPr>
        <p:spPr>
          <a:xfrm>
            <a:off x="6679692" y="1527048"/>
            <a:ext cx="18882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250" b="1">
                <a:solidFill>
                  <a:srgbClr val="FAF1E4"/>
                </a:solidFill>
                <a:latin typeface="PingFang SC"/>
                <a:ea typeface="PingFang SC"/>
                <a:cs typeface="PingFang SC"/>
              </a:rPr>
              <a:t>鲶鱼</a:t>
            </a:r>
            <a:endParaRPr lang="zh-CN" sz="1250"/>
          </a:p>
        </p:txBody>
      </p:sp>
      <p:sp>
        <p:nvSpPr>
          <p:cNvPr id="18" name="td"/>
          <p:cNvSpPr/>
          <p:nvPr/>
        </p:nvSpPr>
        <p:spPr>
          <a:xfrm>
            <a:off x="502920" y="1911095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19" name="tdt"/>
          <p:cNvSpPr/>
          <p:nvPr/>
        </p:nvSpPr>
        <p:spPr>
          <a:xfrm>
            <a:off x="576072" y="1984248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企业审计</a:t>
            </a:r>
            <a:endParaRPr lang="zh-CN" sz="1150"/>
          </a:p>
        </p:txBody>
      </p:sp>
      <p:sp>
        <p:nvSpPr>
          <p:cNvPr id="20" name="td"/>
          <p:cNvSpPr/>
          <p:nvPr/>
        </p:nvSpPr>
        <p:spPr>
          <a:xfrm>
            <a:off x="2537460" y="1911095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1" name="tdt"/>
          <p:cNvSpPr/>
          <p:nvPr/>
        </p:nvSpPr>
        <p:spPr>
          <a:xfrm>
            <a:off x="2610612" y="1984248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弱</a:t>
            </a:r>
            <a:endParaRPr lang="zh-CN" sz="1150"/>
          </a:p>
        </p:txBody>
      </p:sp>
      <p:sp>
        <p:nvSpPr>
          <p:cNvPr id="22" name="td"/>
          <p:cNvSpPr/>
          <p:nvPr/>
        </p:nvSpPr>
        <p:spPr>
          <a:xfrm>
            <a:off x="4572000" y="1911095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3" name="tdt"/>
          <p:cNvSpPr/>
          <p:nvPr/>
        </p:nvSpPr>
        <p:spPr>
          <a:xfrm>
            <a:off x="4645152" y="1984248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弱</a:t>
            </a:r>
            <a:endParaRPr lang="zh-CN" sz="1150"/>
          </a:p>
        </p:txBody>
      </p:sp>
      <p:sp>
        <p:nvSpPr>
          <p:cNvPr id="24" name="td"/>
          <p:cNvSpPr/>
          <p:nvPr/>
        </p:nvSpPr>
        <p:spPr>
          <a:xfrm>
            <a:off x="6606540" y="1911095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25" name="tdt"/>
          <p:cNvSpPr/>
          <p:nvPr/>
        </p:nvSpPr>
        <p:spPr>
          <a:xfrm>
            <a:off x="6679692" y="1984248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强</a:t>
            </a:r>
            <a:endParaRPr lang="zh-CN" sz="1150"/>
          </a:p>
        </p:txBody>
      </p:sp>
      <p:sp>
        <p:nvSpPr>
          <p:cNvPr id="26" name="td"/>
          <p:cNvSpPr/>
          <p:nvPr/>
        </p:nvSpPr>
        <p:spPr>
          <a:xfrm>
            <a:off x="502920" y="2377439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7" name="tdt"/>
          <p:cNvSpPr/>
          <p:nvPr/>
        </p:nvSpPr>
        <p:spPr>
          <a:xfrm>
            <a:off x="576072" y="2450591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本地凭据</a:t>
            </a:r>
            <a:endParaRPr lang="zh-CN" sz="1150"/>
          </a:p>
        </p:txBody>
      </p:sp>
      <p:sp>
        <p:nvSpPr>
          <p:cNvPr id="28" name="td"/>
          <p:cNvSpPr/>
          <p:nvPr/>
        </p:nvSpPr>
        <p:spPr>
          <a:xfrm>
            <a:off x="2537460" y="2377439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29" name="tdt"/>
          <p:cNvSpPr/>
          <p:nvPr/>
        </p:nvSpPr>
        <p:spPr>
          <a:xfrm>
            <a:off x="2610612" y="2450591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弱</a:t>
            </a:r>
            <a:endParaRPr lang="zh-CN" sz="1150"/>
          </a:p>
        </p:txBody>
      </p:sp>
      <p:sp>
        <p:nvSpPr>
          <p:cNvPr id="30" name="td"/>
          <p:cNvSpPr/>
          <p:nvPr/>
        </p:nvSpPr>
        <p:spPr>
          <a:xfrm>
            <a:off x="4572000" y="2377439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1" name="tdt"/>
          <p:cNvSpPr/>
          <p:nvPr/>
        </p:nvSpPr>
        <p:spPr>
          <a:xfrm>
            <a:off x="4645152" y="2450591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中</a:t>
            </a:r>
            <a:endParaRPr lang="zh-CN" sz="1150"/>
          </a:p>
        </p:txBody>
      </p:sp>
      <p:sp>
        <p:nvSpPr>
          <p:cNvPr id="32" name="td"/>
          <p:cNvSpPr/>
          <p:nvPr/>
        </p:nvSpPr>
        <p:spPr>
          <a:xfrm>
            <a:off x="6606540" y="2377439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33" name="tdt"/>
          <p:cNvSpPr/>
          <p:nvPr/>
        </p:nvSpPr>
        <p:spPr>
          <a:xfrm>
            <a:off x="6679692" y="2450591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强</a:t>
            </a:r>
            <a:endParaRPr lang="zh-CN" sz="1150"/>
          </a:p>
        </p:txBody>
      </p:sp>
      <p:sp>
        <p:nvSpPr>
          <p:cNvPr id="34" name="td"/>
          <p:cNvSpPr/>
          <p:nvPr/>
        </p:nvSpPr>
        <p:spPr>
          <a:xfrm>
            <a:off x="502920" y="2843784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5" name="tdt"/>
          <p:cNvSpPr/>
          <p:nvPr/>
        </p:nvSpPr>
        <p:spPr>
          <a:xfrm>
            <a:off x="576072" y="2916936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组织控制面</a:t>
            </a:r>
            <a:endParaRPr lang="zh-CN" sz="1150"/>
          </a:p>
        </p:txBody>
      </p:sp>
      <p:sp>
        <p:nvSpPr>
          <p:cNvPr id="36" name="td"/>
          <p:cNvSpPr/>
          <p:nvPr/>
        </p:nvSpPr>
        <p:spPr>
          <a:xfrm>
            <a:off x="2537460" y="2843784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7" name="tdt"/>
          <p:cNvSpPr/>
          <p:nvPr/>
        </p:nvSpPr>
        <p:spPr>
          <a:xfrm>
            <a:off x="2610612" y="2916936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无</a:t>
            </a:r>
            <a:endParaRPr lang="zh-CN" sz="1150"/>
          </a:p>
        </p:txBody>
      </p:sp>
      <p:sp>
        <p:nvSpPr>
          <p:cNvPr id="38" name="td"/>
          <p:cNvSpPr/>
          <p:nvPr/>
        </p:nvSpPr>
        <p:spPr>
          <a:xfrm>
            <a:off x="4572000" y="2843784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39" name="tdt"/>
          <p:cNvSpPr/>
          <p:nvPr/>
        </p:nvSpPr>
        <p:spPr>
          <a:xfrm>
            <a:off x="4645152" y="2916936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弱</a:t>
            </a:r>
            <a:endParaRPr lang="zh-CN" sz="1150"/>
          </a:p>
        </p:txBody>
      </p:sp>
      <p:sp>
        <p:nvSpPr>
          <p:cNvPr id="40" name="td"/>
          <p:cNvSpPr/>
          <p:nvPr/>
        </p:nvSpPr>
        <p:spPr>
          <a:xfrm>
            <a:off x="6606540" y="2843784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41" name="tdt"/>
          <p:cNvSpPr/>
          <p:nvPr/>
        </p:nvSpPr>
        <p:spPr>
          <a:xfrm>
            <a:off x="6679692" y="2916936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强</a:t>
            </a:r>
            <a:endParaRPr lang="zh-CN" sz="1150"/>
          </a:p>
        </p:txBody>
      </p:sp>
      <p:sp>
        <p:nvSpPr>
          <p:cNvPr id="42" name="td"/>
          <p:cNvSpPr/>
          <p:nvPr/>
        </p:nvSpPr>
        <p:spPr>
          <a:xfrm>
            <a:off x="502920" y="3310128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43" name="tdt"/>
          <p:cNvSpPr/>
          <p:nvPr/>
        </p:nvSpPr>
        <p:spPr>
          <a:xfrm>
            <a:off x="576072" y="3383280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跨员工协作</a:t>
            </a:r>
            <a:endParaRPr lang="zh-CN" sz="1150"/>
          </a:p>
        </p:txBody>
      </p:sp>
      <p:sp>
        <p:nvSpPr>
          <p:cNvPr id="44" name="td"/>
          <p:cNvSpPr/>
          <p:nvPr/>
        </p:nvSpPr>
        <p:spPr>
          <a:xfrm>
            <a:off x="2537460" y="3310128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45" name="tdt"/>
          <p:cNvSpPr/>
          <p:nvPr/>
        </p:nvSpPr>
        <p:spPr>
          <a:xfrm>
            <a:off x="2610612" y="3383280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无</a:t>
            </a:r>
            <a:endParaRPr lang="zh-CN" sz="1150"/>
          </a:p>
        </p:txBody>
      </p:sp>
      <p:sp>
        <p:nvSpPr>
          <p:cNvPr id="46" name="td"/>
          <p:cNvSpPr/>
          <p:nvPr/>
        </p:nvSpPr>
        <p:spPr>
          <a:xfrm>
            <a:off x="4572000" y="3310128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47" name="tdt"/>
          <p:cNvSpPr/>
          <p:nvPr/>
        </p:nvSpPr>
        <p:spPr>
          <a:xfrm>
            <a:off x="4645152" y="3383280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无</a:t>
            </a:r>
            <a:endParaRPr lang="zh-CN" sz="1150"/>
          </a:p>
        </p:txBody>
      </p:sp>
      <p:sp>
        <p:nvSpPr>
          <p:cNvPr id="48" name="td"/>
          <p:cNvSpPr/>
          <p:nvPr/>
        </p:nvSpPr>
        <p:spPr>
          <a:xfrm>
            <a:off x="6606540" y="3310128"/>
            <a:ext cx="2016252" cy="438912"/>
          </a:xfrm>
          <a:prstGeom prst="rect">
            <a:avLst/>
          </a:prstGeom>
          <a:solidFill>
            <a:srgbClr val="0B5158"/>
          </a:solidFill>
          <a:ln w="12700">
            <a:solidFill>
              <a:srgbClr val="1A8A95"/>
            </a:solidFill>
          </a:ln>
        </p:spPr>
      </p:sp>
      <p:sp>
        <p:nvSpPr>
          <p:cNvPr id="49" name="tdt"/>
          <p:cNvSpPr/>
          <p:nvPr/>
        </p:nvSpPr>
        <p:spPr>
          <a:xfrm>
            <a:off x="6679692" y="3383280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Phase 3</a:t>
            </a:r>
            <a:endParaRPr lang="zh-CN" sz="1150"/>
          </a:p>
        </p:txBody>
      </p:sp>
      <p:sp>
        <p:nvSpPr>
          <p:cNvPr id="50" name="td"/>
          <p:cNvSpPr/>
          <p:nvPr/>
        </p:nvSpPr>
        <p:spPr>
          <a:xfrm>
            <a:off x="502920" y="3776472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51" name="tdt"/>
          <p:cNvSpPr/>
          <p:nvPr/>
        </p:nvSpPr>
        <p:spPr>
          <a:xfrm>
            <a:off x="576072" y="3849624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本地记忆</a:t>
            </a:r>
            <a:endParaRPr lang="zh-CN" sz="1150"/>
          </a:p>
        </p:txBody>
      </p:sp>
      <p:sp>
        <p:nvSpPr>
          <p:cNvPr id="52" name="td"/>
          <p:cNvSpPr/>
          <p:nvPr/>
        </p:nvSpPr>
        <p:spPr>
          <a:xfrm>
            <a:off x="2537460" y="3776472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53" name="tdt"/>
          <p:cNvSpPr/>
          <p:nvPr/>
        </p:nvSpPr>
        <p:spPr>
          <a:xfrm>
            <a:off x="2610612" y="3849624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不透明</a:t>
            </a:r>
            <a:endParaRPr lang="zh-CN" sz="1150"/>
          </a:p>
        </p:txBody>
      </p:sp>
      <p:sp>
        <p:nvSpPr>
          <p:cNvPr id="54" name="td"/>
          <p:cNvSpPr/>
          <p:nvPr/>
        </p:nvSpPr>
        <p:spPr>
          <a:xfrm>
            <a:off x="4572000" y="3776472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55" name="tdt"/>
          <p:cNvSpPr/>
          <p:nvPr/>
        </p:nvSpPr>
        <p:spPr>
          <a:xfrm>
            <a:off x="4645152" y="3849624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有限</a:t>
            </a:r>
            <a:endParaRPr lang="zh-CN" sz="1150"/>
          </a:p>
        </p:txBody>
      </p:sp>
      <p:sp>
        <p:nvSpPr>
          <p:cNvPr id="56" name="td"/>
          <p:cNvSpPr/>
          <p:nvPr/>
        </p:nvSpPr>
        <p:spPr>
          <a:xfrm>
            <a:off x="6606540" y="3776472"/>
            <a:ext cx="2016252" cy="438912"/>
          </a:xfrm>
          <a:prstGeom prst="rect">
            <a:avLst/>
          </a:prstGeom>
          <a:solidFill>
            <a:srgbClr val="0E5F66"/>
          </a:solidFill>
          <a:ln w="12700">
            <a:solidFill>
              <a:srgbClr val="1A8A95"/>
            </a:solidFill>
          </a:ln>
        </p:spPr>
      </p:sp>
      <p:sp>
        <p:nvSpPr>
          <p:cNvPr id="57" name="tdt"/>
          <p:cNvSpPr/>
          <p:nvPr/>
        </p:nvSpPr>
        <p:spPr>
          <a:xfrm>
            <a:off x="6679692" y="3849624"/>
            <a:ext cx="18882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1150">
                <a:solidFill>
                  <a:srgbClr val="E8DCC4"/>
                </a:solidFill>
                <a:latin typeface="PingFang SC"/>
                <a:ea typeface="PingFang SC"/>
                <a:cs typeface="PingFang SC"/>
              </a:rPr>
              <a:t>强</a:t>
            </a:r>
            <a:endParaRPr lang="zh-CN" sz="1150"/>
          </a:p>
        </p:txBody>
      </p:sp>
      <p:sp>
        <p:nvSpPr>
          <p:cNvPr id="90" name="footer left"/>
          <p:cNvSpPr/>
          <p:nvPr/>
        </p:nvSpPr>
        <p:spPr>
          <a:xfrm>
            <a:off x="457200" y="470001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Catfish · Enterprise AI</a:t>
            </a:r>
            <a:endParaRPr lang="zh-CN" sz="900"/>
          </a:p>
        </p:txBody>
      </p:sp>
      <p:sp>
        <p:nvSpPr>
          <p:cNvPr id="91" name="footer right"/>
          <p:cNvSpPr/>
          <p:nvPr/>
        </p:nvSpPr>
        <p:spPr>
          <a:xfrm>
            <a:off x="6629400" y="47000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indent="0" marL="0">
              <a:spcAft>
                <a:spcPts val="0"/>
              </a:spcAft>
              <a:buNone/>
            </a:pPr>
            <a:r>
              <a:rPr lang="zh-CN" sz="900">
                <a:solidFill>
                  <a:srgbClr val="E8DCC4"/>
                </a:solidFill>
                <a:latin typeface="Helvetica Neue"/>
                <a:ea typeface="Helvetica Neue"/>
                <a:cs typeface="Helvetica Neue"/>
              </a:rPr>
              <a:t>33/33 · 2026.05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Catfish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鲶鱼 Companion · 企业级 AI 助理</dc:title>
  <dc:subject>PptxGenJS Presentation</dc:subject>
  <dc:creator>鲶鱼 Catfish</dc:creator>
  <cp:lastModifiedBy>鲶鱼 Catfish</cp:lastModifiedBy>
  <cp:revision>1</cp:revision>
  <dcterms:created xsi:type="dcterms:W3CDTF">2026-05-03T03:11:24Z</dcterms:created>
  <dcterms:modified xsi:type="dcterms:W3CDTF">2026-05-03T03:11:24Z</dcterms:modified>
</cp:coreProperties>
</file>