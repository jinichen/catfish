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26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27"/>
    <p:sldId id="274" r:id="rId20"/>
    <p:sldId id="271" r:id="rId17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9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7.xml"/><Relationship Id="rId27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61488"/>
            <a:ext cx="12188952" cy="41148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05840" y="18288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05840" y="2971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能力中心与渠道中心建设规划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3794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  <a:r>
              <a:rPr lang="en-US" sz="1400" dirty="0">
                <a:solidFill>
                  <a:srgbClr val="C9D6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上海临港 · 深圳 · 山东 三节点 · 每年一个节点，三年建成</a:t>
            </a:r>
          </a:p>
        </p:txBody>
      </p:sp>
      <p:sp>
        <p:nvSpPr>
          <p:cNvPr id="6" name="Text 4"/>
          <p:cNvSpPr/>
          <p:nvPr/>
        </p:nvSpPr>
        <p:spPr>
          <a:xfrm>
            <a:off x="1005840" y="4206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8 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 · 建什么 · 分几步 · 要多少人 · 投多少钱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三件现在没人接的事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505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325880"/>
            <a:ext cx="50292" cy="2743200"/>
          </a:xfrm>
          <a:prstGeom prst="rect">
            <a:avLst/>
          </a:prstGeom>
          <a:solidFill>
            <a:srgbClr val="5B6C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472184"/>
            <a:ext cx="313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· 经验散在人身上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837944"/>
            <a:ext cx="313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配方经验、调参手感、认证踩过的坑、客户对接的分寸，都在少数几个人的脑子里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人一走，经验就走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传统信息化要求先把经验填成表单，而填表这件事从来没人愿意做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8160" y="1325880"/>
            <a:ext cx="3505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28160" y="1325880"/>
            <a:ext cx="50292" cy="2743200"/>
          </a:xfrm>
          <a:prstGeom prst="rect">
            <a:avLst/>
          </a:prstGeom>
          <a:solidFill>
            <a:srgbClr val="5B6C8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29328" y="1472184"/>
            <a:ext cx="313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园区赋能缺载体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9328" y="1837944"/>
            <a:ext cx="313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园区模式的前提是自身经验能规模化输出给下游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给下游开系统账号行不通——各家产品、工艺、客户都不一样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需要的是能被调用的能力，而不是一套要下游去适应的表单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7680" y="1325880"/>
            <a:ext cx="3505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107680" y="1325880"/>
            <a:ext cx="50292" cy="2743200"/>
          </a:xfrm>
          <a:prstGeom prst="rect">
            <a:avLst/>
          </a:prstGeom>
          <a:solidFill>
            <a:srgbClr val="8B6F4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08848" y="1472184"/>
            <a:ext cx="313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· 政策与合作无人统筹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8848" y="1837944"/>
            <a:ext cx="313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产业政策、专项申报、园区对接目前分散在各条业务线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上下游合作、检测认证机构、高校院所的关系缺少归口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渠道销售随材料产能爬坡，需要提前建线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429768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434340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前两件由能力中心承接，第三件由渠道中心承接。客户既有材料中的「一中心两平台」，在本规划中落为能力中心与渠道中心两个内设部门，不另起一套。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48640" y="489204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9808" y="493776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本规划覆盖数字化与 AI 部分及渠道组织建设。产线设备选型、工艺路线、现场施工不在范围内。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48640" y="548640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49808" y="553212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本规划聚焦数字化与 AI 能力建设及渠道组织建设，具体实施方案在后续阶段深化。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建成后是什么样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两个中心 · 三节点 · 三年一张表</a:t>
            </a:r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325880"/>
            <a:ext cx="50292" cy="1920240"/>
          </a:xfrm>
          <a:prstGeom prst="rect">
            <a:avLst/>
          </a:prstGeom>
          <a:solidFill>
            <a:srgbClr val="5B6C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472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能力中心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8379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把知识变成能力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9808" y="229514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 AI Native 技术底座（引入并集成）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把业务流程凝固为可调用能力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沉淀知识资产：工艺 / 认证 / 产业链 / 企业库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50292" cy="1920240"/>
          </a:xfrm>
          <a:prstGeom prst="rect">
            <a:avLst/>
          </a:prstGeom>
          <a:solidFill>
            <a:srgbClr val="8B6F4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19088" y="1472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渠道中心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9088" y="18379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把能力变成收入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19088" y="229514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政府关系：政策跟踪、专项申报、园区对接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合作伙伴：上游 / 平行 / 下游 / 生态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渠道销售：材料分销、能力订阅、认证代办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064240" cy="914400"/>
        </p:xfrm>
        <a:graphic>
          <a:graphicData uri="http://schemas.openxmlformats.org/drawingml/2006/table">
            <a:tbl>
              <a:tblPr/>
              <a:tblGrid>
                <a:gridCol w="1991563"/>
                <a:gridCol w="2323490"/>
                <a:gridCol w="2323490"/>
                <a:gridCol w="2323490"/>
                <a:gridCol w="210220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 0–6 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 6–18 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阶段三 18–36 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能力中心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 + 招商智能体（无生产线硬件依赖）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 + 生产智能体，接入产线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园区智能体对下游开放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渠道中心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政府关系建线、合作伙伴梳理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渠道销售建线、招商智能体投用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能力订阅与服务销售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自有编制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 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峰值 27 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阶段重点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认证与招商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研发与生产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园区与订阅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建设状态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上海节点 · 启动条件满足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深圳节点 · 试点扩展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山东节点 · 运营移交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三地对等 · 分阶段交付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548640" y="580644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49808" y="585216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推进原则：按阶段交付物评审后进入下一阶段，具体资金安排另见独立附件。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能力中心 · 做什么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五类能力，按阶段交付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659636"/>
                <a:gridCol w="6085332"/>
                <a:gridCol w="1327709"/>
                <a:gridCol w="1991563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合规与客户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认证要求结构化 → 材料清单自动生成 → 申报书出草稿 → 法规变更监测。覆盖欧盟 / 美国 / 日本 / 中国四个市场十余项认证。范围限食品接触与环保类，不含医疗器械与药包材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无生产线硬件依赖，文档型应用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园区招商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产业链缺口分析、目标企业匹配推荐、入驻服务预测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企业库数据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实验记录与工艺文件结构化入库；对接外部计算化学结果并与实验数据关联验证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研发数据归集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接入原料在线检测（含水率 / 粒径）、产线设备数据、实验室理化与力学检测结果，做「产品性能 ↔ 工艺参数 ↔ 原料特性」关联归因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点位表、检测数据接出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园区赋能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把能力开放给入驻企业，各企业数据隔离；配方参数经人工确认后下发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配方保密分级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534924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539496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能力中心由三部分构成：技术底座（引入并集成）、常设团队（峰值 9 人）、知识资产（工艺 / 认证 / 产业链 / 企业库）。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48640" y="594360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49808" y="598932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五类能力由稻生万物委托应用开发方实施，能力中心负责需求定义、业务知识提供与交付验收。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能力中心 · 不做什么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边界与责任划分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949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325880"/>
            <a:ext cx="50292" cy="26517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472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837944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不做无人干预的自动调参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不进产线实时控制回路——毫秒级响应与安全联锁归 PLC / DCS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不做质检最终裁决——判定标准解释权在质量部门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不代替人对外承诺——智能体只出草稿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不做黑箱回答——工艺与合规类答案须附出处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不承诺无数据支撑的效果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3949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0292" cy="2651760"/>
          </a:xfrm>
          <a:prstGeom prst="rect">
            <a:avLst/>
          </a:prstGeom>
          <a:solidFill>
            <a:srgbClr val="5B6C8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19088" y="1472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可以做（人确认前提下）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19088" y="1837944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PLC 数据——数据接入层，只读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归因分析并给出建议，由人执行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配方参数下发——批次级设定，非实时回路，属 MES 标准职能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开机准备度检查与时机建议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参数上下限硬约束设在 PLC 侧，人工确认不可绕过，全链路留痕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420624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49808" y="425196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客户既有材料中的「无人开机」，在本方案中拆为三段：开机准备度检查（能力中心）→ 人工确认放行 → PLC 侧执行（集成商）。不做成全无人，是因为工艺窗口窄、误调代价不对称，且安全联锁的功能安全责任在设备侧。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8640" y="480060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9808" y="484632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交付边界切在数据接入层：车间侧不部署本方推理组件（检测与视觉推理均由仪表厂商成套交付）；数据采集与指令网关须部署，性质是接口不是算力。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539496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49808" y="544068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数据接入规范与控制接口规范由能力中心定义，系统集成商按规范实现，双方联调。各参与方的责任划分见「参与方与责任边界」一页。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传统系统与本方案的关系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定位变了：从「人操作的系统」变成「Agent 调用的工具与数据源」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548994"/>
                <a:gridCol w="2876702"/>
                <a:gridCol w="2876702"/>
                <a:gridCol w="376184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承担什么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建不建 · 谁建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与能力中心的关系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MES 生产执行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工单、排产、报工、追溯记录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前置条件：仍需建设。归属与承建方须在阶段二启动前定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生产事实的记录者。Agent 调它下发指令、取进度、写回结果——本方案的「配方参数下发」以它到位为前提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QMS 质量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检验规则、判定记录、不合格处置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仍需建设。判定规则须可审计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用它的规则做初判与拦截，争议交人工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ERP / 财务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物料、订单、成本科目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沿用既有（客户已规划金蝶云 ERP），不重复建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作为数据源与写回目标接入，不改造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PLM / 供应链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产品数据、供应商与物流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沿用客户既有规划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按需接入，本期不作为交付项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报表与看板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各类统计报表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大幅减少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保留合规报送与固定周期报表；探索性查询由对话完成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480060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484632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不等于「不要传统系统」——记录、规则、审计这些职责仍需系统承担。变的是人机界面：人从「操作系统」转为「审阅与决策」，系统从「面向人的界面」转为「面向 Agent 的能力」。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48640" y="539496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49808" y="544068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 是配方下发与批次追溯的前置系统。本项目负责接口定义、应用侧接入及联调；MES 本体建设与改造不在本项目范围内，阶段二启动前需确认接口条件。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48640" y="598932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49808" y="603504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本方案不承接 MES / QMS / ERP 建设本身。基于已开放标准接口开展的接口契约、连接器、字段映射、测试与联调属于我方工作：业务接口计入应用开发费，远端 MCP 与 OT 通用协议计入平台适配费。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系统逻辑架构"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A46"/>
          </a:solidFill>
          <a:ln w="12700">
            <a:solidFill>
              <a:srgbClr val="1F5A46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" b="0" dirty="0">
                <a:solidFill>
                  <a:srgbClr val="24332B"/>
                </a:solidFill>
                <a:latin typeface="Aptos"/>
                <a:ea typeface="PingFang SC"/>
              </a:rPr>
              <a:t/>
            </a:r>
            <a:endParaRPr lang="zh-CN" sz="100"/>
          </a:p>
        </p:txBody>
      </p:sp>
      <p:sp>
        <p:nvSpPr>
          <p:cNvPr id="3" name="Text 3"/>
          <p:cNvSpPr txBox="1"/>
          <p:nvPr/>
        </p:nvSpPr>
        <p:spPr>
          <a:xfrm>
            <a:off x="548640" y="347472"/>
            <a:ext cx="6583680" cy="4572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2600" b="1" dirty="0">
                <a:solidFill>
                  <a:srgbClr val="173F32"/>
                </a:solidFill>
                <a:latin typeface="Aptos"/>
                <a:ea typeface="PingFang SC"/>
              </a:rPr>
              <a:t>系统逻辑架构</a:t>
            </a:r>
            <a:endParaRPr lang="zh-CN" sz="2600"/>
          </a:p>
        </p:txBody>
      </p:sp>
      <p:sp>
        <p:nvSpPr>
          <p:cNvPr id="4" name="Text 4"/>
          <p:cNvSpPr txBox="1"/>
          <p:nvPr/>
        </p:nvSpPr>
        <p:spPr>
          <a:xfrm>
            <a:off x="566928" y="850392"/>
            <a:ext cx="10424160" cy="27432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1150" b="0" dirty="0">
                <a:solidFill>
                  <a:srgbClr val="668074"/>
                </a:solidFill>
                <a:latin typeface="Aptos"/>
                <a:ea typeface="PingFang SC"/>
              </a:rPr>
              <a:t>应用与智能平台统一承载业务能力，通过标准接口连接现有系统与生产现场</a:t>
            </a:r>
            <a:endParaRPr lang="zh-CN" sz="1150"/>
          </a:p>
        </p:txBody>
      </p:sp>
      <p:sp>
        <p:nvSpPr>
          <p:cNvPr id="5" name="Text 5"/>
          <p:cNvSpPr txBox="1"/>
          <p:nvPr/>
        </p:nvSpPr>
        <p:spPr>
          <a:xfrm>
            <a:off x="566928" y="1225296"/>
            <a:ext cx="1234440" cy="292608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1100" b="1" dirty="0">
                <a:solidFill>
                  <a:srgbClr val="668074"/>
                </a:solidFill>
                <a:latin typeface="Aptos"/>
                <a:ea typeface="PingFang SC"/>
              </a:rPr>
              <a:t>使用入口</a:t>
            </a:r>
            <a:endParaRPr lang="zh-CN" sz="1100"/>
          </a:p>
        </p:txBody>
      </p:sp>
      <p:sp>
        <p:nvSpPr>
          <p:cNvPr id="6" name="Box 6"/>
          <p:cNvSpPr/>
          <p:nvPr/>
        </p:nvSpPr>
        <p:spPr>
          <a:xfrm>
            <a:off x="1874520" y="1133856"/>
            <a:ext cx="1965960" cy="438912"/>
          </a:xfrm>
          <a:prstGeom prst="roundRect">
            <a:avLst/>
          </a:prstGeom>
          <a:solidFill>
            <a:srgbClr val="EEF3ED"/>
          </a:solidFill>
          <a:ln w="12700">
            <a:solidFill>
              <a:srgbClr val="B7C7B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50" b="1" dirty="0">
                <a:solidFill>
                  <a:srgbClr val="24332B"/>
                </a:solidFill>
                <a:latin typeface="Aptos"/>
                <a:ea typeface="PingFang SC"/>
              </a:rPr>
              <a:t>生产/研发人员</a:t>
            </a:r>
            <a:endParaRPr lang="zh-CN" sz="1150"/>
          </a:p>
        </p:txBody>
      </p:sp>
      <p:sp>
        <p:nvSpPr>
          <p:cNvPr id="7" name="Box 7"/>
          <p:cNvSpPr/>
          <p:nvPr/>
        </p:nvSpPr>
        <p:spPr>
          <a:xfrm>
            <a:off x="4142232" y="1133856"/>
            <a:ext cx="1965960" cy="438912"/>
          </a:xfrm>
          <a:prstGeom prst="roundRect">
            <a:avLst/>
          </a:prstGeom>
          <a:solidFill>
            <a:srgbClr val="EEF3ED"/>
          </a:solidFill>
          <a:ln w="12700">
            <a:solidFill>
              <a:srgbClr val="B7C7B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50" b="1" dirty="0">
                <a:solidFill>
                  <a:srgbClr val="24332B"/>
                </a:solidFill>
                <a:latin typeface="Aptos"/>
                <a:ea typeface="PingFang SC"/>
              </a:rPr>
              <a:t>管理人员</a:t>
            </a:r>
            <a:endParaRPr lang="zh-CN" sz="1150"/>
          </a:p>
        </p:txBody>
      </p:sp>
      <p:sp>
        <p:nvSpPr>
          <p:cNvPr id="8" name="Box 8"/>
          <p:cNvSpPr/>
          <p:nvPr/>
        </p:nvSpPr>
        <p:spPr>
          <a:xfrm>
            <a:off x="6409944" y="1133856"/>
            <a:ext cx="1965960" cy="438912"/>
          </a:xfrm>
          <a:prstGeom prst="roundRect">
            <a:avLst/>
          </a:prstGeom>
          <a:solidFill>
            <a:srgbClr val="EEF3ED"/>
          </a:solidFill>
          <a:ln w="12700">
            <a:solidFill>
              <a:srgbClr val="B7C7B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50" b="1" dirty="0">
                <a:solidFill>
                  <a:srgbClr val="24332B"/>
                </a:solidFill>
                <a:latin typeface="Aptos"/>
                <a:ea typeface="PingFang SC"/>
              </a:rPr>
              <a:t>渠道运营</a:t>
            </a:r>
            <a:endParaRPr lang="zh-CN" sz="1150"/>
          </a:p>
        </p:txBody>
      </p:sp>
      <p:sp>
        <p:nvSpPr>
          <p:cNvPr id="9" name="Box 9"/>
          <p:cNvSpPr/>
          <p:nvPr/>
        </p:nvSpPr>
        <p:spPr>
          <a:xfrm>
            <a:off x="8677656" y="1133856"/>
            <a:ext cx="1965960" cy="438912"/>
          </a:xfrm>
          <a:prstGeom prst="roundRect">
            <a:avLst/>
          </a:prstGeom>
          <a:solidFill>
            <a:srgbClr val="EEF3ED"/>
          </a:solidFill>
          <a:ln w="12700">
            <a:solidFill>
              <a:srgbClr val="B7C7B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50" b="1" dirty="0">
                <a:solidFill>
                  <a:srgbClr val="24332B"/>
                </a:solidFill>
                <a:latin typeface="Aptos"/>
                <a:ea typeface="PingFang SC"/>
              </a:rPr>
              <a:t>园区企业/合作方</a:t>
            </a:r>
            <a:endParaRPr lang="zh-CN" sz="1150"/>
          </a:p>
        </p:txBody>
      </p:sp>
      <p:cxnSp>
        <p:nvCxnSpPr>
          <p:cNvPr id="10" name="Connector 10"/>
          <p:cNvCxnSpPr/>
          <p:nvPr/>
        </p:nvCxnSpPr>
        <p:spPr>
          <a:xfrm>
            <a:off x="5614416" y="1572768"/>
            <a:ext cx="9144" cy="210312"/>
          </a:xfrm>
          <a:prstGeom prst="line">
            <a:avLst/>
          </a:prstGeom>
          <a:ln w="19050">
            <a:solidFill>
              <a:srgbClr val="7B9284"/>
            </a:solidFill>
            <a:headEnd type="none"/>
            <a:tailEnd type="triangle"/>
          </a:ln>
        </p:spPr>
      </p:cxnSp>
      <p:sp>
        <p:nvSpPr>
          <p:cNvPr id="11" name="Box 11"/>
          <p:cNvSpPr/>
          <p:nvPr/>
        </p:nvSpPr>
        <p:spPr>
          <a:xfrm>
            <a:off x="502920" y="1755648"/>
            <a:ext cx="11183112" cy="3246120"/>
          </a:xfrm>
          <a:prstGeom prst="roundRect">
            <a:avLst/>
          </a:prstGeom>
          <a:solidFill>
            <a:srgbClr val="FBFAF5"/>
          </a:solidFill>
          <a:ln w="12700">
            <a:solidFill>
              <a:srgbClr val="4F7D68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" b="0" dirty="0">
                <a:solidFill>
                  <a:srgbClr val="24332B"/>
                </a:solidFill>
                <a:latin typeface="Aptos"/>
                <a:ea typeface="PingFang SC"/>
              </a:rPr>
              <a:t/>
            </a:r>
            <a:endParaRPr lang="zh-CN" sz="100"/>
          </a:p>
        </p:txBody>
      </p:sp>
      <p:sp>
        <p:nvSpPr>
          <p:cNvPr id="12" name="Box 12"/>
          <p:cNvSpPr/>
          <p:nvPr/>
        </p:nvSpPr>
        <p:spPr>
          <a:xfrm>
            <a:off x="658368" y="1920240"/>
            <a:ext cx="1143000" cy="530352"/>
          </a:xfrm>
          <a:prstGeom prst="roundRect">
            <a:avLst/>
          </a:prstGeom>
          <a:solidFill>
            <a:srgbClr val="1F5A46"/>
          </a:solidFill>
          <a:ln w="12700">
            <a:solidFill>
              <a:srgbClr val="1F5A46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ptos"/>
                <a:ea typeface="PingFang SC"/>
              </a:rPr>
              <a:t>应用层</a:t>
            </a:r>
            <a:endParaRPr lang="zh-CN" sz="1200"/>
          </a:p>
        </p:txBody>
      </p:sp>
      <p:sp>
        <p:nvSpPr>
          <p:cNvPr id="13" name="Box 13"/>
          <p:cNvSpPr/>
          <p:nvPr/>
        </p:nvSpPr>
        <p:spPr>
          <a:xfrm>
            <a:off x="1965960" y="1920240"/>
            <a:ext cx="1993392" cy="530352"/>
          </a:xfrm>
          <a:prstGeom prst="roundRect">
            <a:avLst/>
          </a:prstGeom>
          <a:solidFill>
            <a:srgbClr val="E6EFE9"/>
          </a:solidFill>
          <a:ln w="12700">
            <a:solidFill>
              <a:srgbClr val="8AA68F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200" b="1" dirty="0">
                <a:solidFill>
                  <a:srgbClr val="24332B"/>
                </a:solidFill>
                <a:latin typeface="Aptos"/>
                <a:ea typeface="PingFang SC"/>
              </a:rPr>
              <a:t>认证与培训</a:t>
            </a:r>
            <a:endParaRPr lang="zh-CN" sz="1200"/>
          </a:p>
        </p:txBody>
      </p:sp>
      <p:sp>
        <p:nvSpPr>
          <p:cNvPr id="14" name="Box 14"/>
          <p:cNvSpPr/>
          <p:nvPr/>
        </p:nvSpPr>
        <p:spPr>
          <a:xfrm>
            <a:off x="4224528" y="1920240"/>
            <a:ext cx="1993392" cy="530352"/>
          </a:xfrm>
          <a:prstGeom prst="roundRect">
            <a:avLst/>
          </a:prstGeom>
          <a:solidFill>
            <a:srgbClr val="E6EFE9"/>
          </a:solidFill>
          <a:ln w="12700">
            <a:solidFill>
              <a:srgbClr val="8AA68F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200" b="1" dirty="0">
                <a:solidFill>
                  <a:srgbClr val="24332B"/>
                </a:solidFill>
                <a:latin typeface="Aptos"/>
                <a:ea typeface="PingFang SC"/>
              </a:rPr>
              <a:t>研发与配方</a:t>
            </a:r>
            <a:endParaRPr lang="zh-CN" sz="1200"/>
          </a:p>
        </p:txBody>
      </p:sp>
      <p:sp>
        <p:nvSpPr>
          <p:cNvPr id="15" name="Box 15"/>
          <p:cNvSpPr/>
          <p:nvPr/>
        </p:nvSpPr>
        <p:spPr>
          <a:xfrm>
            <a:off x="6483096" y="1920240"/>
            <a:ext cx="1993392" cy="530352"/>
          </a:xfrm>
          <a:prstGeom prst="roundRect">
            <a:avLst/>
          </a:prstGeom>
          <a:solidFill>
            <a:srgbClr val="E6EFE9"/>
          </a:solidFill>
          <a:ln w="12700">
            <a:solidFill>
              <a:srgbClr val="8AA68F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200" b="1" dirty="0">
                <a:solidFill>
                  <a:srgbClr val="24332B"/>
                </a:solidFill>
                <a:latin typeface="Aptos"/>
                <a:ea typeface="PingFang SC"/>
              </a:rPr>
              <a:t>生产与质量</a:t>
            </a:r>
            <a:endParaRPr lang="zh-CN" sz="1200"/>
          </a:p>
        </p:txBody>
      </p:sp>
      <p:sp>
        <p:nvSpPr>
          <p:cNvPr id="16" name="Box 16"/>
          <p:cNvSpPr/>
          <p:nvPr/>
        </p:nvSpPr>
        <p:spPr>
          <a:xfrm>
            <a:off x="8741664" y="1920240"/>
            <a:ext cx="1993392" cy="530352"/>
          </a:xfrm>
          <a:prstGeom prst="roundRect">
            <a:avLst/>
          </a:prstGeom>
          <a:solidFill>
            <a:srgbClr val="E6EFE9"/>
          </a:solidFill>
          <a:ln w="12700">
            <a:solidFill>
              <a:srgbClr val="8AA68F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200" b="1" dirty="0">
                <a:solidFill>
                  <a:srgbClr val="24332B"/>
                </a:solidFill>
                <a:latin typeface="Aptos"/>
                <a:ea typeface="PingFang SC"/>
              </a:rPr>
              <a:t>招商与渠道</a:t>
            </a:r>
            <a:endParaRPr lang="zh-CN" sz="1200"/>
          </a:p>
        </p:txBody>
      </p:sp>
      <p:sp>
        <p:nvSpPr>
          <p:cNvPr id="17" name="Box 17"/>
          <p:cNvSpPr/>
          <p:nvPr/>
        </p:nvSpPr>
        <p:spPr>
          <a:xfrm>
            <a:off x="658368" y="2633472"/>
            <a:ext cx="1143000" cy="658368"/>
          </a:xfrm>
          <a:prstGeom prst="roundRect">
            <a:avLst/>
          </a:prstGeom>
          <a:solidFill>
            <a:srgbClr val="2F715A"/>
          </a:solidFill>
          <a:ln w="12700">
            <a:solidFill>
              <a:srgbClr val="2F715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50" b="1" dirty="0">
                <a:solidFill>
                  <a:srgbClr val="FFFFFF"/>
                </a:solidFill>
                <a:latin typeface="Aptos"/>
                <a:ea typeface="PingFang SC"/>
              </a:rPr>
              <a:t>智能平台层</a:t>
            </a:r>
            <a:endParaRPr lang="zh-CN" sz="1150"/>
          </a:p>
        </p:txBody>
      </p:sp>
      <p:sp>
        <p:nvSpPr>
          <p:cNvPr id="18" name="Box 18"/>
          <p:cNvSpPr/>
          <p:nvPr/>
        </p:nvSpPr>
        <p:spPr>
          <a:xfrm>
            <a:off x="1965960" y="2633472"/>
            <a:ext cx="1536192" cy="658368"/>
          </a:xfrm>
          <a:prstGeom prst="roundRect">
            <a:avLst/>
          </a:prstGeom>
          <a:solidFill>
            <a:srgbClr val="F2EBDD"/>
          </a:solidFill>
          <a:ln w="12700">
            <a:solidFill>
              <a:srgbClr val="C4AA7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60" b="1" dirty="0">
                <a:solidFill>
                  <a:srgbClr val="24332B"/>
                </a:solidFill>
                <a:latin typeface="Aptos"/>
                <a:ea typeface="PingFang SC"/>
              </a:rPr>
              <a:t>智能体编排</a:t>
            </a:r>
            <a:endParaRPr lang="zh-CN" sz="1060"/>
          </a:p>
        </p:txBody>
      </p:sp>
      <p:sp>
        <p:nvSpPr>
          <p:cNvPr id="19" name="Box 19"/>
          <p:cNvSpPr/>
          <p:nvPr/>
        </p:nvSpPr>
        <p:spPr>
          <a:xfrm>
            <a:off x="3739896" y="2633472"/>
            <a:ext cx="1536192" cy="658368"/>
          </a:xfrm>
          <a:prstGeom prst="roundRect">
            <a:avLst/>
          </a:prstGeom>
          <a:solidFill>
            <a:srgbClr val="F2EBDD"/>
          </a:solidFill>
          <a:ln w="12700">
            <a:solidFill>
              <a:srgbClr val="C4AA7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60" b="1" dirty="0">
                <a:solidFill>
                  <a:srgbClr val="24332B"/>
                </a:solidFill>
                <a:latin typeface="Aptos"/>
                <a:ea typeface="PingFang SC"/>
              </a:rPr>
              <a:t>知识库 / RAG</a:t>
            </a:r>
            <a:endParaRPr lang="zh-CN" sz="1060"/>
          </a:p>
        </p:txBody>
      </p:sp>
      <p:sp>
        <p:nvSpPr>
          <p:cNvPr id="20" name="Box 20"/>
          <p:cNvSpPr/>
          <p:nvPr/>
        </p:nvSpPr>
        <p:spPr>
          <a:xfrm>
            <a:off x="5513832" y="2633472"/>
            <a:ext cx="1536192" cy="658368"/>
          </a:xfrm>
          <a:prstGeom prst="roundRect">
            <a:avLst/>
          </a:prstGeom>
          <a:solidFill>
            <a:srgbClr val="F2EBDD"/>
          </a:solidFill>
          <a:ln w="12700">
            <a:solidFill>
              <a:srgbClr val="C4AA7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60" b="1" dirty="0">
                <a:solidFill>
                  <a:srgbClr val="24332B"/>
                </a:solidFill>
                <a:latin typeface="Aptos"/>
                <a:ea typeface="PingFang SC"/>
              </a:rPr>
              <a:t>自建大模型</a:t>
            </a:r>
            <a:endParaRPr lang="zh-CN" sz="1060"/>
          </a:p>
        </p:txBody>
      </p:sp>
      <p:sp>
        <p:nvSpPr>
          <p:cNvPr id="21" name="Box 21"/>
          <p:cNvSpPr/>
          <p:nvPr/>
        </p:nvSpPr>
        <p:spPr>
          <a:xfrm>
            <a:off x="7287768" y="2633472"/>
            <a:ext cx="1536192" cy="658368"/>
          </a:xfrm>
          <a:prstGeom prst="roundRect">
            <a:avLst/>
          </a:prstGeom>
          <a:solidFill>
            <a:srgbClr val="F2EBDD"/>
          </a:solidFill>
          <a:ln w="12700">
            <a:solidFill>
              <a:srgbClr val="C4AA7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60" b="1" dirty="0">
                <a:solidFill>
                  <a:srgbClr val="24332B"/>
                </a:solidFill>
                <a:latin typeface="Aptos"/>
                <a:ea typeface="PingFang SC"/>
              </a:rPr>
              <a:t>工具与接口网关</a:t>
            </a:r>
            <a:endParaRPr lang="zh-CN" sz="1060"/>
          </a:p>
        </p:txBody>
      </p:sp>
      <p:sp>
        <p:nvSpPr>
          <p:cNvPr id="22" name="Box 22"/>
          <p:cNvSpPr/>
          <p:nvPr/>
        </p:nvSpPr>
        <p:spPr>
          <a:xfrm>
            <a:off x="9061704" y="2633472"/>
            <a:ext cx="1536192" cy="658368"/>
          </a:xfrm>
          <a:prstGeom prst="roundRect">
            <a:avLst/>
          </a:prstGeom>
          <a:solidFill>
            <a:srgbClr val="F2EBDD"/>
          </a:solidFill>
          <a:ln w="12700">
            <a:solidFill>
              <a:srgbClr val="C4AA7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60" b="1" dirty="0">
                <a:solidFill>
                  <a:srgbClr val="24332B"/>
                </a:solidFill>
                <a:latin typeface="Aptos"/>
                <a:ea typeface="PingFang SC"/>
              </a:rPr>
              <a:t>权限 / 审计</a:t>
            </a:r>
            <a:endParaRPr lang="zh-CN" sz="1060"/>
          </a:p>
        </p:txBody>
      </p:sp>
      <p:sp>
        <p:nvSpPr>
          <p:cNvPr id="23" name="Box 23"/>
          <p:cNvSpPr/>
          <p:nvPr/>
        </p:nvSpPr>
        <p:spPr>
          <a:xfrm>
            <a:off x="658368" y="3493008"/>
            <a:ext cx="1143000" cy="566928"/>
          </a:xfrm>
          <a:prstGeom prst="roundRect">
            <a:avLst/>
          </a:prstGeom>
          <a:solidFill>
            <a:srgbClr val="557C69"/>
          </a:solidFill>
          <a:ln w="12700">
            <a:solidFill>
              <a:srgbClr val="557C69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50" b="1" dirty="0">
                <a:solidFill>
                  <a:srgbClr val="FFFFFF"/>
                </a:solidFill>
                <a:latin typeface="Aptos"/>
                <a:ea typeface="PingFang SC"/>
              </a:rPr>
              <a:t>数据层</a:t>
            </a:r>
            <a:endParaRPr lang="zh-CN" sz="1150"/>
          </a:p>
        </p:txBody>
      </p:sp>
      <p:sp>
        <p:nvSpPr>
          <p:cNvPr id="24" name="Box 24"/>
          <p:cNvSpPr/>
          <p:nvPr/>
        </p:nvSpPr>
        <p:spPr>
          <a:xfrm>
            <a:off x="1965960" y="3493008"/>
            <a:ext cx="1993392" cy="566928"/>
          </a:xfrm>
          <a:prstGeom prst="roundRect">
            <a:avLst/>
          </a:prstGeom>
          <a:solidFill>
            <a:srgbClr val="F6F3EA"/>
          </a:solidFill>
          <a:ln w="12700">
            <a:solidFill>
              <a:srgbClr val="B7C7B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00" b="1" dirty="0">
                <a:solidFill>
                  <a:srgbClr val="24332B"/>
                </a:solidFill>
                <a:latin typeface="Aptos"/>
                <a:ea typeface="PingFang SC"/>
              </a:rPr>
              <a:t>业务数据库</a:t>
            </a:r>
            <a:endParaRPr lang="zh-CN" sz="1100"/>
          </a:p>
        </p:txBody>
      </p:sp>
      <p:sp>
        <p:nvSpPr>
          <p:cNvPr id="25" name="Box 25"/>
          <p:cNvSpPr/>
          <p:nvPr/>
        </p:nvSpPr>
        <p:spPr>
          <a:xfrm>
            <a:off x="4224528" y="3493008"/>
            <a:ext cx="1993392" cy="566928"/>
          </a:xfrm>
          <a:prstGeom prst="roundRect">
            <a:avLst/>
          </a:prstGeom>
          <a:solidFill>
            <a:srgbClr val="F6F3EA"/>
          </a:solidFill>
          <a:ln w="12700">
            <a:solidFill>
              <a:srgbClr val="B7C7B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00" b="1" dirty="0">
                <a:solidFill>
                  <a:srgbClr val="24332B"/>
                </a:solidFill>
                <a:latin typeface="Aptos"/>
                <a:ea typeface="PingFang SC"/>
              </a:rPr>
              <a:t>向量数据库</a:t>
            </a:r>
            <a:endParaRPr lang="zh-CN" sz="1100"/>
          </a:p>
        </p:txBody>
      </p:sp>
      <p:sp>
        <p:nvSpPr>
          <p:cNvPr id="26" name="Box 26"/>
          <p:cNvSpPr/>
          <p:nvPr/>
        </p:nvSpPr>
        <p:spPr>
          <a:xfrm>
            <a:off x="6483096" y="3493008"/>
            <a:ext cx="1993392" cy="566928"/>
          </a:xfrm>
          <a:prstGeom prst="roundRect">
            <a:avLst/>
          </a:prstGeom>
          <a:solidFill>
            <a:srgbClr val="F6F3EA"/>
          </a:solidFill>
          <a:ln w="12700">
            <a:solidFill>
              <a:srgbClr val="B7C7B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00" b="1" dirty="0">
                <a:solidFill>
                  <a:srgbClr val="24332B"/>
                </a:solidFill>
                <a:latin typeface="Aptos"/>
                <a:ea typeface="PingFang SC"/>
              </a:rPr>
              <a:t>时序数据</a:t>
            </a:r>
            <a:endParaRPr lang="zh-CN" sz="1100"/>
          </a:p>
        </p:txBody>
      </p:sp>
      <p:sp>
        <p:nvSpPr>
          <p:cNvPr id="27" name="Box 27"/>
          <p:cNvSpPr/>
          <p:nvPr/>
        </p:nvSpPr>
        <p:spPr>
          <a:xfrm>
            <a:off x="8741664" y="3493008"/>
            <a:ext cx="1993392" cy="566928"/>
          </a:xfrm>
          <a:prstGeom prst="roundRect">
            <a:avLst/>
          </a:prstGeom>
          <a:solidFill>
            <a:srgbClr val="F6F3EA"/>
          </a:solidFill>
          <a:ln w="12700">
            <a:solidFill>
              <a:srgbClr val="B7C7B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00" b="1" dirty="0">
                <a:solidFill>
                  <a:srgbClr val="24332B"/>
                </a:solidFill>
                <a:latin typeface="Aptos"/>
                <a:ea typeface="PingFang SC"/>
              </a:rPr>
              <a:t>对象存储</a:t>
            </a:r>
            <a:endParaRPr lang="zh-CN" sz="1100"/>
          </a:p>
        </p:txBody>
      </p:sp>
      <p:sp>
        <p:nvSpPr>
          <p:cNvPr id="28" name="Box 28"/>
          <p:cNvSpPr/>
          <p:nvPr/>
        </p:nvSpPr>
        <p:spPr>
          <a:xfrm>
            <a:off x="658368" y="4261104"/>
            <a:ext cx="1143000" cy="566928"/>
          </a:xfrm>
          <a:prstGeom prst="roundRect">
            <a:avLst/>
          </a:prstGeom>
          <a:solidFill>
            <a:srgbClr val="785F3C"/>
          </a:solidFill>
          <a:ln w="12700">
            <a:solidFill>
              <a:srgbClr val="785F3C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50" b="1" dirty="0">
                <a:solidFill>
                  <a:srgbClr val="FFFFFF"/>
                </a:solidFill>
                <a:latin typeface="Aptos"/>
                <a:ea typeface="PingFang SC"/>
              </a:rPr>
              <a:t>集成层</a:t>
            </a:r>
            <a:endParaRPr lang="zh-CN" sz="1150"/>
          </a:p>
        </p:txBody>
      </p:sp>
      <p:sp>
        <p:nvSpPr>
          <p:cNvPr id="29" name="Box 29"/>
          <p:cNvSpPr/>
          <p:nvPr/>
        </p:nvSpPr>
        <p:spPr>
          <a:xfrm>
            <a:off x="1965960" y="4261104"/>
            <a:ext cx="2697480" cy="566928"/>
          </a:xfrm>
          <a:prstGeom prst="roundRect">
            <a:avLst/>
          </a:prstGeom>
          <a:solidFill>
            <a:srgbClr val="F7EFE3"/>
          </a:solidFill>
          <a:ln w="12700">
            <a:solidFill>
              <a:srgbClr val="C4AA7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00" b="1" dirty="0">
                <a:solidFill>
                  <a:srgbClr val="24332B"/>
                </a:solidFill>
                <a:latin typeface="Aptos"/>
                <a:ea typeface="PingFang SC"/>
              </a:rPr>
              <a:t>标准 API / 连接器</a:t>
            </a:r>
            <a:endParaRPr lang="zh-CN" sz="1100"/>
          </a:p>
        </p:txBody>
      </p:sp>
      <p:sp>
        <p:nvSpPr>
          <p:cNvPr id="30" name="Box 30"/>
          <p:cNvSpPr/>
          <p:nvPr/>
        </p:nvSpPr>
        <p:spPr>
          <a:xfrm>
            <a:off x="4965192" y="4261104"/>
            <a:ext cx="2697480" cy="566928"/>
          </a:xfrm>
          <a:prstGeom prst="roundRect">
            <a:avLst/>
          </a:prstGeom>
          <a:solidFill>
            <a:srgbClr val="F7EFE3"/>
          </a:solidFill>
          <a:ln w="12700">
            <a:solidFill>
              <a:srgbClr val="C4AA7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00" b="1" dirty="0">
                <a:solidFill>
                  <a:srgbClr val="24332B"/>
                </a:solidFill>
                <a:latin typeface="Aptos"/>
                <a:ea typeface="PingFang SC"/>
              </a:rPr>
              <a:t>数据映射与校验</a:t>
            </a:r>
            <a:endParaRPr lang="zh-CN" sz="1100"/>
          </a:p>
        </p:txBody>
      </p:sp>
      <p:sp>
        <p:nvSpPr>
          <p:cNvPr id="31" name="Box 31"/>
          <p:cNvSpPr/>
          <p:nvPr/>
        </p:nvSpPr>
        <p:spPr>
          <a:xfrm>
            <a:off x="7964424" y="4261104"/>
            <a:ext cx="2697480" cy="566928"/>
          </a:xfrm>
          <a:prstGeom prst="roundRect">
            <a:avLst/>
          </a:prstGeom>
          <a:solidFill>
            <a:srgbClr val="F7EFE3"/>
          </a:solidFill>
          <a:ln w="12700">
            <a:solidFill>
              <a:srgbClr val="C4AA7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00" b="1" dirty="0">
                <a:solidFill>
                  <a:srgbClr val="24332B"/>
                </a:solidFill>
                <a:latin typeface="Aptos"/>
                <a:ea typeface="PingFang SC"/>
              </a:rPr>
              <a:t>边缘网关 / 协议适配</a:t>
            </a:r>
            <a:endParaRPr lang="zh-CN" sz="1100"/>
          </a:p>
        </p:txBody>
      </p:sp>
      <p:sp>
        <p:nvSpPr>
          <p:cNvPr id="32" name="Text 32"/>
          <p:cNvSpPr txBox="1"/>
          <p:nvPr/>
        </p:nvSpPr>
        <p:spPr>
          <a:xfrm>
            <a:off x="9829800" y="4590288"/>
            <a:ext cx="1508760" cy="219456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zh-CN" sz="900" b="1" dirty="0">
                <a:solidFill>
                  <a:srgbClr val="1F5A46"/>
                </a:solidFill>
                <a:latin typeface="Aptos"/>
                <a:ea typeface="PingFang SC"/>
              </a:rPr>
              <a:t>本项目建设范围</a:t>
            </a:r>
            <a:endParaRPr lang="zh-CN" sz="900"/>
          </a:p>
        </p:txBody>
      </p:sp>
      <p:cxnSp>
        <p:nvCxnSpPr>
          <p:cNvPr id="33" name="Connector 33"/>
          <p:cNvCxnSpPr/>
          <p:nvPr/>
        </p:nvCxnSpPr>
        <p:spPr>
          <a:xfrm>
            <a:off x="5614416" y="5001768"/>
            <a:ext cx="9144" cy="237744"/>
          </a:xfrm>
          <a:prstGeom prst="line">
            <a:avLst/>
          </a:prstGeom>
          <a:ln w="19050">
            <a:solidFill>
              <a:srgbClr val="7B9284"/>
            </a:solidFill>
            <a:headEnd type="none"/>
            <a:tailEnd type="triangle"/>
          </a:ln>
        </p:spPr>
      </p:cxnSp>
      <p:sp>
        <p:nvSpPr>
          <p:cNvPr id="34" name="Text 34"/>
          <p:cNvSpPr txBox="1"/>
          <p:nvPr/>
        </p:nvSpPr>
        <p:spPr>
          <a:xfrm>
            <a:off x="566928" y="5321808"/>
            <a:ext cx="1261872" cy="27432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1100" b="1" dirty="0">
                <a:solidFill>
                  <a:srgbClr val="668074"/>
                </a:solidFill>
                <a:latin typeface="Aptos"/>
                <a:ea typeface="PingFang SC"/>
              </a:rPr>
              <a:t>外部系统</a:t>
            </a:r>
            <a:endParaRPr lang="zh-CN" sz="1100"/>
          </a:p>
        </p:txBody>
      </p:sp>
      <p:sp>
        <p:nvSpPr>
          <p:cNvPr id="35" name="Box 35"/>
          <p:cNvSpPr/>
          <p:nvPr/>
        </p:nvSpPr>
        <p:spPr>
          <a:xfrm>
            <a:off x="1874520" y="5230368"/>
            <a:ext cx="1609344" cy="502920"/>
          </a:xfrm>
          <a:prstGeom prst="roundRect">
            <a:avLst/>
          </a:prstGeom>
          <a:solidFill>
            <a:srgbClr val="F2F0EA"/>
          </a:solidFill>
          <a:ln w="12700">
            <a:solidFill>
              <a:srgbClr val="A8A39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40" b="1" dirty="0">
                <a:solidFill>
                  <a:srgbClr val="24332B"/>
                </a:solidFill>
                <a:latin typeface="Aptos"/>
                <a:ea typeface="PingFang SC"/>
              </a:rPr>
              <a:t>设备 / PLC / 仪器</a:t>
            </a:r>
            <a:endParaRPr lang="zh-CN" sz="1040"/>
          </a:p>
        </p:txBody>
      </p:sp>
      <p:sp>
        <p:nvSpPr>
          <p:cNvPr id="36" name="Box 36"/>
          <p:cNvSpPr/>
          <p:nvPr/>
        </p:nvSpPr>
        <p:spPr>
          <a:xfrm>
            <a:off x="3739896" y="5230368"/>
            <a:ext cx="1609344" cy="502920"/>
          </a:xfrm>
          <a:prstGeom prst="roundRect">
            <a:avLst/>
          </a:prstGeom>
          <a:solidFill>
            <a:srgbClr val="F2F0EA"/>
          </a:solidFill>
          <a:ln w="12700">
            <a:solidFill>
              <a:srgbClr val="A8A39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40" b="1" dirty="0">
                <a:solidFill>
                  <a:srgbClr val="24332B"/>
                </a:solidFill>
                <a:latin typeface="Aptos"/>
                <a:ea typeface="PingFang SC"/>
              </a:rPr>
              <a:t>MES</a:t>
            </a:r>
            <a:endParaRPr lang="zh-CN" sz="1040"/>
          </a:p>
        </p:txBody>
      </p:sp>
      <p:sp>
        <p:nvSpPr>
          <p:cNvPr id="37" name="Box 37"/>
          <p:cNvSpPr/>
          <p:nvPr/>
        </p:nvSpPr>
        <p:spPr>
          <a:xfrm>
            <a:off x="5605272" y="5230368"/>
            <a:ext cx="1609344" cy="502920"/>
          </a:xfrm>
          <a:prstGeom prst="roundRect">
            <a:avLst/>
          </a:prstGeom>
          <a:solidFill>
            <a:srgbClr val="F2F0EA"/>
          </a:solidFill>
          <a:ln w="12700">
            <a:solidFill>
              <a:srgbClr val="A8A39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40" b="1" dirty="0">
                <a:solidFill>
                  <a:srgbClr val="24332B"/>
                </a:solidFill>
                <a:latin typeface="Aptos"/>
                <a:ea typeface="PingFang SC"/>
              </a:rPr>
              <a:t>QMS</a:t>
            </a:r>
            <a:endParaRPr lang="zh-CN" sz="1040"/>
          </a:p>
        </p:txBody>
      </p:sp>
      <p:sp>
        <p:nvSpPr>
          <p:cNvPr id="38" name="Box 38"/>
          <p:cNvSpPr/>
          <p:nvPr/>
        </p:nvSpPr>
        <p:spPr>
          <a:xfrm>
            <a:off x="7470648" y="5230368"/>
            <a:ext cx="1609344" cy="502920"/>
          </a:xfrm>
          <a:prstGeom prst="roundRect">
            <a:avLst/>
          </a:prstGeom>
          <a:solidFill>
            <a:srgbClr val="F2F0EA"/>
          </a:solidFill>
          <a:ln w="12700">
            <a:solidFill>
              <a:srgbClr val="A8A39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40" b="1" dirty="0">
                <a:solidFill>
                  <a:srgbClr val="24332B"/>
                </a:solidFill>
                <a:latin typeface="Aptos"/>
                <a:ea typeface="PingFang SC"/>
              </a:rPr>
              <a:t>ERP / PLM</a:t>
            </a:r>
            <a:endParaRPr lang="zh-CN" sz="1040"/>
          </a:p>
        </p:txBody>
      </p:sp>
      <p:sp>
        <p:nvSpPr>
          <p:cNvPr id="39" name="Box 39"/>
          <p:cNvSpPr/>
          <p:nvPr/>
        </p:nvSpPr>
        <p:spPr>
          <a:xfrm>
            <a:off x="9336024" y="5230368"/>
            <a:ext cx="1609344" cy="502920"/>
          </a:xfrm>
          <a:prstGeom prst="roundRect">
            <a:avLst/>
          </a:prstGeom>
          <a:solidFill>
            <a:srgbClr val="F2F0EA"/>
          </a:solidFill>
          <a:ln w="12700">
            <a:solidFill>
              <a:srgbClr val="A8A39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40" b="1" dirty="0">
                <a:solidFill>
                  <a:srgbClr val="24332B"/>
                </a:solidFill>
                <a:latin typeface="Aptos"/>
                <a:ea typeface="PingFang SC"/>
              </a:rPr>
              <a:t>法规及外部数据</a:t>
            </a:r>
            <a:endParaRPr lang="zh-CN" sz="1040"/>
          </a:p>
        </p:txBody>
      </p:sp>
      <p:sp>
        <p:nvSpPr>
          <p:cNvPr id="40" name="Text 40"/>
          <p:cNvSpPr txBox="1"/>
          <p:nvPr/>
        </p:nvSpPr>
        <p:spPr>
          <a:xfrm>
            <a:off x="1874520" y="5833872"/>
            <a:ext cx="9326880" cy="246888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1020" b="0" dirty="0">
                <a:solidFill>
                  <a:srgbClr val="785F3C"/>
                </a:solidFill>
                <a:latin typeface="Aptos"/>
                <a:ea typeface="PingFang SC"/>
              </a:rPr>
              <a:t>接口原则：优先采用原厂标准 API；非标协议、历史数据质量与厂商授权由接口调研确认。</a:t>
            </a:r>
            <a:endParaRPr lang="zh-CN" sz="1020"/>
          </a:p>
        </p:txBody>
      </p:sp>
      <p:sp>
        <p:nvSpPr>
          <p:cNvPr id="41" name="Text 41"/>
          <p:cNvSpPr txBox="1"/>
          <p:nvPr/>
        </p:nvSpPr>
        <p:spPr>
          <a:xfrm>
            <a:off x="502920" y="6547104"/>
            <a:ext cx="1828800" cy="164592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900" b="0" dirty="0">
                <a:solidFill>
                  <a:srgbClr val="668074"/>
                </a:solidFill>
                <a:latin typeface="Aptos"/>
                <a:ea typeface="PingFang SC"/>
              </a:rPr>
              <a:t>稻生万物</a:t>
            </a:r>
            <a:endParaRPr lang="zh-CN" sz="900"/>
          </a:p>
        </p:txBody>
      </p:sp>
      <p:sp>
        <p:nvSpPr>
          <p:cNvPr id="42" name="Text 42"/>
          <p:cNvSpPr txBox="1"/>
          <p:nvPr/>
        </p:nvSpPr>
        <p:spPr>
          <a:xfrm>
            <a:off x="10652760" y="6547104"/>
            <a:ext cx="868680" cy="164592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endParaRPr lang="zh-CN" sz="900"/>
            <a:r>
              <a:rPr lang="zh-CN" sz="900" b="0" dirty="0">
                <a:solidFill>
                  <a:srgbClr val="668074"/>
                </a:solidFill>
                <a:latin typeface="Aptos"/>
                <a:ea typeface="PingFang SC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渠道中心 · 做什么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三条线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659636"/>
                <a:gridCol w="5200193"/>
                <a:gridCol w="4204411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考核口径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政府关系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产业政策跟踪与解读；专项申报的组织与材料准备；园区与管委会日常对接；地方标准与认证通道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过程指标为主：政策覆盖度、申报参与数、关系维护频次。获批与否不完全可控，不宜单一考核政策结果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合作伙伴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游：稻壳供应、设备与集成商、检测仪表商。平行：高校院所、检测认证机构。下游：既有品牌客户（迪士尼、宜家、乐高、爱玛客、劳斯莱斯等）的持续经营、渠道商、承接成型的入驻企业。产能：合作产能的开发、评估与订单分配。生态：入驻企业招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有效合作方数量、合作深度分级、单个伙伴带来的业务量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渠道销售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材料产品渠道分销；能力订阅销售（阶段三起）；认证代办等服务销售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订单额、回款、渠道覆盖。提成适用于本线，不覆盖前两条线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507492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512064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阶段一即启动政府关系与合作伙伴两条线：政策窗口与关系建设都有前置期。渠道销售随材料产能爬坡在阶段二建线。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48640" y="566928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49808" y="571500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专项申报须提交供应商合同与发票，合同金额与内容进入官方留档，签约主体须与实际交付主体一致。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两个中心怎么配合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三个交接点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991563"/>
                <a:gridCol w="4536338"/>
                <a:gridCol w="4536338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能力中心负责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渠道中心负责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招商智能体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建设产业链缺口分析与目标企业匹配能力；维护企业库与产业链模型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使用其输出作为线索池；反馈匹配质量以迭代模型；实际接洽与落地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认证服务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提供材料清单生成、申报书草稿、法规监测能力；沉淀既有品牌客户的审厂标准与对接档案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承接认证代办业务；组织人工审核与对外交付。智能体只出草稿，不代替人承诺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能力订阅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定义能力包边界、计量口径与数据隔离方案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定价、销售、客户成功；把付费意愿反馈回能力包设计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452628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457200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一条约束：渠道中心对外销售的能力，限于已通过阶段验收的能力项。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48640" y="512064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49808" y="516636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业务专家由认证、工艺、招商三条线内部抽调，不新增编制。职责是演示业务流程供系统凝固，并核对复用结果。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48640" y="571500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49808" y="576072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建议以固定工时投入（如每周两个半天）并纳入所在部门考核。系统能凝固出什么，取决于演示了多少、演示得多完整。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参与方与责任边界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谁交付什么，规范由谁定、由谁实现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4868266"/>
                <a:gridCol w="398312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交付范围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与能力中心的关系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稻生万物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建设主体。出资、编制、决策。业务数据与知识资产归属方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能力中心与渠道中心均为其内设部门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平台供应商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Native 技术底座（智能体编排、工具链、知识库、模型路由、审计）；基于现有产品完成底座定向适配（向量检索、远端 MCP 传输、OT 协议、多租户）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采购合同关系。能力中心负责需求定义与验收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应用开发方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五类智能体的业务实现、知识库内容工程、与集成商的联调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委托开发合同。可与平台供应商同源，避免「平台一家、应用另一家」的责任真空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系统集成商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电控与自动化集成、PLC 编程与组态、OT 侧点位接出、边缘网关的现场安装与接线、与 PLC 的联调。参数上下限硬约束由其在 PLC 侧组态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责任边界：能力中心定义数据接入规范与控制接口规范并提供网关硬件与软件，集成商负责现场落地与联调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设备供应商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产线设备本体、安全联锁与实时控制回路（含功能安全 SIL 等级认证）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不直接对接。设备侧点位由集成商统一接出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在线检测与仪表供应商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原料在线水分与粒径检测、粒料色选、板材测厚与表面视觉（板材线可选）；实验室试验机与熔指仪的数据接出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主数据来源：用于归因分析。能力中心定义检测项与采样频率，接检测数据做归因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检测认证机构 / 高校院所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第三方检测、认证受理；计算化学模拟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能力中心负责结果的结构化入库与实验数据关联验证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598932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603504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系统集成商的选定须与产线设备定标同步：规范写好而承接方未定，等于没有交付对象。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设备与平台的边界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平台不直连设备。边缘网关是唯一接口，对上以 MCP 暴露能力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94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32588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编排层 · IT 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7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   MCP —— 工具调用 / 资源读取，带 schema、权限与审计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30552"/>
            <a:ext cx="5394960" cy="566928"/>
          </a:xfrm>
          <a:prstGeom prst="rect">
            <a:avLst/>
          </a:prstGeom>
          <a:solidFill>
            <a:srgbClr val="F5F1E8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49808" y="2203704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边缘网关 · 工业级双网口 · OT / IT 交界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441448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唯一接口。上行说 MCP，下行说工业协议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743200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7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   OPC UA / Modbus / Profinet / 串口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5394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9808" y="3044952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PLC · 仪表 · 设备 · OT 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39496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1325880"/>
            <a:ext cx="50292" cy="217627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19088" y="1472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三条不能越的线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19088" y="1837944"/>
            <a:ext cx="50292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网关不是安全装置——参数上下限硬约束在 PLC 侧组态，网关崩溃或被绕过时约束仍成立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网关不进实时回路——毫秒级闭环与安全联锁归 PLC，网关上的写是批次级设定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网关故障不停线——读路径旁路，写路径降级，产线按 PLC 现有设定继续运行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64240" cy="914400"/>
        </p:xfrm>
        <a:graphic>
          <a:graphicData uri="http://schemas.openxmlformats.org/drawingml/2006/table">
            <a:tbl>
              <a:tblPr/>
              <a:tblGrid>
                <a:gridCol w="1991563"/>
                <a:gridCol w="4868266"/>
                <a:gridCol w="1880921"/>
                <a:gridCol w="232349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 概念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网关上对应什么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谁定义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谁实现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Resource · 可读资源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工艺点位、批次记录、检测结果——只读订阅，不影响产线运行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能力中心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我方（网关软件）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Tool · 可调用动作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配方参数下发、开机准备度检查——每次调用留痕，人工确认不可绕过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能力中心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我方（网关软件）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Schema · 接口契约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点位表 + 控制接口规范——名称、量纲、精度、采样频率、上下限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能力中心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底层协议实现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PLC 寄存器映射、OPC UA 节点、仪表串口——网关之下的部分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系统集成商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548640" y="571500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49808" y="576072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当前平台的 MCP 客户端为 stdio 形态（本机拉起子进程），跨网段接远端网关需 HTTP / SSE 传输，属底座定向开发项，须在阶段二启动前完成。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安全与合规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按等保三级建设 · 涉工业控制系统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949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325880"/>
            <a:ext cx="50292" cy="2240280"/>
          </a:xfrm>
          <a:prstGeom prst="rect">
            <a:avLst/>
          </a:prstGeom>
          <a:solidFill>
            <a:srgbClr val="5B6C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472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常规安全面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837944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机房物理安防、OT / IT 隔离（工业防火墙或网闸）、区域划分与最小开放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数据分类分级——配方与客户资料为最高级；传输与静态加密、脱敏与最小授权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统一身份认证、基于角色与企业的权限模型、全量操作留痕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备份与恢复演练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3949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0292" cy="22402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19088" y="1472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新增的风险面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19088" y="1837944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模型自部署：推理与向量数据不出自有实例，不经模型服务商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上下文准入控制、提示注入防护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输出可审计与出处留存——这同时是「答案须附出处」的技术前提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跨企业上下文严格隔离（阶段三对下游开放时的硬约束）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64240" cy="914400"/>
        </p:xfrm>
        <a:graphic>
          <a:graphicData uri="http://schemas.openxmlformats.org/drawingml/2006/table">
            <a:tbl>
              <a:tblPr/>
              <a:tblGrid>
                <a:gridCol w="3761842"/>
                <a:gridCol w="1770278"/>
                <a:gridCol w="5532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配置要求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安全设备与软件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三地各一套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防火墙、入侵检测、日志审计、堡垒机、数据库审计、终端安全、态势感知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OT / IT 隔离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三地产线接入前，各一套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工业防火墙或网闸，随产线接入部署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测评与整改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阶段一末首测 · 三地取点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首次定级测评 ＋ 三年年度测评；整改与文档体系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具体设备、测评与整改范围以实施方案确定。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48640" y="576072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49808" y="580644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涉及工业控制系统并承载配方、客户等重要数据，规划按等保三级要求建设，最终定级以主管部门确认和测评结果为准。另有两项须在建设前确定：数据跨境评估（若面向海外客户）、入驻企业数据边界（多企业共用平台，隔离方案须写入入驻协议并在系统中强制）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产能外包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稻生下发配方，下游合作产能生产，产出归稻生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949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325880"/>
            <a:ext cx="50292" cy="1737360"/>
          </a:xfrm>
          <a:prstGeom prst="rect">
            <a:avLst/>
          </a:prstGeom>
          <a:solidFill>
            <a:srgbClr val="8B6F4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472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与园区赋能的区别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83794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园区赋能：产品与质量责任归入驻企业，稻生开放能力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产能外包：产品与质量责任归稻生，合作方只提供产能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因此过程数据必须回流 —— 出了质量问题，担责的是稻生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3949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0292" cy="1737360"/>
          </a:xfrm>
          <a:prstGeom prst="rect">
            <a:avLst/>
          </a:prstGeom>
          <a:solidFill>
            <a:srgbClr val="5B6C8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19088" y="1472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对能力中心的额外要求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19088" y="183794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配方版本管理：哪个批次用哪一版，可追溯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过程数据回流：合作方产线的关键点位回到稻生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跨产线参数换算：同一配方在不同设备上的适配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64240" cy="914400"/>
        </p:xfrm>
        <a:graphic>
          <a:graphicData uri="http://schemas.openxmlformats.org/drawingml/2006/table">
            <a:tbl>
              <a:tblPr/>
              <a:tblGrid>
                <a:gridCol w="1991563"/>
                <a:gridCol w="5089550"/>
                <a:gridCol w="398312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承接方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配方下发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按保密分级下发参数（非完整配方）；经工艺工程师确认后经 MES / 配方系统下发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能力中心提供能力，工艺部门确认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产线执行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合作方 PLC 侧设参数上下限硬约束，超范围拒绝执行并回报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合作方及其系统集成商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数据回流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关键工艺点位、批次记录、理化与外观检测结果回传稻生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边缘网关按厂部署，纳入项目单独立项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质量追溯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成品批次 → 配方版本 → 工艺参数 → 原料批次，全链路可查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能力中心（生产智能体的归因能力延伸）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产能管理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合作产能的开发、评估、订单分配与结算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渠道中心（合作伙伴线）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48640" y="598932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49808" y="603504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前置条件：配方保密分级（决定下发颗粒度）与质量事故的赔偿责任划分，两项须先写入合作协议。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分三阶段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每阶段有独立可用的交付物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106424"/>
                <a:gridCol w="1217066"/>
                <a:gridCol w="4757623"/>
                <a:gridCol w="1770278"/>
                <a:gridCol w="2212848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决策门槛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阶段末产出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0–6 个月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上海节点建成；认证智能体（认证知识库 → 材料清单 → 申报草稿 → 法规监测）、招商智能体；渠道中心政府关系与合作伙伴建线；基础设施采购与部署（上海：12 台 GPU ＋ 12 台基础服务与入口节点）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范围与接口确认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认证材料准备提速；政策与合作资源摸清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6–18 个月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深圳节点建成；研发与生产智能体；数据接入规范交付并与集成商联调；边缘网关与控制接口；渠道销售建线；深圳节点基础设施采购与部署（同构 12 台）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试点验收后扩展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研发数据结构化；生产异常可归因；招商线索池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18–36 个月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山东节点建成；园区智能体对下游开放；多租户与数据隔离；能力订阅计量与计费；渠道中心承接销售；山东节点基础设施采购与部署（同构 12 台）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运营指标达标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对入驻企业的能力订阅与服务收入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 个月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每阶段以交付物评审通过作为下一阶段启动条件，范围变化单独评审。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分阶段决策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阶段评审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进入稳态运营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507492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512064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阶段一不接产线：点位表尚未产出，数据接入范围待定。知识库建设与认证档案入库不依赖产线，算力在阶段一即需到位以支撑向量化与模型选型。边缘网关另行立项，不纳入阶段二范围。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48640" y="566928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49808" y="571500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阶段二启动前须确认网关侧方案：不必把 Agent 运行时搬进车间，需要的是网关上的 MCP Server 与平台侧的远端传输，范围比「边缘常驻」窄。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人员需求 · 总量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自有编制 + 委托开发配置 · 三节点口径</a:t>
            </a:r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434133"/>
                <a:gridCol w="1438351"/>
                <a:gridCol w="1438351"/>
                <a:gridCol w="1438351"/>
                <a:gridCol w="431505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能力中心（自有）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内部抽调业务专家；三地各配数据与运维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渠道中心（自有）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政府关系每地一人；销售与 BD 按区域覆盖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自有小计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峰值 27 人，随节点投产配置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委托开发（平台 + 应用）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三年 615 人月；三地现场对接在阶段二、三加配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在场总人数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阶段三重心从建设转向运营与销售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5196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425196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429768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委托开发含算法与数据科学、实施联调、安全、边缘工业协议四类角色，三年按 615 人月配置，同时覆盖平台与应用两段。通用软件一次开发三地共用，增量集中在三地现场对接。</a:t>
            </a:r>
          </a:p>
        </p:txBody>
      </p:sp>
      <p:sp>
        <p:nvSpPr>
          <p:cNvPr id="11" name="Shape 8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48640" y="484632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49808" y="489204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边缘与工业协议工程师阶段二按 3 人配置（三地）；市场供给紧张，建议在阶段一即锁定资源。</a:t>
            </a:r>
          </a:p>
        </p:txBody>
      </p:sp>
      <p:sp>
        <p:nvSpPr>
          <p:cNvPr id="14" name="Shape 11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48640" y="544068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49808" y="548640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用工方式与边界在组织与采购阶段另行确定。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人员需求 · 岗位与职责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自有编制，峰值 27 人 · 三节点</a:t>
            </a:r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663854"/>
                <a:gridCol w="663854"/>
                <a:gridCol w="663854"/>
                <a:gridCol w="4204411"/>
                <a:gridCol w="265541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岗位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配置说明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能力中心负责人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定方向、判交付质量、对外协调。需同时理解业务与技术可行性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核心岗位 · 一人管三地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产品与开发管理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把业务需求翻译成可验收的规格，管交付节奏与质量，守住知识资产归属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三地工艺不同，阶段三加 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数据工程师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点位与时序数据、统一语义模型、数据服务与权限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点位按站点建，随节点加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基础设施运维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GPU、存储、网络的日常运维与故障响应。自持设备后阶段一即需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托管为主，三地各需现场处置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业务专家（认证/工艺/招商）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内部抽调。演示业务流程供系统凝固，核对复用结果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内部抽调 · 每地出人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渠道中心负责人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统筹三条线。阶段一由管理层直接分管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统筹三条线 · 一人管三地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政府关系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政策跟踪、专项申报、园区与管委会对接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 每地一人 · 政策各申各的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合作伙伴 / BD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上下游、检测认证机构、高校院所的关系归口与拓展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按区域拓展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渠道销售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材料分销、能力订阅、认证代办的销售与回款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按区域覆盖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峰值 27 人，随节点投产配置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5806440"/>
            <a:ext cx="50292" cy="45720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585216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中心负责人与业务专家两项是启动前提：前者决定方向与验收质量，后者决定系统能凝固出什么。三节点下政府关系是唯一「不加不行」的岗位——三地政策各申各的，属地关系无法远程；两个负责人岗反而不加，一人管三地才能保持方向一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部署与网络拓扑"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A46"/>
          </a:solidFill>
          <a:ln w="12700">
            <a:solidFill>
              <a:srgbClr val="1F5A46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" b="0" dirty="0">
                <a:solidFill>
                  <a:srgbClr val="24332B"/>
                </a:solidFill>
                <a:latin typeface="Aptos"/>
                <a:ea typeface="PingFang SC"/>
              </a:rPr>
              <a:t/>
            </a:r>
            <a:endParaRPr lang="zh-CN" sz="100"/>
          </a:p>
        </p:txBody>
      </p:sp>
      <p:sp>
        <p:nvSpPr>
          <p:cNvPr id="3" name="Text 3"/>
          <p:cNvSpPr txBox="1"/>
          <p:nvPr/>
        </p:nvSpPr>
        <p:spPr>
          <a:xfrm>
            <a:off x="548640" y="347472"/>
            <a:ext cx="7315200" cy="4572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2600" b="1" dirty="0">
                <a:solidFill>
                  <a:srgbClr val="173F32"/>
                </a:solidFill>
                <a:latin typeface="Aptos"/>
                <a:ea typeface="PingFang SC"/>
              </a:rPr>
              <a:t>部署与网络拓扑</a:t>
            </a:r>
            <a:endParaRPr lang="zh-CN" sz="2600"/>
          </a:p>
        </p:txBody>
      </p:sp>
      <p:sp>
        <p:nvSpPr>
          <p:cNvPr id="4" name="Text 4"/>
          <p:cNvSpPr txBox="1"/>
          <p:nvPr/>
        </p:nvSpPr>
        <p:spPr>
          <a:xfrm>
            <a:off x="566928" y="850392"/>
            <a:ext cx="10607040" cy="27432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1150" b="0" dirty="0">
                <a:solidFill>
                  <a:srgbClr val="668074"/>
                </a:solidFill>
                <a:latin typeface="Aptos"/>
                <a:ea typeface="PingFang SC"/>
              </a:rPr>
              <a:t>按安全域分区部署，生产控制网与业务平台隔离；关键节点冗余，模型按四套完整实例配置</a:t>
            </a:r>
            <a:endParaRPr lang="zh-CN" sz="1150"/>
          </a:p>
        </p:txBody>
      </p:sp>
      <p:sp>
        <p:nvSpPr>
          <p:cNvPr id="5" name="Text 5"/>
          <p:cNvSpPr txBox="1"/>
          <p:nvPr/>
        </p:nvSpPr>
        <p:spPr>
          <a:xfrm>
            <a:off x="566928" y="1243584"/>
            <a:ext cx="1143000" cy="256032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1050" b="1" dirty="0">
                <a:solidFill>
                  <a:srgbClr val="668074"/>
                </a:solidFill>
                <a:latin typeface="Aptos"/>
                <a:ea typeface="PingFang SC"/>
              </a:rPr>
              <a:t>访问区</a:t>
            </a:r>
            <a:endParaRPr lang="zh-CN" sz="1050"/>
          </a:p>
        </p:txBody>
      </p:sp>
      <p:sp>
        <p:nvSpPr>
          <p:cNvPr id="6" name="Box 6"/>
          <p:cNvSpPr/>
          <p:nvPr/>
        </p:nvSpPr>
        <p:spPr>
          <a:xfrm>
            <a:off x="566928" y="1572768"/>
            <a:ext cx="1371600" cy="566928"/>
          </a:xfrm>
          <a:prstGeom prst="roundRect">
            <a:avLst/>
          </a:prstGeom>
          <a:solidFill>
            <a:srgbClr val="EEF3ED"/>
          </a:solidFill>
          <a:ln w="12700">
            <a:solidFill>
              <a:srgbClr val="8AA68F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50" b="1" dirty="0">
                <a:solidFill>
                  <a:srgbClr val="24332B"/>
                </a:solidFill>
                <a:latin typeface="Aptos"/>
                <a:ea typeface="PingFang SC"/>
              </a:rPr>
              <a:t>园区用户</a:t>
            </a:r>
            <a:endParaRPr lang="zh-CN" sz="1050"/>
          </a:p>
          <a:p>
            <a:pPr algn="ctr"/>
            <a:r>
              <a:rPr lang="zh-CN" sz="1050" b="1" dirty="0">
                <a:solidFill>
                  <a:srgbClr val="24332B"/>
                </a:solidFill>
                <a:latin typeface="Aptos"/>
                <a:ea typeface="PingFang SC"/>
              </a:rPr>
              <a:t>管理终端</a:t>
            </a:r>
            <a:endParaRPr lang="zh-CN" sz="1050"/>
          </a:p>
        </p:txBody>
      </p:sp>
      <p:cxnSp>
        <p:nvCxnSpPr>
          <p:cNvPr id="7" name="Connector 7"/>
          <p:cNvCxnSpPr/>
          <p:nvPr/>
        </p:nvCxnSpPr>
        <p:spPr>
          <a:xfrm>
            <a:off x="1965960" y="1856232"/>
            <a:ext cx="365760" cy="9144"/>
          </a:xfrm>
          <a:prstGeom prst="line">
            <a:avLst/>
          </a:prstGeom>
          <a:ln w="19050">
            <a:solidFill>
              <a:srgbClr val="7B9284"/>
            </a:solidFill>
            <a:headEnd type="none"/>
            <a:tailEnd type="triangle"/>
          </a:ln>
        </p:spPr>
      </p:cxnSp>
      <p:sp>
        <p:nvSpPr>
          <p:cNvPr id="8" name="Box 8"/>
          <p:cNvSpPr/>
          <p:nvPr/>
        </p:nvSpPr>
        <p:spPr>
          <a:xfrm>
            <a:off x="2331720" y="1572768"/>
            <a:ext cx="1417320" cy="566928"/>
          </a:xfrm>
          <a:prstGeom prst="roundRect">
            <a:avLst/>
          </a:prstGeom>
          <a:solidFill>
            <a:srgbClr val="F7EFE3"/>
          </a:solidFill>
          <a:ln w="12700">
            <a:solidFill>
              <a:srgbClr val="C4AA7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30" b="1" dirty="0">
                <a:solidFill>
                  <a:srgbClr val="24332B"/>
                </a:solidFill>
                <a:latin typeface="Aptos"/>
                <a:ea typeface="PingFang SC"/>
              </a:rPr>
              <a:t>防火墙 / WAF</a:t>
            </a:r>
            <a:endParaRPr lang="zh-CN" sz="1030"/>
          </a:p>
          <a:p>
            <a:pPr algn="ctr"/>
            <a:r>
              <a:rPr lang="zh-CN" sz="1030" b="1" dirty="0">
                <a:solidFill>
                  <a:srgbClr val="24332B"/>
                </a:solidFill>
                <a:latin typeface="Aptos"/>
                <a:ea typeface="PingFang SC"/>
              </a:rPr>
              <a:t>安全接入</a:t>
            </a:r>
            <a:endParaRPr lang="zh-CN" sz="1030"/>
          </a:p>
        </p:txBody>
      </p:sp>
      <p:cxnSp>
        <p:nvCxnSpPr>
          <p:cNvPr id="9" name="Connector 9"/>
          <p:cNvCxnSpPr/>
          <p:nvPr/>
        </p:nvCxnSpPr>
        <p:spPr>
          <a:xfrm>
            <a:off x="3767328" y="1856232"/>
            <a:ext cx="329184" cy="9144"/>
          </a:xfrm>
          <a:prstGeom prst="line">
            <a:avLst/>
          </a:prstGeom>
          <a:ln w="19050">
            <a:solidFill>
              <a:srgbClr val="7B9284"/>
            </a:solidFill>
            <a:headEnd type="none"/>
            <a:tailEnd type="triangle"/>
          </a:ln>
        </p:spPr>
      </p:cxnSp>
      <p:sp>
        <p:nvSpPr>
          <p:cNvPr id="10" name="Box 10"/>
          <p:cNvSpPr/>
          <p:nvPr/>
        </p:nvSpPr>
        <p:spPr>
          <a:xfrm>
            <a:off x="4096512" y="1572768"/>
            <a:ext cx="1307592" cy="566928"/>
          </a:xfrm>
          <a:prstGeom prst="roundRect">
            <a:avLst/>
          </a:prstGeom>
          <a:solidFill>
            <a:srgbClr val="E6EFE9"/>
          </a:solidFill>
          <a:ln w="12700">
            <a:solidFill>
              <a:srgbClr val="8AA68F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50" b="1" dirty="0">
                <a:solidFill>
                  <a:srgbClr val="24332B"/>
                </a:solidFill>
                <a:latin typeface="Aptos"/>
                <a:ea typeface="PingFang SC"/>
              </a:rPr>
              <a:t>负载均衡</a:t>
            </a:r>
            <a:endParaRPr lang="zh-CN" sz="1050"/>
          </a:p>
          <a:p>
            <a:pPr algn="ctr"/>
            <a:r>
              <a:rPr lang="zh-CN" sz="1050" b="1" dirty="0">
                <a:solidFill>
                  <a:srgbClr val="24332B"/>
                </a:solidFill>
                <a:latin typeface="Aptos"/>
                <a:ea typeface="PingFang SC"/>
              </a:rPr>
              <a:t>2 台</a:t>
            </a:r>
            <a:endParaRPr lang="zh-CN" sz="1050"/>
          </a:p>
        </p:txBody>
      </p:sp>
      <p:cxnSp>
        <p:nvCxnSpPr>
          <p:cNvPr id="11" name="Connector 11"/>
          <p:cNvCxnSpPr/>
          <p:nvPr/>
        </p:nvCxnSpPr>
        <p:spPr>
          <a:xfrm>
            <a:off x="5413248" y="1856232"/>
            <a:ext cx="329184" cy="9144"/>
          </a:xfrm>
          <a:prstGeom prst="line">
            <a:avLst/>
          </a:prstGeom>
          <a:ln w="19050">
            <a:solidFill>
              <a:srgbClr val="7B9284"/>
            </a:solidFill>
            <a:headEnd type="none"/>
            <a:tailEnd type="triangle"/>
          </a:ln>
        </p:spPr>
      </p:cxnSp>
      <p:sp>
        <p:nvSpPr>
          <p:cNvPr id="12" name="Box 12"/>
          <p:cNvSpPr/>
          <p:nvPr/>
        </p:nvSpPr>
        <p:spPr>
          <a:xfrm>
            <a:off x="5742432" y="1353312"/>
            <a:ext cx="3063240" cy="2231136"/>
          </a:xfrm>
          <a:prstGeom prst="roundRect">
            <a:avLst/>
          </a:prstGeom>
          <a:solidFill>
            <a:srgbClr val="FBFAF5"/>
          </a:solidFill>
          <a:ln w="12700">
            <a:solidFill>
              <a:srgbClr val="4F7D68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" b="0" dirty="0">
                <a:solidFill>
                  <a:srgbClr val="24332B"/>
                </a:solidFill>
                <a:latin typeface="Aptos"/>
                <a:ea typeface="PingFang SC"/>
              </a:rPr>
              <a:t/>
            </a:r>
            <a:endParaRPr lang="zh-CN" sz="100"/>
          </a:p>
        </p:txBody>
      </p:sp>
      <p:sp>
        <p:nvSpPr>
          <p:cNvPr id="13" name="Text 13"/>
          <p:cNvSpPr txBox="1"/>
          <p:nvPr/>
        </p:nvSpPr>
        <p:spPr>
          <a:xfrm>
            <a:off x="5925312" y="1417320"/>
            <a:ext cx="2286000" cy="256032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1150" b="1" dirty="0">
                <a:solidFill>
                  <a:srgbClr val="1F5A46"/>
                </a:solidFill>
                <a:latin typeface="Aptos"/>
                <a:ea typeface="PingFang SC"/>
              </a:rPr>
              <a:t>业务服务区</a:t>
            </a:r>
            <a:endParaRPr lang="zh-CN" sz="1150"/>
          </a:p>
        </p:txBody>
      </p:sp>
      <p:sp>
        <p:nvSpPr>
          <p:cNvPr id="14" name="Box 14"/>
          <p:cNvSpPr/>
          <p:nvPr/>
        </p:nvSpPr>
        <p:spPr>
          <a:xfrm>
            <a:off x="5943600" y="1810512"/>
            <a:ext cx="2651760" cy="594360"/>
          </a:xfrm>
          <a:prstGeom prst="roundRect">
            <a:avLst/>
          </a:prstGeom>
          <a:solidFill>
            <a:srgbClr val="E6EFE9"/>
          </a:solidFill>
          <a:ln w="12700">
            <a:solidFill>
              <a:srgbClr val="8AA68F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00" b="1" dirty="0">
                <a:solidFill>
                  <a:srgbClr val="24332B"/>
                </a:solidFill>
                <a:latin typeface="Aptos"/>
                <a:ea typeface="PingFang SC"/>
              </a:rPr>
              <a:t>应用 / 智能体编排</a:t>
            </a:r>
            <a:endParaRPr lang="zh-CN" sz="1100"/>
          </a:p>
          <a:p>
            <a:pPr algn="ctr"/>
            <a:r>
              <a:rPr lang="zh-CN" sz="1100" b="1" dirty="0">
                <a:solidFill>
                  <a:srgbClr val="24332B"/>
                </a:solidFill>
                <a:latin typeface="Aptos"/>
                <a:ea typeface="PingFang SC"/>
              </a:rPr>
              <a:t>2 台</a:t>
            </a:r>
            <a:endParaRPr lang="zh-CN" sz="1100"/>
          </a:p>
        </p:txBody>
      </p:sp>
      <p:cxnSp>
        <p:nvCxnSpPr>
          <p:cNvPr id="15" name="Connector 15"/>
          <p:cNvCxnSpPr/>
          <p:nvPr/>
        </p:nvCxnSpPr>
        <p:spPr>
          <a:xfrm>
            <a:off x="7269480" y="2414016"/>
            <a:ext cx="9144" cy="182880"/>
          </a:xfrm>
          <a:prstGeom prst="line">
            <a:avLst/>
          </a:prstGeom>
          <a:ln w="19050">
            <a:solidFill>
              <a:srgbClr val="7B9284"/>
            </a:solidFill>
            <a:headEnd type="none"/>
            <a:tailEnd type="triangle"/>
          </a:ln>
        </p:spPr>
      </p:cxnSp>
      <p:sp>
        <p:nvSpPr>
          <p:cNvPr id="16" name="Box 16"/>
          <p:cNvSpPr/>
          <p:nvPr/>
        </p:nvSpPr>
        <p:spPr>
          <a:xfrm>
            <a:off x="5943600" y="2596896"/>
            <a:ext cx="2651760" cy="594360"/>
          </a:xfrm>
          <a:prstGeom prst="roundRect">
            <a:avLst/>
          </a:prstGeom>
          <a:solidFill>
            <a:srgbClr val="F6F3EA"/>
          </a:solidFill>
          <a:ln w="12700">
            <a:solidFill>
              <a:srgbClr val="B7C7B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100" b="1" dirty="0">
                <a:solidFill>
                  <a:srgbClr val="24332B"/>
                </a:solidFill>
                <a:latin typeface="Aptos"/>
                <a:ea typeface="PingFang SC"/>
              </a:rPr>
              <a:t>中间件服务</a:t>
            </a:r>
            <a:endParaRPr lang="zh-CN" sz="1100"/>
          </a:p>
          <a:p>
            <a:pPr algn="ctr"/>
            <a:r>
              <a:rPr lang="zh-CN" sz="1100" b="1" dirty="0">
                <a:solidFill>
                  <a:srgbClr val="24332B"/>
                </a:solidFill>
                <a:latin typeface="Aptos"/>
                <a:ea typeface="PingFang SC"/>
              </a:rPr>
              <a:t>2 台</a:t>
            </a:r>
            <a:endParaRPr lang="zh-CN" sz="1100"/>
          </a:p>
        </p:txBody>
      </p:sp>
      <p:sp>
        <p:nvSpPr>
          <p:cNvPr id="17" name="Box 17"/>
          <p:cNvSpPr/>
          <p:nvPr/>
        </p:nvSpPr>
        <p:spPr>
          <a:xfrm>
            <a:off x="9089136" y="1353312"/>
            <a:ext cx="2542032" cy="2231136"/>
          </a:xfrm>
          <a:prstGeom prst="roundRect">
            <a:avLst/>
          </a:prstGeom>
          <a:solidFill>
            <a:srgbClr val="FBFAF5"/>
          </a:solidFill>
          <a:ln w="12700">
            <a:solidFill>
              <a:srgbClr val="4F7D68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" b="0" dirty="0">
                <a:solidFill>
                  <a:srgbClr val="24332B"/>
                </a:solidFill>
                <a:latin typeface="Aptos"/>
                <a:ea typeface="PingFang SC"/>
              </a:rPr>
              <a:t/>
            </a:r>
            <a:endParaRPr lang="zh-CN" sz="100"/>
          </a:p>
        </p:txBody>
      </p:sp>
      <p:sp>
        <p:nvSpPr>
          <p:cNvPr id="18" name="Text 18"/>
          <p:cNvSpPr txBox="1"/>
          <p:nvPr/>
        </p:nvSpPr>
        <p:spPr>
          <a:xfrm>
            <a:off x="9272016" y="1417320"/>
            <a:ext cx="2011680" cy="256032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1150" b="1" dirty="0">
                <a:solidFill>
                  <a:srgbClr val="1F5A46"/>
                </a:solidFill>
                <a:latin typeface="Aptos"/>
                <a:ea typeface="PingFang SC"/>
              </a:rPr>
              <a:t>模型计算区</a:t>
            </a:r>
            <a:endParaRPr lang="zh-CN" sz="1150"/>
          </a:p>
        </p:txBody>
      </p:sp>
      <p:sp>
        <p:nvSpPr>
          <p:cNvPr id="19" name="Box 19"/>
          <p:cNvSpPr/>
          <p:nvPr/>
        </p:nvSpPr>
        <p:spPr>
          <a:xfrm>
            <a:off x="9308592" y="1810512"/>
            <a:ext cx="2103120" cy="594360"/>
          </a:xfrm>
          <a:prstGeom prst="roundRect">
            <a:avLst/>
          </a:prstGeom>
          <a:solidFill>
            <a:srgbClr val="E6EFE9"/>
          </a:solidFill>
          <a:ln w="12700">
            <a:solidFill>
              <a:srgbClr val="8AA68F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50" b="1" dirty="0">
                <a:solidFill>
                  <a:srgbClr val="24332B"/>
                </a:solidFill>
                <a:latin typeface="Aptos"/>
                <a:ea typeface="PingFang SC"/>
              </a:rPr>
              <a:t>GPU 组 A · 3 台</a:t>
            </a:r>
            <a:endParaRPr lang="zh-CN" sz="1050"/>
          </a:p>
          <a:p>
            <a:pPr algn="ctr"/>
            <a:r>
              <a:rPr lang="zh-CN" sz="1050" b="1" dirty="0">
                <a:solidFill>
                  <a:srgbClr val="24332B"/>
                </a:solidFill>
                <a:latin typeface="Aptos"/>
                <a:ea typeface="PingFang SC"/>
              </a:rPr>
              <a:t>完整模型实例</a:t>
            </a:r>
            <a:endParaRPr lang="zh-CN" sz="1050"/>
          </a:p>
        </p:txBody>
      </p:sp>
      <p:sp>
        <p:nvSpPr>
          <p:cNvPr id="20" name="Box 20"/>
          <p:cNvSpPr/>
          <p:nvPr/>
        </p:nvSpPr>
        <p:spPr>
          <a:xfrm>
            <a:off x="9308592" y="2596896"/>
            <a:ext cx="2103120" cy="594360"/>
          </a:xfrm>
          <a:prstGeom prst="roundRect">
            <a:avLst/>
          </a:prstGeom>
          <a:solidFill>
            <a:srgbClr val="E6EFE9"/>
          </a:solidFill>
          <a:ln w="12700">
            <a:solidFill>
              <a:srgbClr val="8AA68F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50" b="1" dirty="0">
                <a:solidFill>
                  <a:srgbClr val="24332B"/>
                </a:solidFill>
                <a:latin typeface="Aptos"/>
                <a:ea typeface="PingFang SC"/>
              </a:rPr>
              <a:t>GPU 组 B · 3 台</a:t>
            </a:r>
            <a:endParaRPr lang="zh-CN" sz="1050"/>
          </a:p>
          <a:p>
            <a:pPr algn="ctr"/>
            <a:r>
              <a:rPr lang="zh-CN" sz="1050" b="1" dirty="0">
                <a:solidFill>
                  <a:srgbClr val="24332B"/>
                </a:solidFill>
                <a:latin typeface="Aptos"/>
                <a:ea typeface="PingFang SC"/>
              </a:rPr>
              <a:t>完整模型实例</a:t>
            </a:r>
            <a:endParaRPr lang="zh-CN" sz="1050"/>
          </a:p>
        </p:txBody>
      </p:sp>
      <p:cxnSp>
        <p:nvCxnSpPr>
          <p:cNvPr id="21" name="Connector 21"/>
          <p:cNvCxnSpPr/>
          <p:nvPr/>
        </p:nvCxnSpPr>
        <p:spPr>
          <a:xfrm>
            <a:off x="8613648" y="2121408"/>
            <a:ext cx="676656" cy="9144"/>
          </a:xfrm>
          <a:prstGeom prst="line">
            <a:avLst/>
          </a:prstGeom>
          <a:ln w="19050">
            <a:solidFill>
              <a:srgbClr val="7B9284"/>
            </a:solidFill>
            <a:headEnd type="none"/>
            <a:tailEnd type="triangle"/>
          </a:ln>
        </p:spPr>
      </p:cxnSp>
      <p:cxnSp>
        <p:nvCxnSpPr>
          <p:cNvPr id="22" name="Connector 22"/>
          <p:cNvCxnSpPr/>
          <p:nvPr/>
        </p:nvCxnSpPr>
        <p:spPr>
          <a:xfrm>
            <a:off x="8613648" y="2889504"/>
            <a:ext cx="676656" cy="9144"/>
          </a:xfrm>
          <a:prstGeom prst="line">
            <a:avLst/>
          </a:prstGeom>
          <a:ln w="19050">
            <a:solidFill>
              <a:srgbClr val="7B9284"/>
            </a:solidFill>
            <a:headEnd type="none"/>
            <a:tailEnd type="triangle"/>
          </a:ln>
        </p:spPr>
      </p:cxnSp>
      <p:sp>
        <p:nvSpPr>
          <p:cNvPr id="23" name="Text 23"/>
          <p:cNvSpPr txBox="1"/>
          <p:nvPr/>
        </p:nvSpPr>
        <p:spPr>
          <a:xfrm>
            <a:off x="9308592" y="3282696"/>
            <a:ext cx="2103120" cy="18288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zh-CN" sz="900" b="0" dirty="0">
                <a:solidFill>
                  <a:srgbClr val="668074"/>
                </a:solidFill>
                <a:latin typeface="Aptos"/>
                <a:ea typeface="PingFang SC"/>
              </a:rPr>
              <a:t>主备切换 / 故障接管</a:t>
            </a:r>
            <a:endParaRPr lang="zh-CN" sz="900"/>
          </a:p>
        </p:txBody>
      </p:sp>
      <p:sp>
        <p:nvSpPr>
          <p:cNvPr id="24" name="Box 24"/>
          <p:cNvSpPr/>
          <p:nvPr/>
        </p:nvSpPr>
        <p:spPr>
          <a:xfrm>
            <a:off x="5742432" y="3803904"/>
            <a:ext cx="5888736" cy="960120"/>
          </a:xfrm>
          <a:prstGeom prst="roundRect">
            <a:avLst/>
          </a:prstGeom>
          <a:solidFill>
            <a:srgbClr val="FBFAF5"/>
          </a:solidFill>
          <a:ln w="12700">
            <a:solidFill>
              <a:srgbClr val="557C69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" b="0" dirty="0">
                <a:solidFill>
                  <a:srgbClr val="24332B"/>
                </a:solidFill>
                <a:latin typeface="Aptos"/>
                <a:ea typeface="PingFang SC"/>
              </a:rPr>
              <a:t/>
            </a:r>
            <a:endParaRPr lang="zh-CN" sz="100"/>
          </a:p>
        </p:txBody>
      </p:sp>
      <p:sp>
        <p:nvSpPr>
          <p:cNvPr id="25" name="Text 25"/>
          <p:cNvSpPr txBox="1"/>
          <p:nvPr/>
        </p:nvSpPr>
        <p:spPr>
          <a:xfrm>
            <a:off x="5925312" y="3877056"/>
            <a:ext cx="2103120" cy="2286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1150" b="1" dirty="0">
                <a:solidFill>
                  <a:srgbClr val="1F5A46"/>
                </a:solidFill>
                <a:latin typeface="Aptos"/>
                <a:ea typeface="PingFang SC"/>
              </a:rPr>
              <a:t>数据服务区</a:t>
            </a:r>
            <a:endParaRPr lang="zh-CN" sz="1150"/>
          </a:p>
        </p:txBody>
      </p:sp>
      <p:sp>
        <p:nvSpPr>
          <p:cNvPr id="26" name="Box 26"/>
          <p:cNvSpPr/>
          <p:nvPr/>
        </p:nvSpPr>
        <p:spPr>
          <a:xfrm>
            <a:off x="5943600" y="4160520"/>
            <a:ext cx="2514600" cy="438912"/>
          </a:xfrm>
          <a:prstGeom prst="roundRect">
            <a:avLst/>
          </a:prstGeom>
          <a:solidFill>
            <a:srgbClr val="EEF3ED"/>
          </a:solidFill>
          <a:ln w="12700">
            <a:solidFill>
              <a:srgbClr val="8AA68F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0" b="1" dirty="0">
                <a:solidFill>
                  <a:srgbClr val="24332B"/>
                </a:solidFill>
                <a:latin typeface="Aptos"/>
                <a:ea typeface="PingFang SC"/>
              </a:rPr>
              <a:t>数据库与数据服务 · 3 台</a:t>
            </a:r>
            <a:endParaRPr lang="zh-CN" sz="1000"/>
          </a:p>
        </p:txBody>
      </p:sp>
      <p:sp>
        <p:nvSpPr>
          <p:cNvPr id="27" name="Box 27"/>
          <p:cNvSpPr/>
          <p:nvPr/>
        </p:nvSpPr>
        <p:spPr>
          <a:xfrm>
            <a:off x="8732520" y="4160520"/>
            <a:ext cx="2679192" cy="438912"/>
          </a:xfrm>
          <a:prstGeom prst="roundRect">
            <a:avLst/>
          </a:prstGeom>
          <a:solidFill>
            <a:srgbClr val="F6F3EA"/>
          </a:solidFill>
          <a:ln w="12700">
            <a:solidFill>
              <a:srgbClr val="B7C7B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0" b="1" dirty="0">
                <a:solidFill>
                  <a:srgbClr val="24332B"/>
                </a:solidFill>
                <a:latin typeface="Aptos"/>
                <a:ea typeface="PingFang SC"/>
              </a:rPr>
              <a:t>集中存储 + 独立备份</a:t>
            </a:r>
            <a:endParaRPr lang="zh-CN" sz="1000"/>
          </a:p>
        </p:txBody>
      </p:sp>
      <p:cxnSp>
        <p:nvCxnSpPr>
          <p:cNvPr id="28" name="Connector 28"/>
          <p:cNvCxnSpPr/>
          <p:nvPr/>
        </p:nvCxnSpPr>
        <p:spPr>
          <a:xfrm>
            <a:off x="7269480" y="3200400"/>
            <a:ext cx="9144" cy="594360"/>
          </a:xfrm>
          <a:prstGeom prst="line">
            <a:avLst/>
          </a:prstGeom>
          <a:ln w="19050">
            <a:solidFill>
              <a:srgbClr val="7B9284"/>
            </a:solidFill>
            <a:headEnd type="none"/>
            <a:tailEnd type="triangle"/>
          </a:ln>
        </p:spPr>
      </p:cxnSp>
      <p:sp>
        <p:nvSpPr>
          <p:cNvPr id="29" name="Box 29"/>
          <p:cNvSpPr/>
          <p:nvPr/>
        </p:nvSpPr>
        <p:spPr>
          <a:xfrm>
            <a:off x="566928" y="2542032"/>
            <a:ext cx="4846320" cy="2221992"/>
          </a:xfrm>
          <a:prstGeom prst="roundRect">
            <a:avLst/>
          </a:prstGeom>
          <a:solidFill>
            <a:srgbClr val="FCF7EE"/>
          </a:solidFill>
          <a:ln w="12700">
            <a:solidFill>
              <a:srgbClr val="B98A5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" b="0" dirty="0">
                <a:solidFill>
                  <a:srgbClr val="24332B"/>
                </a:solidFill>
                <a:latin typeface="Aptos"/>
                <a:ea typeface="PingFang SC"/>
              </a:rPr>
              <a:t/>
            </a:r>
            <a:endParaRPr lang="zh-CN" sz="100"/>
          </a:p>
        </p:txBody>
      </p:sp>
      <p:sp>
        <p:nvSpPr>
          <p:cNvPr id="30" name="Text 30"/>
          <p:cNvSpPr txBox="1"/>
          <p:nvPr/>
        </p:nvSpPr>
        <p:spPr>
          <a:xfrm>
            <a:off x="749808" y="2624328"/>
            <a:ext cx="2834640" cy="2286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1120" b="1" dirty="0">
                <a:solidFill>
                  <a:srgbClr val="785F3C"/>
                </a:solidFill>
                <a:latin typeface="Aptos"/>
                <a:ea typeface="PingFang SC"/>
              </a:rPr>
              <a:t>工业控制区（与业务网隔离）</a:t>
            </a:r>
            <a:endParaRPr lang="zh-CN" sz="1120"/>
          </a:p>
        </p:txBody>
      </p:sp>
      <p:sp>
        <p:nvSpPr>
          <p:cNvPr id="31" name="Box 31"/>
          <p:cNvSpPr/>
          <p:nvPr/>
        </p:nvSpPr>
        <p:spPr>
          <a:xfrm>
            <a:off x="749808" y="2999232"/>
            <a:ext cx="1298448" cy="566928"/>
          </a:xfrm>
          <a:prstGeom prst="roundRect">
            <a:avLst/>
          </a:prstGeom>
          <a:solidFill>
            <a:srgbClr val="F2E3D0"/>
          </a:solidFill>
          <a:ln w="12700">
            <a:solidFill>
              <a:srgbClr val="B98A5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0" b="1" dirty="0">
                <a:solidFill>
                  <a:srgbClr val="24332B"/>
                </a:solidFill>
                <a:latin typeface="Aptos"/>
                <a:ea typeface="PingFang SC"/>
              </a:rPr>
              <a:t>工业防火墙</a:t>
            </a:r>
            <a:endParaRPr lang="zh-CN" sz="1000"/>
          </a:p>
          <a:p>
            <a:pPr algn="ctr"/>
            <a:r>
              <a:rPr lang="zh-CN" sz="1000" b="1" dirty="0">
                <a:solidFill>
                  <a:srgbClr val="24332B"/>
                </a:solidFill>
                <a:latin typeface="Aptos"/>
                <a:ea typeface="PingFang SC"/>
              </a:rPr>
              <a:t>网络隔离</a:t>
            </a:r>
            <a:endParaRPr lang="zh-CN" sz="1000"/>
          </a:p>
        </p:txBody>
      </p:sp>
      <p:cxnSp>
        <p:nvCxnSpPr>
          <p:cNvPr id="32" name="Connector 32"/>
          <p:cNvCxnSpPr/>
          <p:nvPr/>
        </p:nvCxnSpPr>
        <p:spPr>
          <a:xfrm>
            <a:off x="2066544" y="3282696"/>
            <a:ext cx="283464" cy="9144"/>
          </a:xfrm>
          <a:prstGeom prst="line">
            <a:avLst/>
          </a:prstGeom>
          <a:ln w="19050">
            <a:solidFill>
              <a:srgbClr val="7B9284"/>
            </a:solidFill>
            <a:headEnd type="none"/>
            <a:tailEnd type="triangle"/>
          </a:ln>
        </p:spPr>
      </p:cxnSp>
      <p:sp>
        <p:nvSpPr>
          <p:cNvPr id="33" name="Box 33"/>
          <p:cNvSpPr/>
          <p:nvPr/>
        </p:nvSpPr>
        <p:spPr>
          <a:xfrm>
            <a:off x="2350008" y="2999232"/>
            <a:ext cx="1207008" cy="566928"/>
          </a:xfrm>
          <a:prstGeom prst="roundRect">
            <a:avLst/>
          </a:prstGeom>
          <a:solidFill>
            <a:srgbClr val="F7EFE3"/>
          </a:solidFill>
          <a:ln w="12700">
            <a:solidFill>
              <a:srgbClr val="B98A5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0" b="1" dirty="0">
                <a:solidFill>
                  <a:srgbClr val="24332B"/>
                </a:solidFill>
                <a:latin typeface="Aptos"/>
                <a:ea typeface="PingFang SC"/>
              </a:rPr>
              <a:t>边缘网关</a:t>
            </a:r>
            <a:endParaRPr lang="zh-CN" sz="1000"/>
          </a:p>
          <a:p>
            <a:pPr algn="ctr"/>
            <a:r>
              <a:rPr lang="zh-CN" sz="1000" b="1" dirty="0">
                <a:solidFill>
                  <a:srgbClr val="24332B"/>
                </a:solidFill>
                <a:latin typeface="Aptos"/>
                <a:ea typeface="PingFang SC"/>
              </a:rPr>
              <a:t>协议适配</a:t>
            </a:r>
            <a:endParaRPr lang="zh-CN" sz="1000"/>
          </a:p>
        </p:txBody>
      </p:sp>
      <p:cxnSp>
        <p:nvCxnSpPr>
          <p:cNvPr id="34" name="Connector 34"/>
          <p:cNvCxnSpPr/>
          <p:nvPr/>
        </p:nvCxnSpPr>
        <p:spPr>
          <a:xfrm>
            <a:off x="3575304" y="3282696"/>
            <a:ext cx="246888" cy="9144"/>
          </a:xfrm>
          <a:prstGeom prst="line">
            <a:avLst/>
          </a:prstGeom>
          <a:ln w="19050">
            <a:solidFill>
              <a:srgbClr val="7B9284"/>
            </a:solidFill>
            <a:headEnd type="none"/>
            <a:tailEnd type="triangle"/>
          </a:ln>
        </p:spPr>
      </p:cxnSp>
      <p:sp>
        <p:nvSpPr>
          <p:cNvPr id="35" name="Box 35"/>
          <p:cNvSpPr/>
          <p:nvPr/>
        </p:nvSpPr>
        <p:spPr>
          <a:xfrm>
            <a:off x="3822192" y="2999232"/>
            <a:ext cx="1371600" cy="566928"/>
          </a:xfrm>
          <a:prstGeom prst="roundRect">
            <a:avLst/>
          </a:prstGeom>
          <a:solidFill>
            <a:srgbClr val="F7EFE3"/>
          </a:solidFill>
          <a:ln w="12700">
            <a:solidFill>
              <a:srgbClr val="B98A52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0" b="1" dirty="0">
                <a:solidFill>
                  <a:srgbClr val="24332B"/>
                </a:solidFill>
                <a:latin typeface="Aptos"/>
                <a:ea typeface="PingFang SC"/>
              </a:rPr>
              <a:t>PLC / 设备</a:t>
            </a:r>
            <a:endParaRPr lang="zh-CN" sz="1000"/>
          </a:p>
          <a:p>
            <a:pPr algn="ctr"/>
            <a:r>
              <a:rPr lang="zh-CN" sz="1000" b="1" dirty="0">
                <a:solidFill>
                  <a:srgbClr val="24332B"/>
                </a:solidFill>
                <a:latin typeface="Aptos"/>
                <a:ea typeface="PingFang SC"/>
              </a:rPr>
              <a:t>检测仪器</a:t>
            </a:r>
            <a:endParaRPr lang="zh-CN" sz="1000"/>
          </a:p>
        </p:txBody>
      </p:sp>
      <p:sp>
        <p:nvSpPr>
          <p:cNvPr id="36" name="Box 36"/>
          <p:cNvSpPr/>
          <p:nvPr/>
        </p:nvSpPr>
        <p:spPr>
          <a:xfrm>
            <a:off x="749808" y="3877056"/>
            <a:ext cx="4443984" cy="493776"/>
          </a:xfrm>
          <a:prstGeom prst="roundRect">
            <a:avLst/>
          </a:prstGeom>
          <a:solidFill>
            <a:srgbClr val="FFFBF4"/>
          </a:solidFill>
          <a:ln w="12700">
            <a:solidFill>
              <a:srgbClr val="D5B98C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970" b="0" dirty="0">
                <a:solidFill>
                  <a:srgbClr val="24332B"/>
                </a:solidFill>
                <a:latin typeface="Aptos"/>
                <a:ea typeface="PingFang SC"/>
              </a:rPr>
              <a:t>现场数据采集、参数下发与批次追溯均经隔离边界</a:t>
            </a:r>
            <a:endParaRPr lang="zh-CN" sz="970"/>
          </a:p>
        </p:txBody>
      </p:sp>
      <p:cxnSp>
        <p:nvCxnSpPr>
          <p:cNvPr id="37" name="Connector 37"/>
          <p:cNvCxnSpPr/>
          <p:nvPr/>
        </p:nvCxnSpPr>
        <p:spPr>
          <a:xfrm>
            <a:off x="5413248" y="3282696"/>
            <a:ext cx="301752" cy="9144"/>
          </a:xfrm>
          <a:prstGeom prst="line">
            <a:avLst/>
          </a:prstGeom>
          <a:ln w="19050">
            <a:solidFill>
              <a:srgbClr val="B98A52"/>
            </a:solidFill>
            <a:prstDash val="dash"/>
            <a:headEnd type="none"/>
            <a:tailEnd type="triangle"/>
          </a:ln>
        </p:spPr>
      </p:cxnSp>
      <p:sp>
        <p:nvSpPr>
          <p:cNvPr id="38" name="Text 38"/>
          <p:cNvSpPr txBox="1"/>
          <p:nvPr/>
        </p:nvSpPr>
        <p:spPr>
          <a:xfrm>
            <a:off x="566928" y="5065776"/>
            <a:ext cx="1417320" cy="256032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1050" b="1" dirty="0">
                <a:solidFill>
                  <a:srgbClr val="668074"/>
                </a:solidFill>
                <a:latin typeface="Aptos"/>
                <a:ea typeface="PingFang SC"/>
              </a:rPr>
              <a:t>外部业务系统</a:t>
            </a:r>
            <a:endParaRPr lang="zh-CN" sz="1050"/>
          </a:p>
        </p:txBody>
      </p:sp>
      <p:sp>
        <p:nvSpPr>
          <p:cNvPr id="39" name="Box 39"/>
          <p:cNvSpPr/>
          <p:nvPr/>
        </p:nvSpPr>
        <p:spPr>
          <a:xfrm>
            <a:off x="1965960" y="4965192"/>
            <a:ext cx="1060704" cy="438912"/>
          </a:xfrm>
          <a:prstGeom prst="roundRect">
            <a:avLst/>
          </a:prstGeom>
          <a:solidFill>
            <a:srgbClr val="F2F0EA"/>
          </a:solidFill>
          <a:ln w="12700">
            <a:solidFill>
              <a:srgbClr val="A8A39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50" b="1" dirty="0">
                <a:solidFill>
                  <a:srgbClr val="24332B"/>
                </a:solidFill>
                <a:latin typeface="Aptos"/>
                <a:ea typeface="PingFang SC"/>
              </a:rPr>
              <a:t>MES</a:t>
            </a:r>
            <a:endParaRPr lang="zh-CN" sz="1050"/>
          </a:p>
        </p:txBody>
      </p:sp>
      <p:sp>
        <p:nvSpPr>
          <p:cNvPr id="40" name="Box 40"/>
          <p:cNvSpPr/>
          <p:nvPr/>
        </p:nvSpPr>
        <p:spPr>
          <a:xfrm>
            <a:off x="3291840" y="4965192"/>
            <a:ext cx="1060704" cy="438912"/>
          </a:xfrm>
          <a:prstGeom prst="roundRect">
            <a:avLst/>
          </a:prstGeom>
          <a:solidFill>
            <a:srgbClr val="F2F0EA"/>
          </a:solidFill>
          <a:ln w="12700">
            <a:solidFill>
              <a:srgbClr val="A8A39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50" b="1" dirty="0">
                <a:solidFill>
                  <a:srgbClr val="24332B"/>
                </a:solidFill>
                <a:latin typeface="Aptos"/>
                <a:ea typeface="PingFang SC"/>
              </a:rPr>
              <a:t>QMS</a:t>
            </a:r>
            <a:endParaRPr lang="zh-CN" sz="1050"/>
          </a:p>
        </p:txBody>
      </p:sp>
      <p:sp>
        <p:nvSpPr>
          <p:cNvPr id="41" name="Box 41"/>
          <p:cNvSpPr/>
          <p:nvPr/>
        </p:nvSpPr>
        <p:spPr>
          <a:xfrm>
            <a:off x="4617720" y="4965192"/>
            <a:ext cx="1060704" cy="438912"/>
          </a:xfrm>
          <a:prstGeom prst="roundRect">
            <a:avLst/>
          </a:prstGeom>
          <a:solidFill>
            <a:srgbClr val="F2F0EA"/>
          </a:solidFill>
          <a:ln w="12700">
            <a:solidFill>
              <a:srgbClr val="A8A39A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50" b="1" dirty="0">
                <a:solidFill>
                  <a:srgbClr val="24332B"/>
                </a:solidFill>
                <a:latin typeface="Aptos"/>
                <a:ea typeface="PingFang SC"/>
              </a:rPr>
              <a:t>ERP / PLM</a:t>
            </a:r>
            <a:endParaRPr lang="zh-CN" sz="1050"/>
          </a:p>
        </p:txBody>
      </p:sp>
      <p:cxnSp>
        <p:nvCxnSpPr>
          <p:cNvPr id="42" name="Connector 42"/>
          <p:cNvCxnSpPr/>
          <p:nvPr/>
        </p:nvCxnSpPr>
        <p:spPr>
          <a:xfrm>
            <a:off x="5541264" y="5184648"/>
            <a:ext cx="1225296" cy="9144"/>
          </a:xfrm>
          <a:prstGeom prst="line">
            <a:avLst/>
          </a:prstGeom>
          <a:ln w="19050">
            <a:solidFill>
              <a:srgbClr val="7B9284"/>
            </a:solidFill>
            <a:prstDash val="dash"/>
            <a:headEnd type="none"/>
            <a:tailEnd type="triangle"/>
          </a:ln>
        </p:spPr>
      </p:cxnSp>
      <p:sp>
        <p:nvSpPr>
          <p:cNvPr id="43" name="Box 43"/>
          <p:cNvSpPr/>
          <p:nvPr/>
        </p:nvSpPr>
        <p:spPr>
          <a:xfrm>
            <a:off x="6784848" y="4965192"/>
            <a:ext cx="2240280" cy="438912"/>
          </a:xfrm>
          <a:prstGeom prst="roundRect">
            <a:avLst/>
          </a:prstGeom>
          <a:solidFill>
            <a:srgbClr val="EEF3ED"/>
          </a:solidFill>
          <a:ln w="12700">
            <a:solidFill>
              <a:srgbClr val="8AA68F"/>
            </a:solidFill>
          </a:ln>
        </p:spPr>
        <p:txBody>
          <a:bodyPr wrap="square" anchor="ctr" lIns="73152" rIns="73152" tIns="36576" bIns="36576"/>
          <a:lstStyle/>
          <a:p>
            <a:pPr algn="ctr"/>
            <a:r>
              <a:rPr lang="zh-CN" sz="1000" b="1" dirty="0">
                <a:solidFill>
                  <a:srgbClr val="24332B"/>
                </a:solidFill>
                <a:latin typeface="Aptos"/>
                <a:ea typeface="PingFang SC"/>
              </a:rPr>
              <a:t>标准 API / 接口交换区</a:t>
            </a:r>
            <a:endParaRPr lang="zh-CN" sz="1000"/>
          </a:p>
        </p:txBody>
      </p:sp>
      <p:cxnSp>
        <p:nvCxnSpPr>
          <p:cNvPr id="44" name="Connector 44"/>
          <p:cNvCxnSpPr/>
          <p:nvPr/>
        </p:nvCxnSpPr>
        <p:spPr>
          <a:xfrm flipH="1">
            <a:off x="5504688" y="4965192"/>
            <a:ext cx="1280160" cy="9144"/>
          </a:xfrm>
          <a:prstGeom prst="line">
            <a:avLst/>
          </a:prstGeom>
          <a:ln w="19050">
            <a:solidFill>
              <a:srgbClr val="7B9284"/>
            </a:solidFill>
            <a:prstDash val="dash"/>
            <a:headEnd type="none"/>
            <a:tailEnd type="none"/>
          </a:ln>
        </p:spPr>
      </p:cxnSp>
      <p:cxnSp>
        <p:nvCxnSpPr>
          <p:cNvPr id="47" name="Connector 47"/>
          <p:cNvCxnSpPr/>
          <p:nvPr/>
        </p:nvCxnSpPr>
        <p:spPr>
          <a:xfrm flipV="1">
            <a:off x="5504688" y="3429000"/>
            <a:ext cx="9144" cy="1536192"/>
          </a:xfrm>
          <a:prstGeom prst="line">
            <a:avLst/>
          </a:prstGeom>
          <a:ln w="19050">
            <a:solidFill>
              <a:srgbClr val="7B9284"/>
            </a:solidFill>
            <a:prstDash val="dash"/>
            <a:headEnd type="none"/>
            <a:tailEnd type="none"/>
          </a:ln>
        </p:spPr>
      </p:cxnSp>
      <p:cxnSp>
        <p:nvCxnSpPr>
          <p:cNvPr id="48" name="Connector 48"/>
          <p:cNvCxnSpPr/>
          <p:nvPr/>
        </p:nvCxnSpPr>
        <p:spPr>
          <a:xfrm>
            <a:off x="5504688" y="3429000"/>
            <a:ext cx="237744" cy="9144"/>
          </a:xfrm>
          <a:prstGeom prst="line">
            <a:avLst/>
          </a:prstGeom>
          <a:ln w="19050">
            <a:solidFill>
              <a:srgbClr val="7B9284"/>
            </a:solidFill>
            <a:prstDash val="dash"/>
            <a:headEnd type="none"/>
            <a:tailEnd type="triangle"/>
          </a:ln>
        </p:spPr>
      </p:cxnSp>
      <p:sp>
        <p:nvSpPr>
          <p:cNvPr id="45" name="Text 45"/>
          <p:cNvSpPr txBox="1"/>
          <p:nvPr/>
        </p:nvSpPr>
        <p:spPr>
          <a:xfrm>
            <a:off x="566928" y="5705856"/>
            <a:ext cx="10607040" cy="292608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1020" b="0" dirty="0">
                <a:solidFill>
                  <a:srgbClr val="785F3C"/>
                </a:solidFill>
                <a:latin typeface="Aptos"/>
                <a:ea typeface="PingFang SC"/>
              </a:rPr>
              <a:t>建设原则：关键入口、应用和中间件采用双节点；数据库独立部署；GPU 两组互为接管；生产控制链路不直接暴露至业务网。</a:t>
            </a:r>
            <a:endParaRPr lang="zh-CN" sz="1020"/>
          </a:p>
        </p:txBody>
      </p:sp>
      <p:sp>
        <p:nvSpPr>
          <p:cNvPr id="46" name="Text 46"/>
          <p:cNvSpPr txBox="1"/>
          <p:nvPr/>
        </p:nvSpPr>
        <p:spPr>
          <a:xfrm>
            <a:off x="502920" y="6547104"/>
            <a:ext cx="1828800" cy="164592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zh-CN" sz="900" b="0" dirty="0">
                <a:solidFill>
                  <a:srgbClr val="668074"/>
                </a:solidFill>
                <a:latin typeface="Aptos"/>
                <a:ea typeface="PingFang SC"/>
              </a:rPr>
              <a:t>稻生万物</a:t>
            </a:r>
            <a:endParaRPr lang="zh-CN" sz="900"/>
          </a:p>
        </p:txBody>
      </p:sp>
      <p:sp>
        <p:nvSpPr>
          <p:cNvPr id="47" name="Text 47"/>
          <p:cNvSpPr txBox="1"/>
          <p:nvPr/>
        </p:nvSpPr>
        <p:spPr>
          <a:xfrm>
            <a:off x="10652760" y="6547104"/>
            <a:ext cx="868680" cy="164592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endParaRPr lang="zh-CN" sz="900"/>
            <a:r>
              <a:rPr lang="zh-CN" sz="900" b="0" dirty="0">
                <a:solidFill>
                  <a:srgbClr val="668074"/>
                </a:solidFill>
                <a:latin typeface="Aptos"/>
                <a:ea typeface="PingFang SC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66344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三节点布局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上海 · 深圳 · 山东 三地对等 · 每地 12 台 GPU 服务器 · 本地冗余、远程备用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9282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稻生万物 · 能力中心与渠道中心建设规划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601968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18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4864" cy="2103120"/>
          </a:xfrm>
          <a:prstGeom prst="rect">
            <a:avLst/>
          </a:prstGeom>
          <a:solidFill>
            <a:srgbClr val="5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51790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上海 · 首节点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82880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阶段一 0–6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39696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GPU 12 台 · 四组各 3 台互备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基础服务与入口 12 台 · 存储 200 TB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IDC 托管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承担全部平台底座与通用应用开发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3258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97679" y="1325880"/>
            <a:ext cx="54864" cy="2103120"/>
          </a:xfrm>
          <a:prstGeom prst="rect">
            <a:avLst/>
          </a:prstGeom>
          <a:solidFill>
            <a:srgbClr val="8B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17136" y="151790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深圳 · 第二节点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82880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阶段二 6–18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39696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同构 12 台 · 配置与上海完全一致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基础服务与入口 12 台 · 存储 200 TB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IDC 托管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承担本地现场对接与工艺落地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3258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46719" y="1325880"/>
            <a:ext cx="54864" cy="2103120"/>
          </a:xfrm>
          <a:prstGeom prst="rect">
            <a:avLst/>
          </a:prstGeom>
          <a:solidFill>
            <a:srgbClr val="A87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66175" y="151790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山东 · 第三节点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182880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阶段三 18–36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139696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同构 12 台 · 配置与上海完全一致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基础服务与入口 12 台 · 存储 200 TB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IDC 托管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承担本地现场对接与工艺落地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03320"/>
            <a:ext cx="5394960" cy="1417320"/>
          </a:xfrm>
          <a:prstGeom prst="rect">
            <a:avLst/>
          </a:prstGeom>
          <a:solidFill>
            <a:srgbClr val="F0EDE4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3703320"/>
            <a:ext cx="54864" cy="1417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8096" y="3877056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本地冗余 —— 每地内部，日常可用性的来源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187952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12 台分四组，每组 3 台承载一个完整实例。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组内单机故障由组内消化，整组故障由其余组接管。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四组各挂一台交换机，互不依赖 —— 这是日常高可用，不跨城。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03320"/>
            <a:ext cx="5394960" cy="1417320"/>
          </a:xfrm>
          <a:prstGeom prst="rect">
            <a:avLst/>
          </a:prstGeom>
          <a:solidFill>
            <a:srgbClr val="F0EDE4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54864" cy="14173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37376" y="3877056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远程备用 —— 三地之间，灾备的来源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187952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任一地整体不可用时，由另外两地承接其业务。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不做跨城拆实例：模型实例不跨城分片，城际时延撑不住 GPU 互联。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远程备用不参与日常调度，只在整地失效时启用。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13248"/>
            <a:ext cx="11064240" cy="777240"/>
          </a:xfrm>
          <a:prstGeom prst="rect">
            <a:avLst/>
          </a:prstGeom>
          <a:solidFill>
            <a:srgbClr val="E8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5413248"/>
            <a:ext cx="54864" cy="777240"/>
          </a:xfrm>
          <a:prstGeom prst="rect">
            <a:avLst/>
          </a:prstGeom>
          <a:solidFill>
            <a:srgbClr val="8B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9808" y="550468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IDC 托管是现阶段路线，三地均不自建机房；待各地大楼建成后再评估迁入，迁移成本不含在本次投资内。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三地配置完全一致 —— 同构才能互相接管，也让备件、运维手册和故障预案只维护一套。投资控制价 25,946 万, 明细见独立预算附件。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  <a:r>
              <a:rPr lang="en-US" sz="12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三地各十二台 GPU · 每地 12 台基础服务与入口节点 · 本地冗余、远程备用 · IDC 托管</a:t>
            </a:r>
          </a:p>
        </p:txBody>
      </p:sp>
      <p:sp>
        <p:nvSpPr>
          <p:cNvPr id="5" name="Text 3"/>
          <p:cNvSpPr/>
          <p:nvPr/>
        </p:nvSpPr>
        <p:spPr>
          <a:xfrm>
            <a:off x="1033272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19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稻生万物 · 能力中心与渠道中心建设规划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5418"/>
                <a:gridCol w="3983126"/>
                <a:gridCol w="1770278"/>
                <a:gridCol w="265541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配置阶段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服务器 × 12 / 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卡 GPU 服务器，单机满配显存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三台一组承载一个完整实例；四组互备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每地随节点到位 · 共 36 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2.4T 总参数 / 95B 激活参数、FP8 精度的大模型测算；四实例配置。单组故障时由其余组承接，容量按比例下降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互联 fabric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400G 级：交换机 × 4 + 网卡 96 张 + 链路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四台交换机各带一个实例，避免交换机成为单点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每地一套 · 详见独立预算附件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模型横跨多台，GPU 互联为必需项。四实例独立，无需 spine 和交换机互联。整机按 12 个 PCIe Gen5 槽的参考设计选型，实际使用 8 张 GPU 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基础服务与入口节点 × 12 / 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入口负载均衡 3 台 + 编排与应用 4 台 + 数据库与数据服务 3 台 + 中间件 2 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每地一套 · 共 36 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HAProxy / Nginx / Envoy + VIP；数据库、向量库、时序库 3 节点；中间件 2 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每地 200 TB 可用，分层配置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每地一套 · 共 600 TB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预留模型权重 15TB（多版本并存与灰度升级）、向量索引 5TB；时序数据阶段二起按年增 20TB 规划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机房网络 · 安全设备 · 备件 · 测试环境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交换机（业务 / 存储 / 管理）、光模块、布线、备用模块；工业防火墙、OT / IT 隔离、入侵检测、堡垒机、数据库审计、日志审计、终端安全、态势感知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每地一套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网络与安全设备在配置清单中分列，不与 GPU 互联 fabric 混列。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边缘网关 · 在线检测仪表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网关按 OT 网段配置；仪表以原料水分与粒径为必配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产线承接时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不纳入本方案配置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属产线设备范围，随产线定标与承接项目扩展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部署原则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每年一个节点，三地同构，不分批采购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见独立附件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现阶段三地均为 IDC 托管；待大楼建成后迁入自建机房，土建与配电改造另计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422392"/>
            <a:ext cx="11064240" cy="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5422392"/>
            <a:ext cx="50292" cy="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5468112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6016752"/>
            <a:ext cx="11064240" cy="0"/>
          </a:xfrm>
          <a:prstGeom prst="rect">
            <a:avLst/>
          </a:prstGeom>
          <a:solidFill>
            <a:srgbClr val="F5F1E8"/>
          </a:solidFill>
          <a:ln w="9525">
            <a:solidFill>
              <a:srgbClr val="E8DFC8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48640" y="6016752"/>
            <a:ext cx="50292" cy="0"/>
          </a:xfrm>
          <a:prstGeom prst="rect">
            <a:avLst/>
          </a:prstGeom>
          <a:solidFill>
            <a:srgbClr val="A87F5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49808" y="6062472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稻生万物 · 能力中心与渠道中心建设规划</dc:title>
  <dc:subject>PptxGenJS Presentation</dc:subject>
  <dc:creator>稻生万物</dc:creator>
  <cp:lastModifiedBy>稻生万物</cp:lastModifiedBy>
  <cp:revision>1</cp:revision>
  <dcterms:created xsi:type="dcterms:W3CDTF">2026-08-06T23:14:33Z</dcterms:created>
  <dcterms:modified xsi:type="dcterms:W3CDTF">2026-08-06T23:14:33Z</dcterms:modified>
</cp:coreProperties>
</file>