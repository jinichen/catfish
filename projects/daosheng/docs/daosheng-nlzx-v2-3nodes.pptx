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4" r:id="rId26"/>
    <p:sldId id="273" r:id="rId25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" name="Shape 1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Calibri"/>
      </a:defRPr>
    </a:lvl1pPr>
    <a:lvl2pPr indent="228600" latinLnBrk="0">
      <a:defRPr sz="1200">
        <a:latin typeface="+mn-lt"/>
        <a:ea typeface="+mn-ea"/>
        <a:cs typeface="+mn-cs"/>
        <a:sym typeface="Calibri"/>
      </a:defRPr>
    </a:lvl2pPr>
    <a:lvl3pPr indent="457200" latinLnBrk="0">
      <a:defRPr sz="1200">
        <a:latin typeface="+mn-lt"/>
        <a:ea typeface="+mn-ea"/>
        <a:cs typeface="+mn-cs"/>
        <a:sym typeface="Calibri"/>
      </a:defRPr>
    </a:lvl3pPr>
    <a:lvl4pPr indent="685800" latinLnBrk="0">
      <a:defRPr sz="1200">
        <a:latin typeface="+mn-lt"/>
        <a:ea typeface="+mn-ea"/>
        <a:cs typeface="+mn-cs"/>
        <a:sym typeface="Calibri"/>
      </a:defRPr>
    </a:lvl4pPr>
    <a:lvl5pPr indent="914400" latinLnBrk="0">
      <a:defRPr sz="1200">
        <a:latin typeface="+mn-lt"/>
        <a:ea typeface="+mn-ea"/>
        <a:cs typeface="+mn-cs"/>
        <a:sym typeface="Calibri"/>
      </a:defRPr>
    </a:lvl5pPr>
    <a:lvl6pPr indent="1143000" latinLnBrk="0">
      <a:defRPr sz="1200">
        <a:latin typeface="+mn-lt"/>
        <a:ea typeface="+mn-ea"/>
        <a:cs typeface="+mn-cs"/>
        <a:sym typeface="Calibri"/>
      </a:defRPr>
    </a:lvl6pPr>
    <a:lvl7pPr indent="1371600" latinLnBrk="0">
      <a:defRPr sz="1200">
        <a:latin typeface="+mn-lt"/>
        <a:ea typeface="+mn-ea"/>
        <a:cs typeface="+mn-cs"/>
        <a:sym typeface="Calibri"/>
      </a:defRPr>
    </a:lvl7pPr>
    <a:lvl8pPr indent="1600200" latinLnBrk="0">
      <a:defRPr sz="1200">
        <a:latin typeface="+mn-lt"/>
        <a:ea typeface="+mn-ea"/>
        <a:cs typeface="+mn-cs"/>
        <a:sym typeface="Calibri"/>
      </a:defRPr>
    </a:lvl8pPr>
    <a:lvl9pPr indent="18288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文本"/>
          <p:cNvSpPr txBox="1"/>
          <p:nvPr>
            <p:ph type="title"/>
          </p:nvPr>
        </p:nvSpPr>
        <p:spPr>
          <a:xfrm>
            <a:off x="609600" y="92074"/>
            <a:ext cx="10972800" cy="15081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/>
          <a:lstStyle/>
          <a:p>
            <a:pPr/>
            <a:r>
              <a:t>标题文本</a:t>
            </a:r>
          </a:p>
        </p:txBody>
      </p:sp>
      <p:sp>
        <p:nvSpPr>
          <p:cNvPr id="3" name="正文级别 1…"/>
          <p:cNvSpPr txBox="1"/>
          <p:nvPr>
            <p:ph type="body" idx="1"/>
          </p:nvPr>
        </p:nvSpPr>
        <p:spPr>
          <a:xfrm>
            <a:off x="609600" y="1600200"/>
            <a:ext cx="1097280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/>
          <a:lstStyle/>
          <a:p>
            <a:pPr/>
            <a:r>
              <a:t>正文级别 1</a:t>
            </a:r>
          </a:p>
          <a:p>
            <a:pPr lvl="1"/>
            <a:r>
              <a:t>正文级别 2</a:t>
            </a:r>
          </a:p>
          <a:p>
            <a:pPr lvl="2"/>
            <a:r>
              <a:t>正文级别 3</a:t>
            </a:r>
          </a:p>
          <a:p>
            <a:pPr lvl="3"/>
            <a:r>
              <a:t>正文级别 4</a:t>
            </a:r>
          </a:p>
          <a:p>
            <a:pPr lvl="4"/>
            <a:r>
              <a:t>正文级别 5</a:t>
            </a:r>
          </a:p>
        </p:txBody>
      </p:sp>
      <p:sp>
        <p:nvSpPr>
          <p:cNvPr id="4" name="幻灯片编号"/>
          <p:cNvSpPr txBox="1"/>
          <p:nvPr>
            <p:ph type="sldNum" sz="quarter" idx="2"/>
          </p:nvPr>
        </p:nvSpPr>
        <p:spPr>
          <a:xfrm>
            <a:off x="5892800" y="6172200"/>
            <a:ext cx="2844800" cy="36830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/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  <p:transition xmlns:p14="http://schemas.microsoft.com/office/powerpoint/2010/main" spd="med" advClick="1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9pPr>
    </p:titleStyle>
    <p:bodyStyle>
      <a:lvl1pPr marL="342900" marR="0" indent="-3429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783771" marR="0" indent="-326571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219200" marR="0" indent="-3048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17373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21945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26517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31089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35661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40233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F4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0"/>
          <p:cNvSpPr/>
          <p:nvPr/>
        </p:nvSpPr>
        <p:spPr>
          <a:xfrm>
            <a:off x="-1" y="2761488"/>
            <a:ext cx="12188954" cy="41149"/>
          </a:xfrm>
          <a:prstGeom prst="rect">
            <a:avLst/>
          </a:prstGeom>
          <a:solidFill>
            <a:srgbClr val="D4A574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1" name="Text 1"/>
          <p:cNvSpPr txBox="1"/>
          <p:nvPr/>
        </p:nvSpPr>
        <p:spPr>
          <a:xfrm>
            <a:off x="1005839" y="1816100"/>
            <a:ext cx="10058401" cy="711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40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稻生万物</a:t>
            </a:r>
          </a:p>
        </p:txBody>
      </p:sp>
      <p:sp>
        <p:nvSpPr>
          <p:cNvPr id="22" name="Text 2"/>
          <p:cNvSpPr txBox="1"/>
          <p:nvPr/>
        </p:nvSpPr>
        <p:spPr>
          <a:xfrm>
            <a:off x="1005839" y="3025139"/>
            <a:ext cx="10058401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3000">
                <a:solidFill>
                  <a:srgbClr val="97BC62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能力中心与渠道中心建设规划</a:t>
            </a:r>
          </a:p>
        </p:txBody>
      </p:sp>
      <p:sp>
        <p:nvSpPr>
          <p:cNvPr id="23" name="Text 3"/>
          <p:cNvSpPr txBox="1"/>
          <p:nvPr/>
        </p:nvSpPr>
        <p:spPr>
          <a:xfrm>
            <a:off x="1005839" y="3827779"/>
            <a:ext cx="10058401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400">
                <a:solidFill>
                  <a:srgbClr val="C9D6C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上海临港 · 深圳 · 山东 三节点 · 每年一个节点，三年建成</a:t>
            </a:r>
          </a:p>
        </p:txBody>
      </p:sp>
      <p:sp>
        <p:nvSpPr>
          <p:cNvPr id="24" name="Text 4"/>
          <p:cNvSpPr txBox="1"/>
          <p:nvPr/>
        </p:nvSpPr>
        <p:spPr>
          <a:xfrm>
            <a:off x="1005839" y="4251960"/>
            <a:ext cx="1005840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>
                <a:solidFill>
                  <a:srgbClr val="9FB398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2026 年 8 月</a:t>
            </a:r>
          </a:p>
        </p:txBody>
      </p:sp>
      <p:sp>
        <p:nvSpPr>
          <p:cNvPr id="25" name="Text 5"/>
          <p:cNvSpPr txBox="1"/>
          <p:nvPr/>
        </p:nvSpPr>
        <p:spPr>
          <a:xfrm>
            <a:off x="1005839" y="5900420"/>
            <a:ext cx="10058401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8AA085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为什么要做 · 建什么 · 分几步 · 要多少人 · 投多少钱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Shape 0"/>
          <p:cNvSpPr/>
          <p:nvPr/>
        </p:nvSpPr>
        <p:spPr>
          <a:xfrm>
            <a:off x="-1" y="-1"/>
            <a:ext cx="12188954" cy="82298"/>
          </a:xfrm>
          <a:prstGeom prst="rect">
            <a:avLst/>
          </a:prstGeom>
          <a:solidFill>
            <a:srgbClr val="2C5F2D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8" name="Text 1"/>
          <p:cNvSpPr txBox="1"/>
          <p:nvPr/>
        </p:nvSpPr>
        <p:spPr>
          <a:xfrm>
            <a:off x="548639" y="467106"/>
            <a:ext cx="11064242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400">
                <a:solidFill>
                  <a:srgbClr val="1F422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为什么要做</a:t>
            </a:r>
          </a:p>
        </p:txBody>
      </p:sp>
      <p:sp>
        <p:nvSpPr>
          <p:cNvPr id="29" name="Text 2"/>
          <p:cNvSpPr txBox="1"/>
          <p:nvPr/>
        </p:nvSpPr>
        <p:spPr>
          <a:xfrm>
            <a:off x="548639" y="952753"/>
            <a:ext cx="11064242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三件现在没人接的事</a:t>
            </a:r>
          </a:p>
        </p:txBody>
      </p:sp>
      <p:sp>
        <p:nvSpPr>
          <p:cNvPr id="30" name="Text 3"/>
          <p:cNvSpPr txBox="1"/>
          <p:nvPr/>
        </p:nvSpPr>
        <p:spPr>
          <a:xfrm>
            <a:off x="10332719" y="6605269"/>
            <a:ext cx="128016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2 / 19</a:t>
            </a:r>
          </a:p>
        </p:txBody>
      </p:sp>
      <p:sp>
        <p:nvSpPr>
          <p:cNvPr id="31" name="Text 4"/>
          <p:cNvSpPr txBox="1"/>
          <p:nvPr/>
        </p:nvSpPr>
        <p:spPr>
          <a:xfrm>
            <a:off x="548640" y="6592569"/>
            <a:ext cx="7315201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稻生万物 · 能力中心与渠道中心建设规划</a:t>
            </a:r>
          </a:p>
        </p:txBody>
      </p:sp>
      <p:sp>
        <p:nvSpPr>
          <p:cNvPr id="32" name="Shape 5"/>
          <p:cNvSpPr/>
          <p:nvPr/>
        </p:nvSpPr>
        <p:spPr>
          <a:xfrm>
            <a:off x="548640" y="1325880"/>
            <a:ext cx="3505201" cy="2743201"/>
          </a:xfrm>
          <a:prstGeom prst="rect">
            <a:avLst/>
          </a:prstGeom>
          <a:solidFill>
            <a:srgbClr val="FFFFFF"/>
          </a:solidFill>
          <a:ln>
            <a:solidFill>
              <a:srgbClr val="E3E3DE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3" name="Shape 6"/>
          <p:cNvSpPr/>
          <p:nvPr/>
        </p:nvSpPr>
        <p:spPr>
          <a:xfrm>
            <a:off x="548640" y="1325880"/>
            <a:ext cx="50293" cy="2743201"/>
          </a:xfrm>
          <a:prstGeom prst="rect">
            <a:avLst/>
          </a:prstGeom>
          <a:solidFill>
            <a:srgbClr val="5B6C8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4" name="Text 7"/>
          <p:cNvSpPr txBox="1"/>
          <p:nvPr/>
        </p:nvSpPr>
        <p:spPr>
          <a:xfrm>
            <a:off x="749808" y="1504187"/>
            <a:ext cx="3139440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300">
                <a:solidFill>
                  <a:srgbClr val="5B6C8F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一 · 经验散在人身上</a:t>
            </a:r>
          </a:p>
        </p:txBody>
      </p:sp>
      <p:sp>
        <p:nvSpPr>
          <p:cNvPr id="35" name="Text 8"/>
          <p:cNvSpPr txBox="1"/>
          <p:nvPr/>
        </p:nvSpPr>
        <p:spPr>
          <a:xfrm>
            <a:off x="749808" y="1837943"/>
            <a:ext cx="3139440" cy="1018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342900" indent="-342900">
              <a:lnSpc>
                <a:spcPts val="1600"/>
              </a:lnSpc>
              <a:buSzPct val="100000"/>
              <a:buChar char="•"/>
              <a:defRPr sz="10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配方经验、调参手感、认证踩过的坑、客户对接的分寸，都在少数几个人的脑子里</a:t>
            </a:r>
          </a:p>
          <a:p>
            <a:pPr marL="342900" indent="-342900">
              <a:lnSpc>
                <a:spcPts val="1600"/>
              </a:lnSpc>
              <a:buSzPct val="100000"/>
              <a:buChar char="•"/>
              <a:defRPr sz="10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人一走，经验就走</a:t>
            </a:r>
          </a:p>
          <a:p>
            <a:pPr marL="342900" indent="-342900">
              <a:lnSpc>
                <a:spcPts val="1600"/>
              </a:lnSpc>
              <a:buSzPct val="100000"/>
              <a:buChar char="•"/>
              <a:defRPr sz="10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传统信息化要求先把经验填成表单，而填表这件事从来没人愿意做</a:t>
            </a:r>
          </a:p>
        </p:txBody>
      </p:sp>
      <p:sp>
        <p:nvSpPr>
          <p:cNvPr id="36" name="Shape 9"/>
          <p:cNvSpPr/>
          <p:nvPr/>
        </p:nvSpPr>
        <p:spPr>
          <a:xfrm>
            <a:off x="4328159" y="1325880"/>
            <a:ext cx="3505201" cy="2743201"/>
          </a:xfrm>
          <a:prstGeom prst="rect">
            <a:avLst/>
          </a:prstGeom>
          <a:solidFill>
            <a:srgbClr val="FFFFFF"/>
          </a:solidFill>
          <a:ln>
            <a:solidFill>
              <a:srgbClr val="E3E3DE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7" name="Shape 10"/>
          <p:cNvSpPr/>
          <p:nvPr/>
        </p:nvSpPr>
        <p:spPr>
          <a:xfrm>
            <a:off x="4328159" y="1325880"/>
            <a:ext cx="50293" cy="2743201"/>
          </a:xfrm>
          <a:prstGeom prst="rect">
            <a:avLst/>
          </a:prstGeom>
          <a:solidFill>
            <a:srgbClr val="5B6C8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8" name="Text 11"/>
          <p:cNvSpPr txBox="1"/>
          <p:nvPr/>
        </p:nvSpPr>
        <p:spPr>
          <a:xfrm>
            <a:off x="4529328" y="1504187"/>
            <a:ext cx="313944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300">
                <a:solidFill>
                  <a:srgbClr val="5B6C8F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二 · 园区赋能缺载体</a:t>
            </a:r>
          </a:p>
        </p:txBody>
      </p:sp>
      <p:sp>
        <p:nvSpPr>
          <p:cNvPr id="39" name="Text 12"/>
          <p:cNvSpPr txBox="1"/>
          <p:nvPr/>
        </p:nvSpPr>
        <p:spPr>
          <a:xfrm>
            <a:off x="4529328" y="1837943"/>
            <a:ext cx="3139441" cy="1018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342900" indent="-342900">
              <a:lnSpc>
                <a:spcPts val="1600"/>
              </a:lnSpc>
              <a:buSzPct val="100000"/>
              <a:buChar char="•"/>
              <a:defRPr sz="10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园区模式的前提是自身经验能规模化输出给下游</a:t>
            </a:r>
          </a:p>
          <a:p>
            <a:pPr marL="342900" indent="-342900">
              <a:lnSpc>
                <a:spcPts val="1600"/>
              </a:lnSpc>
              <a:buSzPct val="100000"/>
              <a:buChar char="•"/>
              <a:defRPr sz="10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给下游开系统账号行不通——各家产品、工艺、客户都不一样</a:t>
            </a:r>
          </a:p>
          <a:p>
            <a:pPr marL="342900" indent="-342900">
              <a:lnSpc>
                <a:spcPts val="1600"/>
              </a:lnSpc>
              <a:buSzPct val="100000"/>
              <a:buChar char="•"/>
              <a:defRPr sz="10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需要的是能被调用的能力，而不是一套要下游去适应的表单</a:t>
            </a:r>
          </a:p>
        </p:txBody>
      </p:sp>
      <p:sp>
        <p:nvSpPr>
          <p:cNvPr id="40" name="Shape 13"/>
          <p:cNvSpPr/>
          <p:nvPr/>
        </p:nvSpPr>
        <p:spPr>
          <a:xfrm>
            <a:off x="8107680" y="1325880"/>
            <a:ext cx="3505201" cy="2743201"/>
          </a:xfrm>
          <a:prstGeom prst="rect">
            <a:avLst/>
          </a:prstGeom>
          <a:solidFill>
            <a:srgbClr val="FFFFFF"/>
          </a:solidFill>
          <a:ln>
            <a:solidFill>
              <a:srgbClr val="E3E3DE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1" name="Shape 14"/>
          <p:cNvSpPr/>
          <p:nvPr/>
        </p:nvSpPr>
        <p:spPr>
          <a:xfrm>
            <a:off x="8107680" y="1325880"/>
            <a:ext cx="50293" cy="2743201"/>
          </a:xfrm>
          <a:prstGeom prst="rect">
            <a:avLst/>
          </a:prstGeom>
          <a:solidFill>
            <a:srgbClr val="8B6F47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2" name="Text 15"/>
          <p:cNvSpPr txBox="1"/>
          <p:nvPr/>
        </p:nvSpPr>
        <p:spPr>
          <a:xfrm>
            <a:off x="8308847" y="1504187"/>
            <a:ext cx="313944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300">
                <a:solidFill>
                  <a:srgbClr val="8B6F47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三 · 政策与合作无人统筹</a:t>
            </a:r>
          </a:p>
        </p:txBody>
      </p:sp>
      <p:sp>
        <p:nvSpPr>
          <p:cNvPr id="43" name="Text 16"/>
          <p:cNvSpPr txBox="1"/>
          <p:nvPr/>
        </p:nvSpPr>
        <p:spPr>
          <a:xfrm>
            <a:off x="8308847" y="1837943"/>
            <a:ext cx="3139441" cy="1018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342900" indent="-342900">
              <a:lnSpc>
                <a:spcPts val="1600"/>
              </a:lnSpc>
              <a:buSzPct val="100000"/>
              <a:buChar char="•"/>
              <a:defRPr sz="10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产业政策、专项申报、园区对接目前分散在各条业务线</a:t>
            </a:r>
          </a:p>
          <a:p>
            <a:pPr marL="342900" indent="-342900">
              <a:lnSpc>
                <a:spcPts val="1600"/>
              </a:lnSpc>
              <a:buSzPct val="100000"/>
              <a:buChar char="•"/>
              <a:defRPr sz="10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上下游合作、检测认证机构、高校院所的关系缺少归口</a:t>
            </a:r>
          </a:p>
          <a:p>
            <a:pPr marL="342900" indent="-342900">
              <a:lnSpc>
                <a:spcPts val="1600"/>
              </a:lnSpc>
              <a:buSzPct val="100000"/>
              <a:buChar char="•"/>
              <a:defRPr sz="10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渠道销售随材料产能爬坡，需要提前建线</a:t>
            </a:r>
          </a:p>
        </p:txBody>
      </p:sp>
      <p:sp>
        <p:nvSpPr>
          <p:cNvPr id="44" name="Shape 17"/>
          <p:cNvSpPr/>
          <p:nvPr/>
        </p:nvSpPr>
        <p:spPr>
          <a:xfrm>
            <a:off x="548639" y="4297679"/>
            <a:ext cx="11064242" cy="457201"/>
          </a:xfrm>
          <a:prstGeom prst="rect">
            <a:avLst/>
          </a:prstGeom>
          <a:solidFill>
            <a:srgbClr val="F5F1E8"/>
          </a:solidFill>
          <a:ln>
            <a:solidFill>
              <a:srgbClr val="E8DFC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5" name="Shape 18"/>
          <p:cNvSpPr/>
          <p:nvPr/>
        </p:nvSpPr>
        <p:spPr>
          <a:xfrm>
            <a:off x="548640" y="4297679"/>
            <a:ext cx="50293" cy="457201"/>
          </a:xfrm>
          <a:prstGeom prst="rect">
            <a:avLst/>
          </a:prstGeom>
          <a:solidFill>
            <a:srgbClr val="A87F5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6" name="Text 19"/>
          <p:cNvSpPr txBox="1"/>
          <p:nvPr/>
        </p:nvSpPr>
        <p:spPr>
          <a:xfrm>
            <a:off x="749808" y="4437379"/>
            <a:ext cx="10652760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前两件由能力中心承接，第三件由渠道中心承接。客户既有材料中的「一中心两平台」，在本规划中落为能力中心与渠道中心两个内设部门，不另起一套。</a:t>
            </a:r>
          </a:p>
        </p:txBody>
      </p:sp>
      <p:sp>
        <p:nvSpPr>
          <p:cNvPr id="47" name="Shape 20"/>
          <p:cNvSpPr/>
          <p:nvPr/>
        </p:nvSpPr>
        <p:spPr>
          <a:xfrm>
            <a:off x="548639" y="4892040"/>
            <a:ext cx="11064242" cy="457201"/>
          </a:xfrm>
          <a:prstGeom prst="rect">
            <a:avLst/>
          </a:prstGeom>
          <a:solidFill>
            <a:srgbClr val="F5F1E8"/>
          </a:solidFill>
          <a:ln>
            <a:solidFill>
              <a:srgbClr val="E8DFC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8" name="Shape 21"/>
          <p:cNvSpPr/>
          <p:nvPr/>
        </p:nvSpPr>
        <p:spPr>
          <a:xfrm>
            <a:off x="548640" y="4892040"/>
            <a:ext cx="50293" cy="457201"/>
          </a:xfrm>
          <a:prstGeom prst="rect">
            <a:avLst/>
          </a:prstGeom>
          <a:solidFill>
            <a:srgbClr val="A87F5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9" name="Text 22"/>
          <p:cNvSpPr txBox="1"/>
          <p:nvPr/>
        </p:nvSpPr>
        <p:spPr>
          <a:xfrm>
            <a:off x="749808" y="5031739"/>
            <a:ext cx="10652760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本规划覆盖数字化与 AI 部分及渠道组织建设。产线设备选型、工艺路线、现场施工不在范围内。</a:t>
            </a:r>
          </a:p>
        </p:txBody>
      </p:sp>
      <p:sp>
        <p:nvSpPr>
          <p:cNvPr id="50" name="Shape 23"/>
          <p:cNvSpPr/>
          <p:nvPr/>
        </p:nvSpPr>
        <p:spPr>
          <a:xfrm>
            <a:off x="548639" y="5486400"/>
            <a:ext cx="11064242" cy="457200"/>
          </a:xfrm>
          <a:prstGeom prst="rect">
            <a:avLst/>
          </a:prstGeom>
          <a:solidFill>
            <a:srgbClr val="F5F1E8"/>
          </a:solidFill>
          <a:ln>
            <a:solidFill>
              <a:srgbClr val="E8DFC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1" name="Shape 24"/>
          <p:cNvSpPr/>
          <p:nvPr/>
        </p:nvSpPr>
        <p:spPr>
          <a:xfrm>
            <a:off x="548640" y="5486400"/>
            <a:ext cx="50293" cy="457200"/>
          </a:xfrm>
          <a:prstGeom prst="rect">
            <a:avLst/>
          </a:prstGeom>
          <a:solidFill>
            <a:srgbClr val="A87F5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2" name="Text 25"/>
          <p:cNvSpPr txBox="1"/>
          <p:nvPr/>
        </p:nvSpPr>
        <p:spPr>
          <a:xfrm>
            <a:off x="749808" y="5626100"/>
            <a:ext cx="10652760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本规划聚焦数字化与 AI 能力建设及渠道组织建设，具体实施方案在后续阶段深化。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Shape 0"/>
          <p:cNvSpPr/>
          <p:nvPr/>
        </p:nvSpPr>
        <p:spPr>
          <a:xfrm>
            <a:off x="-1" y="-1"/>
            <a:ext cx="12188954" cy="82298"/>
          </a:xfrm>
          <a:prstGeom prst="rect">
            <a:avLst/>
          </a:prstGeom>
          <a:solidFill>
            <a:srgbClr val="2C5F2D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5" name="Text 1"/>
          <p:cNvSpPr txBox="1"/>
          <p:nvPr/>
        </p:nvSpPr>
        <p:spPr>
          <a:xfrm>
            <a:off x="548639" y="467106"/>
            <a:ext cx="11064242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400">
                <a:solidFill>
                  <a:srgbClr val="1F422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建成后是什么样</a:t>
            </a:r>
          </a:p>
        </p:txBody>
      </p:sp>
      <p:sp>
        <p:nvSpPr>
          <p:cNvPr id="56" name="Text 2"/>
          <p:cNvSpPr txBox="1"/>
          <p:nvPr/>
        </p:nvSpPr>
        <p:spPr>
          <a:xfrm>
            <a:off x="548639" y="952753"/>
            <a:ext cx="11064242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两个中心 · 三节点 · 三年一张表</a:t>
            </a:r>
          </a:p>
        </p:txBody>
      </p:sp>
      <p:sp>
        <p:nvSpPr>
          <p:cNvPr id="57" name="Text 3"/>
          <p:cNvSpPr txBox="1"/>
          <p:nvPr/>
        </p:nvSpPr>
        <p:spPr>
          <a:xfrm>
            <a:off x="10332719" y="6605269"/>
            <a:ext cx="128016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3 / 19</a:t>
            </a:r>
          </a:p>
        </p:txBody>
      </p:sp>
      <p:sp>
        <p:nvSpPr>
          <p:cNvPr id="58" name="Text 4"/>
          <p:cNvSpPr txBox="1"/>
          <p:nvPr/>
        </p:nvSpPr>
        <p:spPr>
          <a:xfrm>
            <a:off x="548640" y="6592569"/>
            <a:ext cx="7315201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稻生万物 · 能力中心与渠道中心建设规划</a:t>
            </a:r>
          </a:p>
        </p:txBody>
      </p:sp>
      <p:sp>
        <p:nvSpPr>
          <p:cNvPr id="59" name="Shape 5"/>
          <p:cNvSpPr/>
          <p:nvPr/>
        </p:nvSpPr>
        <p:spPr>
          <a:xfrm>
            <a:off x="548639" y="1325880"/>
            <a:ext cx="5394962" cy="1920240"/>
          </a:xfrm>
          <a:prstGeom prst="rect">
            <a:avLst/>
          </a:prstGeom>
          <a:solidFill>
            <a:srgbClr val="FFFFFF"/>
          </a:solidFill>
          <a:ln>
            <a:solidFill>
              <a:srgbClr val="E3E3DE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0" name="Shape 6"/>
          <p:cNvSpPr/>
          <p:nvPr/>
        </p:nvSpPr>
        <p:spPr>
          <a:xfrm>
            <a:off x="548640" y="1325880"/>
            <a:ext cx="50293" cy="1920240"/>
          </a:xfrm>
          <a:prstGeom prst="rect">
            <a:avLst/>
          </a:prstGeom>
          <a:solidFill>
            <a:srgbClr val="5B6C8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1" name="Text 7"/>
          <p:cNvSpPr txBox="1"/>
          <p:nvPr/>
        </p:nvSpPr>
        <p:spPr>
          <a:xfrm>
            <a:off x="749808" y="1504187"/>
            <a:ext cx="502920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300">
                <a:solidFill>
                  <a:srgbClr val="5B6C8F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能力中心</a:t>
            </a:r>
          </a:p>
        </p:txBody>
      </p:sp>
      <p:sp>
        <p:nvSpPr>
          <p:cNvPr id="62" name="Text 8"/>
          <p:cNvSpPr txBox="1"/>
          <p:nvPr/>
        </p:nvSpPr>
        <p:spPr>
          <a:xfrm>
            <a:off x="749808" y="1864868"/>
            <a:ext cx="5029201" cy="330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9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把知识变成能力</a:t>
            </a:r>
          </a:p>
        </p:txBody>
      </p:sp>
      <p:sp>
        <p:nvSpPr>
          <p:cNvPr id="63" name="Text 9"/>
          <p:cNvSpPr txBox="1"/>
          <p:nvPr/>
        </p:nvSpPr>
        <p:spPr>
          <a:xfrm>
            <a:off x="749808" y="2295143"/>
            <a:ext cx="5029201" cy="6121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342900" indent="-342900">
              <a:lnSpc>
                <a:spcPts val="1600"/>
              </a:lnSpc>
              <a:buSzPct val="100000"/>
              <a:buChar char="•"/>
              <a:defRPr sz="10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运营 AI Native 技术底座（引入并集成）</a:t>
            </a:r>
          </a:p>
          <a:p>
            <a:pPr marL="342900" indent="-342900">
              <a:lnSpc>
                <a:spcPts val="1600"/>
              </a:lnSpc>
              <a:buSzPct val="100000"/>
              <a:buChar char="•"/>
              <a:defRPr sz="10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把业务流程凝固为可调用能力</a:t>
            </a:r>
          </a:p>
          <a:p>
            <a:pPr marL="342900" indent="-342900">
              <a:lnSpc>
                <a:spcPts val="1600"/>
              </a:lnSpc>
              <a:buSzPct val="100000"/>
              <a:buChar char="•"/>
              <a:defRPr sz="10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沉淀知识资产：工艺 / 认证 / 产业链 / 企业库</a:t>
            </a:r>
          </a:p>
        </p:txBody>
      </p:sp>
      <p:sp>
        <p:nvSpPr>
          <p:cNvPr id="64" name="Shape 10"/>
          <p:cNvSpPr/>
          <p:nvPr/>
        </p:nvSpPr>
        <p:spPr>
          <a:xfrm>
            <a:off x="6217919" y="1325880"/>
            <a:ext cx="5394962" cy="1920240"/>
          </a:xfrm>
          <a:prstGeom prst="rect">
            <a:avLst/>
          </a:prstGeom>
          <a:solidFill>
            <a:srgbClr val="FFFFFF"/>
          </a:solidFill>
          <a:ln>
            <a:solidFill>
              <a:srgbClr val="E3E3DE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5" name="Shape 11"/>
          <p:cNvSpPr/>
          <p:nvPr/>
        </p:nvSpPr>
        <p:spPr>
          <a:xfrm>
            <a:off x="6217920" y="1325880"/>
            <a:ext cx="50293" cy="1920240"/>
          </a:xfrm>
          <a:prstGeom prst="rect">
            <a:avLst/>
          </a:prstGeom>
          <a:solidFill>
            <a:srgbClr val="8B6F47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6" name="Text 12"/>
          <p:cNvSpPr txBox="1"/>
          <p:nvPr/>
        </p:nvSpPr>
        <p:spPr>
          <a:xfrm>
            <a:off x="6419088" y="1504187"/>
            <a:ext cx="502920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300">
                <a:solidFill>
                  <a:srgbClr val="8B6F47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渠道中心</a:t>
            </a:r>
          </a:p>
        </p:txBody>
      </p:sp>
      <p:sp>
        <p:nvSpPr>
          <p:cNvPr id="67" name="Text 13"/>
          <p:cNvSpPr txBox="1"/>
          <p:nvPr/>
        </p:nvSpPr>
        <p:spPr>
          <a:xfrm>
            <a:off x="6419088" y="1864868"/>
            <a:ext cx="5029201" cy="330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9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把能力变成收入</a:t>
            </a:r>
          </a:p>
        </p:txBody>
      </p:sp>
      <p:sp>
        <p:nvSpPr>
          <p:cNvPr id="68" name="Text 14"/>
          <p:cNvSpPr txBox="1"/>
          <p:nvPr/>
        </p:nvSpPr>
        <p:spPr>
          <a:xfrm>
            <a:off x="6419088" y="2295143"/>
            <a:ext cx="5029201" cy="6121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342900" indent="-342900">
              <a:lnSpc>
                <a:spcPts val="1600"/>
              </a:lnSpc>
              <a:buSzPct val="100000"/>
              <a:buChar char="•"/>
              <a:defRPr sz="10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政府关系：政策跟踪、专项申报、园区对接</a:t>
            </a:r>
          </a:p>
          <a:p>
            <a:pPr marL="342900" indent="-342900">
              <a:lnSpc>
                <a:spcPts val="1600"/>
              </a:lnSpc>
              <a:buSzPct val="100000"/>
              <a:buChar char="•"/>
              <a:defRPr sz="10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合作伙伴：上游 / 平行 / 下游 / 生态</a:t>
            </a:r>
          </a:p>
          <a:p>
            <a:pPr marL="342900" indent="-342900">
              <a:lnSpc>
                <a:spcPts val="1600"/>
              </a:lnSpc>
              <a:buSzPct val="100000"/>
              <a:buChar char="•"/>
              <a:defRPr sz="10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渠道销售：材料分销、能力订阅、认证代办</a:t>
            </a:r>
          </a:p>
        </p:txBody>
      </p:sp>
      <p:graphicFrame>
        <p:nvGraphicFramePr>
          <p:cNvPr id="69" name="Table 0"/>
          <p:cNvGraphicFramePr/>
          <p:nvPr/>
        </p:nvGraphicFramePr>
        <p:xfrm>
          <a:off x="548640" y="3383279"/>
          <a:ext cx="11064239" cy="2304289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1991562"/>
                <a:gridCol w="2323490"/>
                <a:gridCol w="2323490"/>
                <a:gridCol w="2323490"/>
                <a:gridCol w="2102206"/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阶段一 0–6 月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阶段二 6–18 月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阶段三 18–36 月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三年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能力中心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认证 + 招商智能体（无生产线硬件依赖）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研发 + 生产智能体，接入产线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园区智能体对下游开放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—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渠道中心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政府关系建线、合作伙伴梳理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渠道销售建线、招商智能体投用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能力订阅与服务销售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—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自有编制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5 人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17 人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27 人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峰值 27 人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阶段重点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认证与招商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研发与生产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园区与订阅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—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建设状态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上海节点 · 启动条件满足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深圳节点 · 试点扩展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山东节点 · 运营移交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三地对等 · 分阶段交付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0" name="Shape 15"/>
          <p:cNvSpPr/>
          <p:nvPr/>
        </p:nvSpPr>
        <p:spPr>
          <a:xfrm>
            <a:off x="548639" y="5806440"/>
            <a:ext cx="11064242" cy="457201"/>
          </a:xfrm>
          <a:prstGeom prst="rect">
            <a:avLst/>
          </a:prstGeom>
          <a:solidFill>
            <a:srgbClr val="F5F1E8"/>
          </a:solidFill>
          <a:ln>
            <a:solidFill>
              <a:srgbClr val="E8DFC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1" name="Shape 16"/>
          <p:cNvSpPr/>
          <p:nvPr/>
        </p:nvSpPr>
        <p:spPr>
          <a:xfrm>
            <a:off x="548640" y="5806440"/>
            <a:ext cx="50293" cy="457201"/>
          </a:xfrm>
          <a:prstGeom prst="rect">
            <a:avLst/>
          </a:prstGeom>
          <a:solidFill>
            <a:srgbClr val="A87F5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2" name="Text 17"/>
          <p:cNvSpPr txBox="1"/>
          <p:nvPr/>
        </p:nvSpPr>
        <p:spPr>
          <a:xfrm>
            <a:off x="749808" y="5946139"/>
            <a:ext cx="10652760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推进原则：按阶段交付物评审后进入下一阶段，具体资金安排另见独立附件。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Shape 0"/>
          <p:cNvSpPr/>
          <p:nvPr/>
        </p:nvSpPr>
        <p:spPr>
          <a:xfrm>
            <a:off x="-1" y="-1"/>
            <a:ext cx="12188954" cy="82298"/>
          </a:xfrm>
          <a:prstGeom prst="rect">
            <a:avLst/>
          </a:prstGeom>
          <a:solidFill>
            <a:srgbClr val="2C5F2D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5" name="Text 1"/>
          <p:cNvSpPr txBox="1"/>
          <p:nvPr/>
        </p:nvSpPr>
        <p:spPr>
          <a:xfrm>
            <a:off x="548639" y="467106"/>
            <a:ext cx="11064242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400">
                <a:solidFill>
                  <a:srgbClr val="1F422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能力中心 · 做什么</a:t>
            </a:r>
          </a:p>
        </p:txBody>
      </p:sp>
      <p:sp>
        <p:nvSpPr>
          <p:cNvPr id="76" name="Text 2"/>
          <p:cNvSpPr txBox="1"/>
          <p:nvPr/>
        </p:nvSpPr>
        <p:spPr>
          <a:xfrm>
            <a:off x="548639" y="952753"/>
            <a:ext cx="11064242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五类能力，按阶段交付</a:t>
            </a:r>
          </a:p>
        </p:txBody>
      </p:sp>
      <p:sp>
        <p:nvSpPr>
          <p:cNvPr id="77" name="Text 3"/>
          <p:cNvSpPr txBox="1"/>
          <p:nvPr/>
        </p:nvSpPr>
        <p:spPr>
          <a:xfrm>
            <a:off x="10332719" y="6605269"/>
            <a:ext cx="128016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4 / 19</a:t>
            </a:r>
          </a:p>
        </p:txBody>
      </p:sp>
      <p:sp>
        <p:nvSpPr>
          <p:cNvPr id="78" name="Text 4"/>
          <p:cNvSpPr txBox="1"/>
          <p:nvPr/>
        </p:nvSpPr>
        <p:spPr>
          <a:xfrm>
            <a:off x="548640" y="6592569"/>
            <a:ext cx="7315201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稻生万物 · 能力中心与渠道中心建设规划</a:t>
            </a:r>
          </a:p>
        </p:txBody>
      </p:sp>
      <p:graphicFrame>
        <p:nvGraphicFramePr>
          <p:cNvPr id="79" name="Table 0"/>
          <p:cNvGraphicFramePr/>
          <p:nvPr/>
        </p:nvGraphicFramePr>
        <p:xfrm>
          <a:off x="548640" y="1325880"/>
          <a:ext cx="11064240" cy="3950209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1659635"/>
                <a:gridCol w="6085332"/>
                <a:gridCol w="1327709"/>
                <a:gridCol w="1991562"/>
              </a:tblGrid>
              <a:tr h="65836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能力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内容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阶段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依赖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合规与客户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认证要求结构化 → 材料清单自动生成 → 申报书出草稿 → 法规变更监测。覆盖欧盟 / 美国 / 日本 / 中国四个市场十余项认证。范围限食品接触与环保类，不含医疗器械与药包材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阶段一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无生产线硬件依赖，文档型应用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园区招商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产业链缺口分析、目标企业匹配推荐、入驻服务预测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阶段一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企业库数据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研发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实验记录与工艺文件结构化入库；对接外部计算化学结果并与实验数据关联验证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阶段二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研发数据归集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生产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接入原料在线检测（含水率 / 粒径）、产线设备数据、实验室理化与力学检测结果，做「产品性能 ↔ 工艺参数 ↔ 原料特性」关联归因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阶段二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点位表、检测数据接出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园区赋能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把能力开放给入驻企业，各企业数据隔离；配方参数经人工确认后下发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阶段三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配方保密分级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0" name="Shape 5"/>
          <p:cNvSpPr/>
          <p:nvPr/>
        </p:nvSpPr>
        <p:spPr>
          <a:xfrm>
            <a:off x="548639" y="5349240"/>
            <a:ext cx="11064242" cy="457201"/>
          </a:xfrm>
          <a:prstGeom prst="rect">
            <a:avLst/>
          </a:prstGeom>
          <a:solidFill>
            <a:srgbClr val="F5F1E8"/>
          </a:solidFill>
          <a:ln>
            <a:solidFill>
              <a:srgbClr val="E8DFC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81" name="Shape 6"/>
          <p:cNvSpPr/>
          <p:nvPr/>
        </p:nvSpPr>
        <p:spPr>
          <a:xfrm>
            <a:off x="548640" y="5349240"/>
            <a:ext cx="50293" cy="457201"/>
          </a:xfrm>
          <a:prstGeom prst="rect">
            <a:avLst/>
          </a:prstGeom>
          <a:solidFill>
            <a:srgbClr val="A87F5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2" name="Text 7"/>
          <p:cNvSpPr txBox="1"/>
          <p:nvPr/>
        </p:nvSpPr>
        <p:spPr>
          <a:xfrm>
            <a:off x="749808" y="5488939"/>
            <a:ext cx="10652760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能力中心由三部分构成：技术底座（引入并集成）、常设团队（峰值 9 人）、知识资产（工艺 / 认证 / 产业链 / 企业库）。</a:t>
            </a:r>
          </a:p>
        </p:txBody>
      </p:sp>
      <p:sp>
        <p:nvSpPr>
          <p:cNvPr id="83" name="Shape 8"/>
          <p:cNvSpPr/>
          <p:nvPr/>
        </p:nvSpPr>
        <p:spPr>
          <a:xfrm>
            <a:off x="548639" y="5943600"/>
            <a:ext cx="11064242" cy="457200"/>
          </a:xfrm>
          <a:prstGeom prst="rect">
            <a:avLst/>
          </a:prstGeom>
          <a:solidFill>
            <a:srgbClr val="F5F1E8"/>
          </a:solidFill>
          <a:ln>
            <a:solidFill>
              <a:srgbClr val="E8DFC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84" name="Shape 9"/>
          <p:cNvSpPr/>
          <p:nvPr/>
        </p:nvSpPr>
        <p:spPr>
          <a:xfrm>
            <a:off x="548640" y="5943600"/>
            <a:ext cx="50293" cy="457200"/>
          </a:xfrm>
          <a:prstGeom prst="rect">
            <a:avLst/>
          </a:prstGeom>
          <a:solidFill>
            <a:srgbClr val="A87F5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5" name="Text 10"/>
          <p:cNvSpPr txBox="1"/>
          <p:nvPr/>
        </p:nvSpPr>
        <p:spPr>
          <a:xfrm>
            <a:off x="749808" y="6083300"/>
            <a:ext cx="10652760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五类能力由稻生万物委托应用开发方实施，能力中心负责需求定义、业务知识提供与交付验收。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Shape 0"/>
          <p:cNvSpPr/>
          <p:nvPr/>
        </p:nvSpPr>
        <p:spPr>
          <a:xfrm>
            <a:off x="-1" y="-1"/>
            <a:ext cx="12188954" cy="82298"/>
          </a:xfrm>
          <a:prstGeom prst="rect">
            <a:avLst/>
          </a:prstGeom>
          <a:solidFill>
            <a:srgbClr val="2C5F2D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8" name="Text 1"/>
          <p:cNvSpPr txBox="1"/>
          <p:nvPr/>
        </p:nvSpPr>
        <p:spPr>
          <a:xfrm>
            <a:off x="548639" y="467106"/>
            <a:ext cx="11064242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400">
                <a:solidFill>
                  <a:srgbClr val="1F422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能力中心 · 不做什么</a:t>
            </a:r>
          </a:p>
        </p:txBody>
      </p:sp>
      <p:sp>
        <p:nvSpPr>
          <p:cNvPr id="89" name="Text 2"/>
          <p:cNvSpPr txBox="1"/>
          <p:nvPr/>
        </p:nvSpPr>
        <p:spPr>
          <a:xfrm>
            <a:off x="548639" y="952753"/>
            <a:ext cx="11064242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边界与责任划分</a:t>
            </a:r>
          </a:p>
        </p:txBody>
      </p:sp>
      <p:sp>
        <p:nvSpPr>
          <p:cNvPr id="90" name="Text 3"/>
          <p:cNvSpPr txBox="1"/>
          <p:nvPr/>
        </p:nvSpPr>
        <p:spPr>
          <a:xfrm>
            <a:off x="10332719" y="6605269"/>
            <a:ext cx="128016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5 / 19</a:t>
            </a:r>
          </a:p>
        </p:txBody>
      </p:sp>
      <p:sp>
        <p:nvSpPr>
          <p:cNvPr id="91" name="Text 4"/>
          <p:cNvSpPr txBox="1"/>
          <p:nvPr/>
        </p:nvSpPr>
        <p:spPr>
          <a:xfrm>
            <a:off x="548640" y="6592569"/>
            <a:ext cx="7315201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稻生万物 · 能力中心与渠道中心建设规划</a:t>
            </a:r>
          </a:p>
        </p:txBody>
      </p:sp>
      <p:sp>
        <p:nvSpPr>
          <p:cNvPr id="92" name="Shape 5"/>
          <p:cNvSpPr/>
          <p:nvPr/>
        </p:nvSpPr>
        <p:spPr>
          <a:xfrm>
            <a:off x="548639" y="1325879"/>
            <a:ext cx="5394962" cy="2651762"/>
          </a:xfrm>
          <a:prstGeom prst="rect">
            <a:avLst/>
          </a:prstGeom>
          <a:solidFill>
            <a:srgbClr val="FFFFFF"/>
          </a:solidFill>
          <a:ln>
            <a:solidFill>
              <a:srgbClr val="E3E3DE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93" name="Shape 6"/>
          <p:cNvSpPr/>
          <p:nvPr/>
        </p:nvSpPr>
        <p:spPr>
          <a:xfrm>
            <a:off x="548640" y="1325879"/>
            <a:ext cx="50293" cy="2651762"/>
          </a:xfrm>
          <a:prstGeom prst="rect">
            <a:avLst/>
          </a:prstGeom>
          <a:solidFill>
            <a:srgbClr val="B8504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94" name="Text 7"/>
          <p:cNvSpPr txBox="1"/>
          <p:nvPr/>
        </p:nvSpPr>
        <p:spPr>
          <a:xfrm>
            <a:off x="749808" y="1504187"/>
            <a:ext cx="502920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300">
                <a:solidFill>
                  <a:srgbClr val="B85042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不做</a:t>
            </a:r>
          </a:p>
        </p:txBody>
      </p:sp>
      <p:sp>
        <p:nvSpPr>
          <p:cNvPr id="95" name="Text 8"/>
          <p:cNvSpPr txBox="1"/>
          <p:nvPr/>
        </p:nvSpPr>
        <p:spPr>
          <a:xfrm>
            <a:off x="749808" y="1837944"/>
            <a:ext cx="5029201" cy="1221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342900" indent="-342900">
              <a:lnSpc>
                <a:spcPts val="1600"/>
              </a:lnSpc>
              <a:buSzPct val="100000"/>
              <a:buChar char="•"/>
              <a:defRPr sz="10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不做无人干预的自动调参</a:t>
            </a:r>
          </a:p>
          <a:p>
            <a:pPr marL="342900" indent="-342900">
              <a:lnSpc>
                <a:spcPts val="1600"/>
              </a:lnSpc>
              <a:buSzPct val="100000"/>
              <a:buChar char="•"/>
              <a:defRPr sz="10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不进产线实时控制回路——毫秒级响应与安全联锁归 PLC / DCS</a:t>
            </a:r>
          </a:p>
          <a:p>
            <a:pPr marL="342900" indent="-342900">
              <a:lnSpc>
                <a:spcPts val="1600"/>
              </a:lnSpc>
              <a:buSzPct val="100000"/>
              <a:buChar char="•"/>
              <a:defRPr sz="10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不做质检最终裁决——判定标准解释权在质量部门</a:t>
            </a:r>
          </a:p>
          <a:p>
            <a:pPr marL="342900" indent="-342900">
              <a:lnSpc>
                <a:spcPts val="1600"/>
              </a:lnSpc>
              <a:buSzPct val="100000"/>
              <a:buChar char="•"/>
              <a:defRPr sz="10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不代替人对外承诺——智能体只出草稿</a:t>
            </a:r>
          </a:p>
          <a:p>
            <a:pPr marL="342900" indent="-342900">
              <a:lnSpc>
                <a:spcPts val="1600"/>
              </a:lnSpc>
              <a:buSzPct val="100000"/>
              <a:buChar char="•"/>
              <a:defRPr sz="10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不做黑箱回答——工艺与合规类答案须附出处</a:t>
            </a:r>
          </a:p>
          <a:p>
            <a:pPr marL="342900" indent="-342900">
              <a:lnSpc>
                <a:spcPts val="1600"/>
              </a:lnSpc>
              <a:buSzPct val="100000"/>
              <a:buChar char="•"/>
              <a:defRPr sz="10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不承诺无数据支撑的效果</a:t>
            </a:r>
          </a:p>
        </p:txBody>
      </p:sp>
      <p:sp>
        <p:nvSpPr>
          <p:cNvPr id="96" name="Shape 9"/>
          <p:cNvSpPr/>
          <p:nvPr/>
        </p:nvSpPr>
        <p:spPr>
          <a:xfrm>
            <a:off x="6217919" y="1325879"/>
            <a:ext cx="5394962" cy="2651762"/>
          </a:xfrm>
          <a:prstGeom prst="rect">
            <a:avLst/>
          </a:prstGeom>
          <a:solidFill>
            <a:srgbClr val="FFFFFF"/>
          </a:solidFill>
          <a:ln>
            <a:solidFill>
              <a:srgbClr val="E3E3DE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97" name="Shape 10"/>
          <p:cNvSpPr/>
          <p:nvPr/>
        </p:nvSpPr>
        <p:spPr>
          <a:xfrm>
            <a:off x="6217920" y="1325879"/>
            <a:ext cx="50293" cy="2651762"/>
          </a:xfrm>
          <a:prstGeom prst="rect">
            <a:avLst/>
          </a:prstGeom>
          <a:solidFill>
            <a:srgbClr val="5B6C8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98" name="Text 11"/>
          <p:cNvSpPr txBox="1"/>
          <p:nvPr/>
        </p:nvSpPr>
        <p:spPr>
          <a:xfrm>
            <a:off x="6419088" y="1504187"/>
            <a:ext cx="502920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300">
                <a:solidFill>
                  <a:srgbClr val="5B6C8F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可以做（人确认前提下）</a:t>
            </a:r>
          </a:p>
        </p:txBody>
      </p:sp>
      <p:sp>
        <p:nvSpPr>
          <p:cNvPr id="99" name="Text 12"/>
          <p:cNvSpPr txBox="1"/>
          <p:nvPr/>
        </p:nvSpPr>
        <p:spPr>
          <a:xfrm>
            <a:off x="6419088" y="1837944"/>
            <a:ext cx="5029201" cy="1018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342900" indent="-342900">
              <a:lnSpc>
                <a:spcPts val="1600"/>
              </a:lnSpc>
              <a:buSzPct val="100000"/>
              <a:buChar char="•"/>
              <a:defRPr sz="10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读取 PLC 数据——数据接入层，只读</a:t>
            </a:r>
          </a:p>
          <a:p>
            <a:pPr marL="342900" indent="-342900">
              <a:lnSpc>
                <a:spcPts val="1600"/>
              </a:lnSpc>
              <a:buSzPct val="100000"/>
              <a:buChar char="•"/>
              <a:defRPr sz="10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归因分析并给出建议，由人执行</a:t>
            </a:r>
          </a:p>
          <a:p>
            <a:pPr marL="342900" indent="-342900">
              <a:lnSpc>
                <a:spcPts val="1600"/>
              </a:lnSpc>
              <a:buSzPct val="100000"/>
              <a:buChar char="•"/>
              <a:defRPr sz="10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配方参数下发——批次级设定，非实时回路，属 MES 标准职能</a:t>
            </a:r>
          </a:p>
          <a:p>
            <a:pPr marL="342900" indent="-342900">
              <a:lnSpc>
                <a:spcPts val="1600"/>
              </a:lnSpc>
              <a:buSzPct val="100000"/>
              <a:buChar char="•"/>
              <a:defRPr sz="10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开机准备度检查与时机建议</a:t>
            </a:r>
          </a:p>
          <a:p>
            <a:pPr marL="342900" indent="-342900">
              <a:lnSpc>
                <a:spcPts val="1600"/>
              </a:lnSpc>
              <a:buSzPct val="100000"/>
              <a:buChar char="•"/>
              <a:defRPr sz="10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参数上下限硬约束设在 PLC 侧，人工确认不可绕过，全链路留痕</a:t>
            </a:r>
          </a:p>
        </p:txBody>
      </p:sp>
      <p:sp>
        <p:nvSpPr>
          <p:cNvPr id="100" name="Shape 13"/>
          <p:cNvSpPr/>
          <p:nvPr/>
        </p:nvSpPr>
        <p:spPr>
          <a:xfrm>
            <a:off x="548639" y="4206240"/>
            <a:ext cx="11064242" cy="457201"/>
          </a:xfrm>
          <a:prstGeom prst="rect">
            <a:avLst/>
          </a:prstGeom>
          <a:solidFill>
            <a:srgbClr val="F5F1E8"/>
          </a:solidFill>
          <a:ln>
            <a:solidFill>
              <a:srgbClr val="E8DFC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01" name="Shape 14"/>
          <p:cNvSpPr/>
          <p:nvPr/>
        </p:nvSpPr>
        <p:spPr>
          <a:xfrm>
            <a:off x="548640" y="4206240"/>
            <a:ext cx="50293" cy="457201"/>
          </a:xfrm>
          <a:prstGeom prst="rect">
            <a:avLst/>
          </a:prstGeom>
          <a:solidFill>
            <a:srgbClr val="A87F5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2" name="Text 15"/>
          <p:cNvSpPr txBox="1"/>
          <p:nvPr/>
        </p:nvSpPr>
        <p:spPr>
          <a:xfrm>
            <a:off x="749808" y="4257039"/>
            <a:ext cx="10652760" cy="355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客户既有材料中的「无人开机」，在本方案中拆为三段：开机准备度检查（能力中心）→ 人工确认放行 → PLC 侧执行（集成商）。不做成全无人，是因为工艺窗口窄、误调代价不对称，且安全联锁的功能安全责任在设备侧。</a:t>
            </a:r>
          </a:p>
        </p:txBody>
      </p:sp>
      <p:sp>
        <p:nvSpPr>
          <p:cNvPr id="103" name="Shape 16"/>
          <p:cNvSpPr/>
          <p:nvPr/>
        </p:nvSpPr>
        <p:spPr>
          <a:xfrm>
            <a:off x="548639" y="4800600"/>
            <a:ext cx="11064242" cy="457200"/>
          </a:xfrm>
          <a:prstGeom prst="rect">
            <a:avLst/>
          </a:prstGeom>
          <a:solidFill>
            <a:srgbClr val="F5F1E8"/>
          </a:solidFill>
          <a:ln>
            <a:solidFill>
              <a:srgbClr val="E8DFC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04" name="Shape 17"/>
          <p:cNvSpPr/>
          <p:nvPr/>
        </p:nvSpPr>
        <p:spPr>
          <a:xfrm>
            <a:off x="548640" y="4800600"/>
            <a:ext cx="50293" cy="457200"/>
          </a:xfrm>
          <a:prstGeom prst="rect">
            <a:avLst/>
          </a:prstGeom>
          <a:solidFill>
            <a:srgbClr val="A87F5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5" name="Text 18"/>
          <p:cNvSpPr txBox="1"/>
          <p:nvPr/>
        </p:nvSpPr>
        <p:spPr>
          <a:xfrm>
            <a:off x="749808" y="4940300"/>
            <a:ext cx="10652760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交付边界切在数据接入层：车间侧不部署本方推理组件（检测与视觉推理均由仪表厂商成套交付）；数据采集与指令网关须部署，性质是接口不是算力。</a:t>
            </a:r>
          </a:p>
        </p:txBody>
      </p:sp>
      <p:sp>
        <p:nvSpPr>
          <p:cNvPr id="106" name="Shape 19"/>
          <p:cNvSpPr/>
          <p:nvPr/>
        </p:nvSpPr>
        <p:spPr>
          <a:xfrm>
            <a:off x="548639" y="5394959"/>
            <a:ext cx="11064242" cy="457201"/>
          </a:xfrm>
          <a:prstGeom prst="rect">
            <a:avLst/>
          </a:prstGeom>
          <a:solidFill>
            <a:srgbClr val="F5F1E8"/>
          </a:solidFill>
          <a:ln>
            <a:solidFill>
              <a:srgbClr val="E8DFC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07" name="Shape 20"/>
          <p:cNvSpPr/>
          <p:nvPr/>
        </p:nvSpPr>
        <p:spPr>
          <a:xfrm>
            <a:off x="548640" y="5394959"/>
            <a:ext cx="50293" cy="457201"/>
          </a:xfrm>
          <a:prstGeom prst="rect">
            <a:avLst/>
          </a:prstGeom>
          <a:solidFill>
            <a:srgbClr val="A87F5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8" name="Text 21"/>
          <p:cNvSpPr txBox="1"/>
          <p:nvPr/>
        </p:nvSpPr>
        <p:spPr>
          <a:xfrm>
            <a:off x="749808" y="5534659"/>
            <a:ext cx="10652760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数据接入规范与控制接口规范由能力中心定义，系统集成商按规范实现，双方联调。各参与方的责任划分见「参与方与责任边界」一页。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Shape 0"/>
          <p:cNvSpPr/>
          <p:nvPr/>
        </p:nvSpPr>
        <p:spPr>
          <a:xfrm>
            <a:off x="-1" y="-1"/>
            <a:ext cx="12188954" cy="82298"/>
          </a:xfrm>
          <a:prstGeom prst="rect">
            <a:avLst/>
          </a:prstGeom>
          <a:solidFill>
            <a:srgbClr val="2C5F2D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11" name="Text 1"/>
          <p:cNvSpPr txBox="1"/>
          <p:nvPr/>
        </p:nvSpPr>
        <p:spPr>
          <a:xfrm>
            <a:off x="548639" y="467106"/>
            <a:ext cx="11064242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400">
                <a:solidFill>
                  <a:srgbClr val="1F422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传统系统与本方案的关系</a:t>
            </a:r>
          </a:p>
        </p:txBody>
      </p:sp>
      <p:sp>
        <p:nvSpPr>
          <p:cNvPr id="112" name="Text 2"/>
          <p:cNvSpPr txBox="1"/>
          <p:nvPr/>
        </p:nvSpPr>
        <p:spPr>
          <a:xfrm>
            <a:off x="548639" y="952753"/>
            <a:ext cx="11064242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定位变了：从「人操作的系统」变成「Agent 调用的工具与数据源」</a:t>
            </a:r>
          </a:p>
        </p:txBody>
      </p:sp>
      <p:sp>
        <p:nvSpPr>
          <p:cNvPr id="113" name="Text 3"/>
          <p:cNvSpPr txBox="1"/>
          <p:nvPr/>
        </p:nvSpPr>
        <p:spPr>
          <a:xfrm>
            <a:off x="10332719" y="6605269"/>
            <a:ext cx="128016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6 / 19</a:t>
            </a:r>
          </a:p>
        </p:txBody>
      </p:sp>
      <p:sp>
        <p:nvSpPr>
          <p:cNvPr id="114" name="Text 4"/>
          <p:cNvSpPr txBox="1"/>
          <p:nvPr/>
        </p:nvSpPr>
        <p:spPr>
          <a:xfrm>
            <a:off x="548640" y="6592569"/>
            <a:ext cx="7315201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稻生万物 · 能力中心与渠道中心建设规划</a:t>
            </a:r>
          </a:p>
        </p:txBody>
      </p:sp>
      <p:graphicFrame>
        <p:nvGraphicFramePr>
          <p:cNvPr id="115" name="Table 0"/>
          <p:cNvGraphicFramePr/>
          <p:nvPr/>
        </p:nvGraphicFramePr>
        <p:xfrm>
          <a:off x="548640" y="1325880"/>
          <a:ext cx="11064240" cy="3401568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1548994"/>
                <a:gridCol w="2876702"/>
                <a:gridCol w="2876702"/>
                <a:gridCol w="3761842"/>
              </a:tblGrid>
              <a:tr h="56692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系统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承担什么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建不建 · 谁建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与能力中心的关系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MES 生产执行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工单、排产、报工、追溯记录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前置条件：仍需建设。归属与承建方须在阶段二启动前定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生产事实的记录者。Agent 调它下发指令、取进度、写回结果——本方案的「配方参数下发」以它到位为前提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QMS 质量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检验规则、判定记录、不合格处置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仍需建设。判定规则须可审计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Agent 用它的规则做初判与拦截，争议交人工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ERP / 财务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物料、订单、成本科目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沿用既有（客户已规划金蝶云 ERP），不重复建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作为数据源与写回目标接入，不改造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PLM / 供应链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产品数据、供应商与物流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沿用客户既有规划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按需接入，本期不作为交付项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报表与看板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各类统计报表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大幅减少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保留合规报送与固定周期报表；探索性查询由对话完成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6" name="Shape 5"/>
          <p:cNvSpPr/>
          <p:nvPr/>
        </p:nvSpPr>
        <p:spPr>
          <a:xfrm>
            <a:off x="548639" y="4800600"/>
            <a:ext cx="11064242" cy="457200"/>
          </a:xfrm>
          <a:prstGeom prst="rect">
            <a:avLst/>
          </a:prstGeom>
          <a:solidFill>
            <a:srgbClr val="F5F1E8"/>
          </a:solidFill>
          <a:ln>
            <a:solidFill>
              <a:srgbClr val="E8DFC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17" name="Shape 6"/>
          <p:cNvSpPr/>
          <p:nvPr/>
        </p:nvSpPr>
        <p:spPr>
          <a:xfrm>
            <a:off x="548640" y="4800600"/>
            <a:ext cx="50293" cy="457200"/>
          </a:xfrm>
          <a:prstGeom prst="rect">
            <a:avLst/>
          </a:prstGeom>
          <a:solidFill>
            <a:srgbClr val="A87F5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18" name="Text 7"/>
          <p:cNvSpPr txBox="1"/>
          <p:nvPr/>
        </p:nvSpPr>
        <p:spPr>
          <a:xfrm>
            <a:off x="749808" y="4851400"/>
            <a:ext cx="10652760" cy="355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AI Native 不等于「不要传统系统」——记录、规则、审计这些职责仍需系统承担。变的是人机界面：人从「操作系统」转为「审阅与决策」，系统从「面向人的界面」转为「面向 Agent 的能力」。</a:t>
            </a:r>
          </a:p>
        </p:txBody>
      </p:sp>
      <p:sp>
        <p:nvSpPr>
          <p:cNvPr id="119" name="Shape 8"/>
          <p:cNvSpPr/>
          <p:nvPr/>
        </p:nvSpPr>
        <p:spPr>
          <a:xfrm>
            <a:off x="548639" y="5394959"/>
            <a:ext cx="11064242" cy="457201"/>
          </a:xfrm>
          <a:prstGeom prst="rect">
            <a:avLst/>
          </a:prstGeom>
          <a:solidFill>
            <a:srgbClr val="F5F1E8"/>
          </a:solidFill>
          <a:ln>
            <a:solidFill>
              <a:srgbClr val="E8DFC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20" name="Shape 9"/>
          <p:cNvSpPr/>
          <p:nvPr/>
        </p:nvSpPr>
        <p:spPr>
          <a:xfrm>
            <a:off x="548640" y="5394959"/>
            <a:ext cx="50293" cy="457201"/>
          </a:xfrm>
          <a:prstGeom prst="rect">
            <a:avLst/>
          </a:prstGeom>
          <a:solidFill>
            <a:srgbClr val="A87F5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21" name="Text 10"/>
          <p:cNvSpPr txBox="1"/>
          <p:nvPr/>
        </p:nvSpPr>
        <p:spPr>
          <a:xfrm>
            <a:off x="749808" y="5534659"/>
            <a:ext cx="10652760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MES 是配方下发与批次追溯的前置系统。本项目负责接口定义、应用侧接入及联调；MES 本体建设与改造不在本项目范围内，阶段二启动前需确认接口条件。</a:t>
            </a:r>
          </a:p>
        </p:txBody>
      </p:sp>
      <p:sp>
        <p:nvSpPr>
          <p:cNvPr id="122" name="Shape 11"/>
          <p:cNvSpPr/>
          <p:nvPr/>
        </p:nvSpPr>
        <p:spPr>
          <a:xfrm>
            <a:off x="548639" y="5989320"/>
            <a:ext cx="11064242" cy="457201"/>
          </a:xfrm>
          <a:prstGeom prst="rect">
            <a:avLst/>
          </a:prstGeom>
          <a:solidFill>
            <a:srgbClr val="F5F1E8"/>
          </a:solidFill>
          <a:ln>
            <a:solidFill>
              <a:srgbClr val="E8DFC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23" name="Shape 12"/>
          <p:cNvSpPr/>
          <p:nvPr/>
        </p:nvSpPr>
        <p:spPr>
          <a:xfrm>
            <a:off x="548640" y="5989320"/>
            <a:ext cx="50293" cy="457201"/>
          </a:xfrm>
          <a:prstGeom prst="rect">
            <a:avLst/>
          </a:prstGeom>
          <a:solidFill>
            <a:srgbClr val="A87F5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24" name="Text 13"/>
          <p:cNvSpPr txBox="1"/>
          <p:nvPr/>
        </p:nvSpPr>
        <p:spPr>
          <a:xfrm>
            <a:off x="749808" y="6040120"/>
            <a:ext cx="10652760" cy="355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本方案不承接 MES / QMS / ERP 建设本身。基于已开放标准接口开展的接口契约、连接器、字段映射、测试与联调属于我方工作：业务接口计入应用开发费，远端 MCP 与 OT 通用协议计入平台适配费。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FFE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Box 2"/>
          <p:cNvSpPr/>
          <p:nvPr/>
        </p:nvSpPr>
        <p:spPr>
          <a:xfrm>
            <a:off x="-1" y="-1"/>
            <a:ext cx="12191697" cy="50294"/>
          </a:xfrm>
          <a:prstGeom prst="rect">
            <a:avLst/>
          </a:prstGeom>
          <a:solidFill>
            <a:srgbClr val="1F5A46"/>
          </a:solidFill>
          <a:ln w="12700">
            <a:solidFill>
              <a:srgbClr val="1F5A46"/>
            </a:solidFill>
          </a:ln>
        </p:spPr>
        <p:txBody>
          <a:bodyPr lIns="45719" rIns="45719" anchor="ctr"/>
          <a:lstStyle/>
          <a:p>
            <a:pPr algn="ctr">
              <a:defRPr sz="100"/>
            </a:pPr>
          </a:p>
        </p:txBody>
      </p:sp>
      <p:grpSp>
        <p:nvGrpSpPr>
          <p:cNvPr id="129" name="Box 6"/>
          <p:cNvGrpSpPr/>
          <p:nvPr/>
        </p:nvGrpSpPr>
        <p:grpSpPr>
          <a:xfrm>
            <a:off x="1874520" y="1133855"/>
            <a:ext cx="1965961" cy="438914"/>
            <a:chOff x="0" y="0"/>
            <a:chExt cx="1965960" cy="438912"/>
          </a:xfrm>
        </p:grpSpPr>
        <p:sp>
          <p:nvSpPr>
            <p:cNvPr id="127" name="圆角矩形"/>
            <p:cNvSpPr/>
            <p:nvPr/>
          </p:nvSpPr>
          <p:spPr>
            <a:xfrm>
              <a:off x="0" y="0"/>
              <a:ext cx="1965961" cy="438913"/>
            </a:xfrm>
            <a:prstGeom prst="roundRect">
              <a:avLst>
                <a:gd name="adj" fmla="val 16667"/>
              </a:avLst>
            </a:prstGeom>
            <a:solidFill>
              <a:srgbClr val="EEF3ED"/>
            </a:solidFill>
            <a:ln w="12700" cap="flat">
              <a:solidFill>
                <a:srgbClr val="B7C7BA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100"/>
              </a:pPr>
            </a:p>
          </p:txBody>
        </p:sp>
        <p:sp>
          <p:nvSpPr>
            <p:cNvPr id="128" name="生产/研发人员"/>
            <p:cNvSpPr txBox="1"/>
            <p:nvPr/>
          </p:nvSpPr>
          <p:spPr>
            <a:xfrm>
              <a:off x="64351" y="81279"/>
              <a:ext cx="1837258" cy="276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576" tIns="36576" rIns="36576" bIns="36576" numCol="1" anchor="ctr">
              <a:spAutoFit/>
            </a:bodyPr>
            <a:lstStyle/>
            <a:p>
              <a:pPr algn="ctr">
                <a:defRPr b="1" sz="1100">
                  <a:solidFill>
                    <a:srgbClr val="24332B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rPr b="0">
                  <a:latin typeface="PingFang SC Semibold"/>
                  <a:ea typeface="PingFang SC Semibold"/>
                  <a:cs typeface="PingFang SC Semibold"/>
                  <a:sym typeface="PingFang SC Semibold"/>
                </a:rPr>
                <a:t>生产</a:t>
              </a:r>
              <a:r>
                <a:t>/</a:t>
              </a:r>
              <a:r>
                <a:rPr b="0">
                  <a:latin typeface="PingFang SC Semibold"/>
                  <a:ea typeface="PingFang SC Semibold"/>
                  <a:cs typeface="PingFang SC Semibold"/>
                  <a:sym typeface="PingFang SC Semibold"/>
                </a:rPr>
                <a:t>研发人员</a:t>
              </a:r>
            </a:p>
          </p:txBody>
        </p:sp>
      </p:grpSp>
      <p:grpSp>
        <p:nvGrpSpPr>
          <p:cNvPr id="132" name="Box 7"/>
          <p:cNvGrpSpPr/>
          <p:nvPr/>
        </p:nvGrpSpPr>
        <p:grpSpPr>
          <a:xfrm>
            <a:off x="4142232" y="1133855"/>
            <a:ext cx="1965961" cy="438914"/>
            <a:chOff x="0" y="0"/>
            <a:chExt cx="1965960" cy="438912"/>
          </a:xfrm>
        </p:grpSpPr>
        <p:sp>
          <p:nvSpPr>
            <p:cNvPr id="130" name="圆角矩形"/>
            <p:cNvSpPr/>
            <p:nvPr/>
          </p:nvSpPr>
          <p:spPr>
            <a:xfrm>
              <a:off x="0" y="0"/>
              <a:ext cx="1965961" cy="438913"/>
            </a:xfrm>
            <a:prstGeom prst="roundRect">
              <a:avLst>
                <a:gd name="adj" fmla="val 16667"/>
              </a:avLst>
            </a:prstGeom>
            <a:solidFill>
              <a:srgbClr val="EEF3ED"/>
            </a:solidFill>
            <a:ln w="12700" cap="flat">
              <a:solidFill>
                <a:srgbClr val="B7C7BA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100"/>
              </a:pPr>
            </a:p>
          </p:txBody>
        </p:sp>
        <p:sp>
          <p:nvSpPr>
            <p:cNvPr id="131" name="管理人员"/>
            <p:cNvSpPr txBox="1"/>
            <p:nvPr/>
          </p:nvSpPr>
          <p:spPr>
            <a:xfrm>
              <a:off x="64351" y="81279"/>
              <a:ext cx="1837258" cy="276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576" tIns="36576" rIns="36576" bIns="36576" numCol="1" anchor="ctr">
              <a:spAutoFit/>
            </a:bodyPr>
            <a:lstStyle>
              <a:lvl1pPr algn="ctr">
                <a:defRPr sz="1100">
                  <a:solidFill>
                    <a:srgbClr val="24332B"/>
                  </a:solidFill>
                  <a:latin typeface="PingFang SC Semibold"/>
                  <a:ea typeface="PingFang SC Semibold"/>
                  <a:cs typeface="PingFang SC Semibold"/>
                  <a:sym typeface="PingFang SC Semibold"/>
                </a:defRPr>
              </a:lvl1pPr>
            </a:lstStyle>
            <a:p>
              <a:pPr>
                <a:defRPr b="1">
                  <a:latin typeface="Aptos"/>
                  <a:ea typeface="Aptos"/>
                  <a:cs typeface="Aptos"/>
                  <a:sym typeface="Aptos"/>
                </a:defRPr>
              </a:pPr>
              <a:r>
                <a:rPr b="0">
                  <a:latin typeface="PingFang SC Semibold"/>
                  <a:ea typeface="PingFang SC Semibold"/>
                  <a:cs typeface="PingFang SC Semibold"/>
                  <a:sym typeface="PingFang SC Semibold"/>
                </a:rPr>
                <a:t>管理人员</a:t>
              </a:r>
            </a:p>
          </p:txBody>
        </p:sp>
      </p:grpSp>
      <p:grpSp>
        <p:nvGrpSpPr>
          <p:cNvPr id="135" name="Box 8"/>
          <p:cNvGrpSpPr/>
          <p:nvPr/>
        </p:nvGrpSpPr>
        <p:grpSpPr>
          <a:xfrm>
            <a:off x="6409944" y="1133855"/>
            <a:ext cx="1965961" cy="438914"/>
            <a:chOff x="0" y="0"/>
            <a:chExt cx="1965960" cy="438912"/>
          </a:xfrm>
        </p:grpSpPr>
        <p:sp>
          <p:nvSpPr>
            <p:cNvPr id="133" name="圆角矩形"/>
            <p:cNvSpPr/>
            <p:nvPr/>
          </p:nvSpPr>
          <p:spPr>
            <a:xfrm>
              <a:off x="0" y="0"/>
              <a:ext cx="1965961" cy="438913"/>
            </a:xfrm>
            <a:prstGeom prst="roundRect">
              <a:avLst>
                <a:gd name="adj" fmla="val 16667"/>
              </a:avLst>
            </a:prstGeom>
            <a:solidFill>
              <a:srgbClr val="EEF3ED"/>
            </a:solidFill>
            <a:ln w="12700" cap="flat">
              <a:solidFill>
                <a:srgbClr val="B7C7BA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100"/>
              </a:pPr>
            </a:p>
          </p:txBody>
        </p:sp>
        <p:sp>
          <p:nvSpPr>
            <p:cNvPr id="134" name="渠道运营"/>
            <p:cNvSpPr txBox="1"/>
            <p:nvPr/>
          </p:nvSpPr>
          <p:spPr>
            <a:xfrm>
              <a:off x="64351" y="81279"/>
              <a:ext cx="1837258" cy="276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576" tIns="36576" rIns="36576" bIns="36576" numCol="1" anchor="ctr">
              <a:spAutoFit/>
            </a:bodyPr>
            <a:lstStyle>
              <a:lvl1pPr algn="ctr">
                <a:defRPr sz="1100">
                  <a:solidFill>
                    <a:srgbClr val="24332B"/>
                  </a:solidFill>
                  <a:latin typeface="PingFang SC Semibold"/>
                  <a:ea typeface="PingFang SC Semibold"/>
                  <a:cs typeface="PingFang SC Semibold"/>
                  <a:sym typeface="PingFang SC Semibold"/>
                </a:defRPr>
              </a:lvl1pPr>
            </a:lstStyle>
            <a:p>
              <a:pPr>
                <a:defRPr b="1">
                  <a:latin typeface="Aptos"/>
                  <a:ea typeface="Aptos"/>
                  <a:cs typeface="Aptos"/>
                  <a:sym typeface="Aptos"/>
                </a:defRPr>
              </a:pPr>
              <a:r>
                <a:rPr b="0">
                  <a:latin typeface="PingFang SC Semibold"/>
                  <a:ea typeface="PingFang SC Semibold"/>
                  <a:cs typeface="PingFang SC Semibold"/>
                  <a:sym typeface="PingFang SC Semibold"/>
                </a:rPr>
                <a:t>渠道运营</a:t>
              </a:r>
            </a:p>
          </p:txBody>
        </p:sp>
      </p:grpSp>
      <p:grpSp>
        <p:nvGrpSpPr>
          <p:cNvPr id="138" name="Box 9"/>
          <p:cNvGrpSpPr/>
          <p:nvPr/>
        </p:nvGrpSpPr>
        <p:grpSpPr>
          <a:xfrm>
            <a:off x="8677656" y="1133855"/>
            <a:ext cx="1965961" cy="438914"/>
            <a:chOff x="0" y="0"/>
            <a:chExt cx="1965960" cy="438912"/>
          </a:xfrm>
        </p:grpSpPr>
        <p:sp>
          <p:nvSpPr>
            <p:cNvPr id="136" name="圆角矩形"/>
            <p:cNvSpPr/>
            <p:nvPr/>
          </p:nvSpPr>
          <p:spPr>
            <a:xfrm>
              <a:off x="0" y="0"/>
              <a:ext cx="1965961" cy="438913"/>
            </a:xfrm>
            <a:prstGeom prst="roundRect">
              <a:avLst>
                <a:gd name="adj" fmla="val 16667"/>
              </a:avLst>
            </a:prstGeom>
            <a:solidFill>
              <a:srgbClr val="EEF3ED"/>
            </a:solidFill>
            <a:ln w="12700" cap="flat">
              <a:solidFill>
                <a:srgbClr val="B7C7BA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100"/>
              </a:pPr>
            </a:p>
          </p:txBody>
        </p:sp>
        <p:sp>
          <p:nvSpPr>
            <p:cNvPr id="137" name="园区企业/合作方"/>
            <p:cNvSpPr txBox="1"/>
            <p:nvPr/>
          </p:nvSpPr>
          <p:spPr>
            <a:xfrm>
              <a:off x="64351" y="81279"/>
              <a:ext cx="1837258" cy="2763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576" tIns="36576" rIns="36576" bIns="36576" numCol="1" anchor="ctr">
              <a:spAutoFit/>
            </a:bodyPr>
            <a:lstStyle/>
            <a:p>
              <a:pPr algn="ctr">
                <a:defRPr b="1" sz="1100">
                  <a:solidFill>
                    <a:srgbClr val="24332B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rPr b="0">
                  <a:latin typeface="PingFang SC Semibold"/>
                  <a:ea typeface="PingFang SC Semibold"/>
                  <a:cs typeface="PingFang SC Semibold"/>
                  <a:sym typeface="PingFang SC Semibold"/>
                </a:rPr>
                <a:t>园区企业</a:t>
              </a:r>
              <a:r>
                <a:t>/</a:t>
              </a:r>
              <a:r>
                <a:rPr b="0">
                  <a:latin typeface="PingFang SC Semibold"/>
                  <a:ea typeface="PingFang SC Semibold"/>
                  <a:cs typeface="PingFang SC Semibold"/>
                  <a:sym typeface="PingFang SC Semibold"/>
                </a:rPr>
                <a:t>合作方</a:t>
              </a:r>
            </a:p>
          </p:txBody>
        </p:sp>
      </p:grpSp>
      <p:sp>
        <p:nvSpPr>
          <p:cNvPr id="139" name="Connector 10"/>
          <p:cNvSpPr/>
          <p:nvPr/>
        </p:nvSpPr>
        <p:spPr>
          <a:xfrm>
            <a:off x="5614415" y="1572767"/>
            <a:ext cx="9145" cy="210313"/>
          </a:xfrm>
          <a:prstGeom prst="line">
            <a:avLst/>
          </a:prstGeom>
          <a:ln w="19050">
            <a:solidFill>
              <a:srgbClr val="7B9284"/>
            </a:solidFill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140" name="Box 11"/>
          <p:cNvSpPr/>
          <p:nvPr/>
        </p:nvSpPr>
        <p:spPr>
          <a:xfrm>
            <a:off x="502919" y="1755648"/>
            <a:ext cx="11183113" cy="3246121"/>
          </a:xfrm>
          <a:prstGeom prst="roundRect">
            <a:avLst>
              <a:gd name="adj" fmla="val 16667"/>
            </a:avLst>
          </a:prstGeom>
          <a:solidFill>
            <a:srgbClr val="FBFAF5"/>
          </a:solidFill>
          <a:ln w="12700">
            <a:solidFill>
              <a:srgbClr val="4F7D68"/>
            </a:solidFill>
          </a:ln>
        </p:spPr>
        <p:txBody>
          <a:bodyPr lIns="45719" rIns="45719" anchor="ctr"/>
          <a:lstStyle/>
          <a:p>
            <a:pPr algn="ctr">
              <a:defRPr sz="100"/>
            </a:pPr>
          </a:p>
        </p:txBody>
      </p:sp>
      <p:grpSp>
        <p:nvGrpSpPr>
          <p:cNvPr id="143" name="Box 12"/>
          <p:cNvGrpSpPr/>
          <p:nvPr/>
        </p:nvGrpSpPr>
        <p:grpSpPr>
          <a:xfrm>
            <a:off x="658368" y="1920239"/>
            <a:ext cx="1143001" cy="530353"/>
            <a:chOff x="0" y="0"/>
            <a:chExt cx="1143000" cy="530351"/>
          </a:xfrm>
        </p:grpSpPr>
        <p:sp>
          <p:nvSpPr>
            <p:cNvPr id="141" name="圆角矩形"/>
            <p:cNvSpPr/>
            <p:nvPr/>
          </p:nvSpPr>
          <p:spPr>
            <a:xfrm>
              <a:off x="0" y="0"/>
              <a:ext cx="1143000" cy="530352"/>
            </a:xfrm>
            <a:prstGeom prst="roundRect">
              <a:avLst>
                <a:gd name="adj" fmla="val 16667"/>
              </a:avLst>
            </a:prstGeom>
            <a:solidFill>
              <a:srgbClr val="1F5A46"/>
            </a:solidFill>
            <a:ln w="12700" cap="flat">
              <a:solidFill>
                <a:srgbClr val="1F5A46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200"/>
              </a:pPr>
            </a:p>
          </p:txBody>
        </p:sp>
        <p:sp>
          <p:nvSpPr>
            <p:cNvPr id="142" name="应用层"/>
            <p:cNvSpPr txBox="1"/>
            <p:nvPr/>
          </p:nvSpPr>
          <p:spPr>
            <a:xfrm>
              <a:off x="68815" y="120649"/>
              <a:ext cx="1005370" cy="2890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576" tIns="36576" rIns="36576" bIns="36576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latin typeface="PingFang SC Semibold"/>
                  <a:ea typeface="PingFang SC Semibold"/>
                  <a:cs typeface="PingFang SC Semibold"/>
                  <a:sym typeface="PingFang SC Semibold"/>
                </a:defRPr>
              </a:lvl1pPr>
            </a:lstStyle>
            <a:p>
              <a:pPr>
                <a:defRPr b="1">
                  <a:latin typeface="Aptos"/>
                  <a:ea typeface="Aptos"/>
                  <a:cs typeface="Aptos"/>
                  <a:sym typeface="Aptos"/>
                </a:defRPr>
              </a:pPr>
              <a:r>
                <a:rPr b="0">
                  <a:latin typeface="PingFang SC Semibold"/>
                  <a:ea typeface="PingFang SC Semibold"/>
                  <a:cs typeface="PingFang SC Semibold"/>
                  <a:sym typeface="PingFang SC Semibold"/>
                </a:rPr>
                <a:t>应用层</a:t>
              </a:r>
            </a:p>
          </p:txBody>
        </p:sp>
      </p:grpSp>
      <p:grpSp>
        <p:nvGrpSpPr>
          <p:cNvPr id="146" name="Box 13"/>
          <p:cNvGrpSpPr/>
          <p:nvPr/>
        </p:nvGrpSpPr>
        <p:grpSpPr>
          <a:xfrm>
            <a:off x="1965960" y="1920239"/>
            <a:ext cx="1993393" cy="530353"/>
            <a:chOff x="0" y="0"/>
            <a:chExt cx="1993392" cy="530351"/>
          </a:xfrm>
        </p:grpSpPr>
        <p:sp>
          <p:nvSpPr>
            <p:cNvPr id="144" name="圆角矩形"/>
            <p:cNvSpPr/>
            <p:nvPr/>
          </p:nvSpPr>
          <p:spPr>
            <a:xfrm>
              <a:off x="0" y="0"/>
              <a:ext cx="1993393" cy="530352"/>
            </a:xfrm>
            <a:prstGeom prst="roundRect">
              <a:avLst>
                <a:gd name="adj" fmla="val 16667"/>
              </a:avLst>
            </a:prstGeom>
            <a:solidFill>
              <a:srgbClr val="E6EFE9"/>
            </a:solidFill>
            <a:ln w="12700" cap="flat">
              <a:solidFill>
                <a:srgbClr val="8AA68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200"/>
              </a:pPr>
            </a:p>
          </p:txBody>
        </p:sp>
        <p:sp>
          <p:nvSpPr>
            <p:cNvPr id="145" name="认证与培训"/>
            <p:cNvSpPr txBox="1"/>
            <p:nvPr/>
          </p:nvSpPr>
          <p:spPr>
            <a:xfrm>
              <a:off x="68815" y="120649"/>
              <a:ext cx="1855762" cy="2890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576" tIns="36576" rIns="36576" bIns="36576" numCol="1" anchor="ctr">
              <a:spAutoFit/>
            </a:bodyPr>
            <a:lstStyle>
              <a:lvl1pPr algn="ctr">
                <a:defRPr sz="1200">
                  <a:solidFill>
                    <a:srgbClr val="24332B"/>
                  </a:solidFill>
                  <a:latin typeface="PingFang SC Semibold"/>
                  <a:ea typeface="PingFang SC Semibold"/>
                  <a:cs typeface="PingFang SC Semibold"/>
                  <a:sym typeface="PingFang SC Semibold"/>
                </a:defRPr>
              </a:lvl1pPr>
            </a:lstStyle>
            <a:p>
              <a:pPr>
                <a:defRPr b="1">
                  <a:latin typeface="Aptos"/>
                  <a:ea typeface="Aptos"/>
                  <a:cs typeface="Aptos"/>
                  <a:sym typeface="Aptos"/>
                </a:defRPr>
              </a:pPr>
              <a:r>
                <a:rPr b="0">
                  <a:latin typeface="PingFang SC Semibold"/>
                  <a:ea typeface="PingFang SC Semibold"/>
                  <a:cs typeface="PingFang SC Semibold"/>
                  <a:sym typeface="PingFang SC Semibold"/>
                </a:rPr>
                <a:t>认证与培训</a:t>
              </a:r>
            </a:p>
          </p:txBody>
        </p:sp>
      </p:grpSp>
      <p:grpSp>
        <p:nvGrpSpPr>
          <p:cNvPr id="149" name="Box 14"/>
          <p:cNvGrpSpPr/>
          <p:nvPr/>
        </p:nvGrpSpPr>
        <p:grpSpPr>
          <a:xfrm>
            <a:off x="4224528" y="1920239"/>
            <a:ext cx="1993393" cy="530353"/>
            <a:chOff x="0" y="0"/>
            <a:chExt cx="1993392" cy="530351"/>
          </a:xfrm>
        </p:grpSpPr>
        <p:sp>
          <p:nvSpPr>
            <p:cNvPr id="147" name="圆角矩形"/>
            <p:cNvSpPr/>
            <p:nvPr/>
          </p:nvSpPr>
          <p:spPr>
            <a:xfrm>
              <a:off x="0" y="0"/>
              <a:ext cx="1993393" cy="530352"/>
            </a:xfrm>
            <a:prstGeom prst="roundRect">
              <a:avLst>
                <a:gd name="adj" fmla="val 16667"/>
              </a:avLst>
            </a:prstGeom>
            <a:solidFill>
              <a:srgbClr val="E6EFE9"/>
            </a:solidFill>
            <a:ln w="12700" cap="flat">
              <a:solidFill>
                <a:srgbClr val="8AA68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200"/>
              </a:pPr>
            </a:p>
          </p:txBody>
        </p:sp>
        <p:sp>
          <p:nvSpPr>
            <p:cNvPr id="148" name="研发与配方"/>
            <p:cNvSpPr txBox="1"/>
            <p:nvPr/>
          </p:nvSpPr>
          <p:spPr>
            <a:xfrm>
              <a:off x="68815" y="120649"/>
              <a:ext cx="1855762" cy="2890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576" tIns="36576" rIns="36576" bIns="36576" numCol="1" anchor="ctr">
              <a:spAutoFit/>
            </a:bodyPr>
            <a:lstStyle>
              <a:lvl1pPr algn="ctr">
                <a:defRPr sz="1200">
                  <a:solidFill>
                    <a:srgbClr val="24332B"/>
                  </a:solidFill>
                  <a:latin typeface="PingFang SC Semibold"/>
                  <a:ea typeface="PingFang SC Semibold"/>
                  <a:cs typeface="PingFang SC Semibold"/>
                  <a:sym typeface="PingFang SC Semibold"/>
                </a:defRPr>
              </a:lvl1pPr>
            </a:lstStyle>
            <a:p>
              <a:pPr>
                <a:defRPr b="1">
                  <a:latin typeface="Aptos"/>
                  <a:ea typeface="Aptos"/>
                  <a:cs typeface="Aptos"/>
                  <a:sym typeface="Aptos"/>
                </a:defRPr>
              </a:pPr>
              <a:r>
                <a:rPr b="0">
                  <a:latin typeface="PingFang SC Semibold"/>
                  <a:ea typeface="PingFang SC Semibold"/>
                  <a:cs typeface="PingFang SC Semibold"/>
                  <a:sym typeface="PingFang SC Semibold"/>
                </a:rPr>
                <a:t>研发与配方</a:t>
              </a:r>
            </a:p>
          </p:txBody>
        </p:sp>
      </p:grpSp>
      <p:grpSp>
        <p:nvGrpSpPr>
          <p:cNvPr id="152" name="Box 15"/>
          <p:cNvGrpSpPr/>
          <p:nvPr/>
        </p:nvGrpSpPr>
        <p:grpSpPr>
          <a:xfrm>
            <a:off x="6483096" y="1920239"/>
            <a:ext cx="1993393" cy="530353"/>
            <a:chOff x="0" y="0"/>
            <a:chExt cx="1993392" cy="530351"/>
          </a:xfrm>
        </p:grpSpPr>
        <p:sp>
          <p:nvSpPr>
            <p:cNvPr id="150" name="圆角矩形"/>
            <p:cNvSpPr/>
            <p:nvPr/>
          </p:nvSpPr>
          <p:spPr>
            <a:xfrm>
              <a:off x="0" y="0"/>
              <a:ext cx="1993393" cy="530352"/>
            </a:xfrm>
            <a:prstGeom prst="roundRect">
              <a:avLst>
                <a:gd name="adj" fmla="val 16667"/>
              </a:avLst>
            </a:prstGeom>
            <a:solidFill>
              <a:srgbClr val="E6EFE9"/>
            </a:solidFill>
            <a:ln w="12700" cap="flat">
              <a:solidFill>
                <a:srgbClr val="8AA68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200"/>
              </a:pPr>
            </a:p>
          </p:txBody>
        </p:sp>
        <p:sp>
          <p:nvSpPr>
            <p:cNvPr id="151" name="生产与质量"/>
            <p:cNvSpPr txBox="1"/>
            <p:nvPr/>
          </p:nvSpPr>
          <p:spPr>
            <a:xfrm>
              <a:off x="68815" y="120649"/>
              <a:ext cx="1855762" cy="2890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576" tIns="36576" rIns="36576" bIns="36576" numCol="1" anchor="ctr">
              <a:spAutoFit/>
            </a:bodyPr>
            <a:lstStyle>
              <a:lvl1pPr algn="ctr">
                <a:defRPr sz="1200">
                  <a:solidFill>
                    <a:srgbClr val="24332B"/>
                  </a:solidFill>
                  <a:latin typeface="PingFang SC Semibold"/>
                  <a:ea typeface="PingFang SC Semibold"/>
                  <a:cs typeface="PingFang SC Semibold"/>
                  <a:sym typeface="PingFang SC Semibold"/>
                </a:defRPr>
              </a:lvl1pPr>
            </a:lstStyle>
            <a:p>
              <a:pPr>
                <a:defRPr b="1">
                  <a:latin typeface="Aptos"/>
                  <a:ea typeface="Aptos"/>
                  <a:cs typeface="Aptos"/>
                  <a:sym typeface="Aptos"/>
                </a:defRPr>
              </a:pPr>
              <a:r>
                <a:rPr b="0">
                  <a:latin typeface="PingFang SC Semibold"/>
                  <a:ea typeface="PingFang SC Semibold"/>
                  <a:cs typeface="PingFang SC Semibold"/>
                  <a:sym typeface="PingFang SC Semibold"/>
                </a:rPr>
                <a:t>生产与质量</a:t>
              </a:r>
            </a:p>
          </p:txBody>
        </p:sp>
      </p:grpSp>
      <p:grpSp>
        <p:nvGrpSpPr>
          <p:cNvPr id="155" name="Box 16"/>
          <p:cNvGrpSpPr/>
          <p:nvPr/>
        </p:nvGrpSpPr>
        <p:grpSpPr>
          <a:xfrm>
            <a:off x="8741664" y="1920239"/>
            <a:ext cx="1993393" cy="530353"/>
            <a:chOff x="0" y="0"/>
            <a:chExt cx="1993392" cy="530351"/>
          </a:xfrm>
        </p:grpSpPr>
        <p:sp>
          <p:nvSpPr>
            <p:cNvPr id="153" name="圆角矩形"/>
            <p:cNvSpPr/>
            <p:nvPr/>
          </p:nvSpPr>
          <p:spPr>
            <a:xfrm>
              <a:off x="0" y="0"/>
              <a:ext cx="1993393" cy="530352"/>
            </a:xfrm>
            <a:prstGeom prst="roundRect">
              <a:avLst>
                <a:gd name="adj" fmla="val 16667"/>
              </a:avLst>
            </a:prstGeom>
            <a:solidFill>
              <a:srgbClr val="E6EFE9"/>
            </a:solidFill>
            <a:ln w="12700" cap="flat">
              <a:solidFill>
                <a:srgbClr val="8AA68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200"/>
              </a:pPr>
            </a:p>
          </p:txBody>
        </p:sp>
        <p:sp>
          <p:nvSpPr>
            <p:cNvPr id="154" name="招商与渠道"/>
            <p:cNvSpPr txBox="1"/>
            <p:nvPr/>
          </p:nvSpPr>
          <p:spPr>
            <a:xfrm>
              <a:off x="68815" y="120649"/>
              <a:ext cx="1855762" cy="2890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576" tIns="36576" rIns="36576" bIns="36576" numCol="1" anchor="ctr">
              <a:spAutoFit/>
            </a:bodyPr>
            <a:lstStyle>
              <a:lvl1pPr algn="ctr">
                <a:defRPr sz="1200">
                  <a:solidFill>
                    <a:srgbClr val="24332B"/>
                  </a:solidFill>
                  <a:latin typeface="PingFang SC Semibold"/>
                  <a:ea typeface="PingFang SC Semibold"/>
                  <a:cs typeface="PingFang SC Semibold"/>
                  <a:sym typeface="PingFang SC Semibold"/>
                </a:defRPr>
              </a:lvl1pPr>
            </a:lstStyle>
            <a:p>
              <a:pPr>
                <a:defRPr b="1">
                  <a:latin typeface="Aptos"/>
                  <a:ea typeface="Aptos"/>
                  <a:cs typeface="Aptos"/>
                  <a:sym typeface="Aptos"/>
                </a:defRPr>
              </a:pPr>
              <a:r>
                <a:rPr b="0">
                  <a:latin typeface="PingFang SC Semibold"/>
                  <a:ea typeface="PingFang SC Semibold"/>
                  <a:cs typeface="PingFang SC Semibold"/>
                  <a:sym typeface="PingFang SC Semibold"/>
                </a:rPr>
                <a:t>招商与渠道</a:t>
              </a:r>
            </a:p>
          </p:txBody>
        </p:sp>
      </p:grpSp>
      <p:grpSp>
        <p:nvGrpSpPr>
          <p:cNvPr id="158" name="Box 17"/>
          <p:cNvGrpSpPr/>
          <p:nvPr/>
        </p:nvGrpSpPr>
        <p:grpSpPr>
          <a:xfrm>
            <a:off x="658368" y="2633472"/>
            <a:ext cx="1143001" cy="658369"/>
            <a:chOff x="0" y="0"/>
            <a:chExt cx="1143000" cy="658368"/>
          </a:xfrm>
        </p:grpSpPr>
        <p:sp>
          <p:nvSpPr>
            <p:cNvPr id="156" name="圆角矩形"/>
            <p:cNvSpPr/>
            <p:nvPr/>
          </p:nvSpPr>
          <p:spPr>
            <a:xfrm>
              <a:off x="0" y="0"/>
              <a:ext cx="1143000" cy="658369"/>
            </a:xfrm>
            <a:prstGeom prst="roundRect">
              <a:avLst>
                <a:gd name="adj" fmla="val 16667"/>
              </a:avLst>
            </a:prstGeom>
            <a:solidFill>
              <a:srgbClr val="2F715A"/>
            </a:solidFill>
            <a:ln w="12700" cap="flat">
              <a:solidFill>
                <a:srgbClr val="2F715A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100"/>
              </a:pPr>
            </a:p>
          </p:txBody>
        </p:sp>
        <p:sp>
          <p:nvSpPr>
            <p:cNvPr id="157" name="智能平台层"/>
            <p:cNvSpPr txBox="1"/>
            <p:nvPr/>
          </p:nvSpPr>
          <p:spPr>
            <a:xfrm>
              <a:off x="75064" y="191007"/>
              <a:ext cx="992872" cy="27635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576" tIns="36576" rIns="36576" bIns="36576" numCol="1" anchor="ctr">
              <a:spAutoFit/>
            </a:bodyPr>
            <a:lstStyle>
              <a:lvl1pPr algn="ctr">
                <a:defRPr sz="1100">
                  <a:solidFill>
                    <a:srgbClr val="FFFFFF"/>
                  </a:solidFill>
                  <a:latin typeface="PingFang SC Semibold"/>
                  <a:ea typeface="PingFang SC Semibold"/>
                  <a:cs typeface="PingFang SC Semibold"/>
                  <a:sym typeface="PingFang SC Semibold"/>
                </a:defRPr>
              </a:lvl1pPr>
            </a:lstStyle>
            <a:p>
              <a:pPr>
                <a:defRPr b="1">
                  <a:latin typeface="Aptos"/>
                  <a:ea typeface="Aptos"/>
                  <a:cs typeface="Aptos"/>
                  <a:sym typeface="Aptos"/>
                </a:defRPr>
              </a:pPr>
              <a:r>
                <a:rPr b="0">
                  <a:latin typeface="PingFang SC Semibold"/>
                  <a:ea typeface="PingFang SC Semibold"/>
                  <a:cs typeface="PingFang SC Semibold"/>
                  <a:sym typeface="PingFang SC Semibold"/>
                </a:rPr>
                <a:t>智能平台层</a:t>
              </a:r>
            </a:p>
          </p:txBody>
        </p:sp>
      </p:grpSp>
      <p:grpSp>
        <p:nvGrpSpPr>
          <p:cNvPr id="161" name="Box 18"/>
          <p:cNvGrpSpPr/>
          <p:nvPr/>
        </p:nvGrpSpPr>
        <p:grpSpPr>
          <a:xfrm>
            <a:off x="1965960" y="2633472"/>
            <a:ext cx="1536193" cy="658369"/>
            <a:chOff x="0" y="0"/>
            <a:chExt cx="1536191" cy="658368"/>
          </a:xfrm>
        </p:grpSpPr>
        <p:sp>
          <p:nvSpPr>
            <p:cNvPr id="159" name="圆角矩形"/>
            <p:cNvSpPr/>
            <p:nvPr/>
          </p:nvSpPr>
          <p:spPr>
            <a:xfrm>
              <a:off x="0" y="0"/>
              <a:ext cx="1536192" cy="658369"/>
            </a:xfrm>
            <a:prstGeom prst="roundRect">
              <a:avLst>
                <a:gd name="adj" fmla="val 16667"/>
              </a:avLst>
            </a:prstGeom>
            <a:solidFill>
              <a:srgbClr val="F2EBDD"/>
            </a:solidFill>
            <a:ln w="12700" cap="flat">
              <a:solidFill>
                <a:srgbClr val="C4AA72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000"/>
              </a:pPr>
            </a:p>
          </p:txBody>
        </p:sp>
        <p:sp>
          <p:nvSpPr>
            <p:cNvPr id="160" name="智能体编排"/>
            <p:cNvSpPr txBox="1"/>
            <p:nvPr/>
          </p:nvSpPr>
          <p:spPr>
            <a:xfrm>
              <a:off x="75064" y="203707"/>
              <a:ext cx="1386064" cy="2509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576" tIns="36576" rIns="36576" bIns="36576" numCol="1" anchor="ctr">
              <a:spAutoFit/>
            </a:bodyPr>
            <a:lstStyle>
              <a:lvl1pPr algn="ctr">
                <a:defRPr sz="1000">
                  <a:solidFill>
                    <a:srgbClr val="24332B"/>
                  </a:solidFill>
                  <a:latin typeface="PingFang SC Semibold"/>
                  <a:ea typeface="PingFang SC Semibold"/>
                  <a:cs typeface="PingFang SC Semibold"/>
                  <a:sym typeface="PingFang SC Semibold"/>
                </a:defRPr>
              </a:lvl1pPr>
            </a:lstStyle>
            <a:p>
              <a:pPr>
                <a:defRPr b="1">
                  <a:latin typeface="Aptos"/>
                  <a:ea typeface="Aptos"/>
                  <a:cs typeface="Aptos"/>
                  <a:sym typeface="Aptos"/>
                </a:defRPr>
              </a:pPr>
              <a:r>
                <a:rPr b="0">
                  <a:latin typeface="PingFang SC Semibold"/>
                  <a:ea typeface="PingFang SC Semibold"/>
                  <a:cs typeface="PingFang SC Semibold"/>
                  <a:sym typeface="PingFang SC Semibold"/>
                </a:rPr>
                <a:t>智能体编排</a:t>
              </a:r>
            </a:p>
          </p:txBody>
        </p:sp>
      </p:grpSp>
      <p:grpSp>
        <p:nvGrpSpPr>
          <p:cNvPr id="164" name="Box 19"/>
          <p:cNvGrpSpPr/>
          <p:nvPr/>
        </p:nvGrpSpPr>
        <p:grpSpPr>
          <a:xfrm>
            <a:off x="3739896" y="2633472"/>
            <a:ext cx="1536193" cy="658369"/>
            <a:chOff x="0" y="0"/>
            <a:chExt cx="1536191" cy="658368"/>
          </a:xfrm>
        </p:grpSpPr>
        <p:sp>
          <p:nvSpPr>
            <p:cNvPr id="162" name="圆角矩形"/>
            <p:cNvSpPr/>
            <p:nvPr/>
          </p:nvSpPr>
          <p:spPr>
            <a:xfrm>
              <a:off x="0" y="0"/>
              <a:ext cx="1536192" cy="658369"/>
            </a:xfrm>
            <a:prstGeom prst="roundRect">
              <a:avLst>
                <a:gd name="adj" fmla="val 16667"/>
              </a:avLst>
            </a:prstGeom>
            <a:solidFill>
              <a:srgbClr val="F2EBDD"/>
            </a:solidFill>
            <a:ln w="12700" cap="flat">
              <a:solidFill>
                <a:srgbClr val="C4AA72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000"/>
              </a:pPr>
            </a:p>
          </p:txBody>
        </p:sp>
        <p:sp>
          <p:nvSpPr>
            <p:cNvPr id="163" name="知识库 / RAG"/>
            <p:cNvSpPr txBox="1"/>
            <p:nvPr/>
          </p:nvSpPr>
          <p:spPr>
            <a:xfrm>
              <a:off x="75064" y="203707"/>
              <a:ext cx="1386064" cy="2509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576" tIns="36576" rIns="36576" bIns="36576" numCol="1" anchor="ctr">
              <a:spAutoFit/>
            </a:bodyPr>
            <a:lstStyle/>
            <a:p>
              <a:pPr algn="ctr">
                <a:defRPr b="1" sz="1000">
                  <a:solidFill>
                    <a:srgbClr val="24332B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rPr b="0">
                  <a:latin typeface="PingFang SC Semibold"/>
                  <a:ea typeface="PingFang SC Semibold"/>
                  <a:cs typeface="PingFang SC Semibold"/>
                  <a:sym typeface="PingFang SC Semibold"/>
                </a:rPr>
                <a:t>知识库 </a:t>
              </a:r>
              <a:r>
                <a:t>/ RAG</a:t>
              </a:r>
            </a:p>
          </p:txBody>
        </p:sp>
      </p:grpSp>
      <p:grpSp>
        <p:nvGrpSpPr>
          <p:cNvPr id="167" name="Box 20"/>
          <p:cNvGrpSpPr/>
          <p:nvPr/>
        </p:nvGrpSpPr>
        <p:grpSpPr>
          <a:xfrm>
            <a:off x="5513832" y="2633472"/>
            <a:ext cx="1536193" cy="658369"/>
            <a:chOff x="0" y="0"/>
            <a:chExt cx="1536191" cy="658368"/>
          </a:xfrm>
        </p:grpSpPr>
        <p:sp>
          <p:nvSpPr>
            <p:cNvPr id="165" name="圆角矩形"/>
            <p:cNvSpPr/>
            <p:nvPr/>
          </p:nvSpPr>
          <p:spPr>
            <a:xfrm>
              <a:off x="0" y="0"/>
              <a:ext cx="1536192" cy="658369"/>
            </a:xfrm>
            <a:prstGeom prst="roundRect">
              <a:avLst>
                <a:gd name="adj" fmla="val 16667"/>
              </a:avLst>
            </a:prstGeom>
            <a:solidFill>
              <a:srgbClr val="F2EBDD"/>
            </a:solidFill>
            <a:ln w="12700" cap="flat">
              <a:solidFill>
                <a:srgbClr val="C4AA72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000"/>
              </a:pPr>
            </a:p>
          </p:txBody>
        </p:sp>
        <p:sp>
          <p:nvSpPr>
            <p:cNvPr id="166" name="Qwen3.8-Max"/>
            <p:cNvSpPr txBox="1"/>
            <p:nvPr/>
          </p:nvSpPr>
          <p:spPr>
            <a:xfrm>
              <a:off x="75064" y="216407"/>
              <a:ext cx="1386064" cy="22555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576" tIns="36576" rIns="36576" bIns="36576" numCol="1" anchor="ctr">
              <a:spAutoFit/>
            </a:bodyPr>
            <a:lstStyle>
              <a:lvl1pPr algn="ctr">
                <a:defRPr b="1" sz="1000">
                  <a:solidFill>
                    <a:srgbClr val="24332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Qwen3.8-Max</a:t>
              </a:r>
            </a:p>
          </p:txBody>
        </p:sp>
      </p:grpSp>
      <p:grpSp>
        <p:nvGrpSpPr>
          <p:cNvPr id="170" name="Box 21"/>
          <p:cNvGrpSpPr/>
          <p:nvPr/>
        </p:nvGrpSpPr>
        <p:grpSpPr>
          <a:xfrm>
            <a:off x="7287768" y="2633472"/>
            <a:ext cx="1536193" cy="658369"/>
            <a:chOff x="0" y="0"/>
            <a:chExt cx="1536191" cy="658368"/>
          </a:xfrm>
        </p:grpSpPr>
        <p:sp>
          <p:nvSpPr>
            <p:cNvPr id="168" name="圆角矩形"/>
            <p:cNvSpPr/>
            <p:nvPr/>
          </p:nvSpPr>
          <p:spPr>
            <a:xfrm>
              <a:off x="0" y="0"/>
              <a:ext cx="1536192" cy="658369"/>
            </a:xfrm>
            <a:prstGeom prst="roundRect">
              <a:avLst>
                <a:gd name="adj" fmla="val 16667"/>
              </a:avLst>
            </a:prstGeom>
            <a:solidFill>
              <a:srgbClr val="F2EBDD"/>
            </a:solidFill>
            <a:ln w="12700" cap="flat">
              <a:solidFill>
                <a:srgbClr val="C4AA72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000"/>
              </a:pPr>
            </a:p>
          </p:txBody>
        </p:sp>
        <p:sp>
          <p:nvSpPr>
            <p:cNvPr id="169" name="工具与接口网关"/>
            <p:cNvSpPr txBox="1"/>
            <p:nvPr/>
          </p:nvSpPr>
          <p:spPr>
            <a:xfrm>
              <a:off x="75064" y="203707"/>
              <a:ext cx="1386064" cy="2509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576" tIns="36576" rIns="36576" bIns="36576" numCol="1" anchor="ctr">
              <a:spAutoFit/>
            </a:bodyPr>
            <a:lstStyle>
              <a:lvl1pPr algn="ctr">
                <a:defRPr sz="1000">
                  <a:solidFill>
                    <a:srgbClr val="24332B"/>
                  </a:solidFill>
                  <a:latin typeface="PingFang SC Semibold"/>
                  <a:ea typeface="PingFang SC Semibold"/>
                  <a:cs typeface="PingFang SC Semibold"/>
                  <a:sym typeface="PingFang SC Semibold"/>
                </a:defRPr>
              </a:lvl1pPr>
            </a:lstStyle>
            <a:p>
              <a:pPr>
                <a:defRPr b="1">
                  <a:latin typeface="Aptos"/>
                  <a:ea typeface="Aptos"/>
                  <a:cs typeface="Aptos"/>
                  <a:sym typeface="Aptos"/>
                </a:defRPr>
              </a:pPr>
              <a:r>
                <a:rPr b="0">
                  <a:latin typeface="PingFang SC Semibold"/>
                  <a:ea typeface="PingFang SC Semibold"/>
                  <a:cs typeface="PingFang SC Semibold"/>
                  <a:sym typeface="PingFang SC Semibold"/>
                </a:rPr>
                <a:t>工具与接口网关</a:t>
              </a:r>
            </a:p>
          </p:txBody>
        </p:sp>
      </p:grpSp>
      <p:grpSp>
        <p:nvGrpSpPr>
          <p:cNvPr id="173" name="Box 22"/>
          <p:cNvGrpSpPr/>
          <p:nvPr/>
        </p:nvGrpSpPr>
        <p:grpSpPr>
          <a:xfrm>
            <a:off x="9061704" y="2633472"/>
            <a:ext cx="1536193" cy="658369"/>
            <a:chOff x="0" y="0"/>
            <a:chExt cx="1536191" cy="658368"/>
          </a:xfrm>
        </p:grpSpPr>
        <p:sp>
          <p:nvSpPr>
            <p:cNvPr id="171" name="圆角矩形"/>
            <p:cNvSpPr/>
            <p:nvPr/>
          </p:nvSpPr>
          <p:spPr>
            <a:xfrm>
              <a:off x="0" y="0"/>
              <a:ext cx="1536192" cy="658369"/>
            </a:xfrm>
            <a:prstGeom prst="roundRect">
              <a:avLst>
                <a:gd name="adj" fmla="val 16667"/>
              </a:avLst>
            </a:prstGeom>
            <a:solidFill>
              <a:srgbClr val="F2EBDD"/>
            </a:solidFill>
            <a:ln w="12700" cap="flat">
              <a:solidFill>
                <a:srgbClr val="C4AA72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000"/>
              </a:pPr>
            </a:p>
          </p:txBody>
        </p:sp>
        <p:sp>
          <p:nvSpPr>
            <p:cNvPr id="172" name="权限 / 审计"/>
            <p:cNvSpPr txBox="1"/>
            <p:nvPr/>
          </p:nvSpPr>
          <p:spPr>
            <a:xfrm>
              <a:off x="75064" y="203707"/>
              <a:ext cx="1386064" cy="2509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576" tIns="36576" rIns="36576" bIns="36576" numCol="1" anchor="ctr">
              <a:spAutoFit/>
            </a:bodyPr>
            <a:lstStyle/>
            <a:p>
              <a:pPr algn="ctr">
                <a:defRPr b="1" sz="1000">
                  <a:solidFill>
                    <a:srgbClr val="24332B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rPr b="0">
                  <a:latin typeface="PingFang SC Semibold"/>
                  <a:ea typeface="PingFang SC Semibold"/>
                  <a:cs typeface="PingFang SC Semibold"/>
                  <a:sym typeface="PingFang SC Semibold"/>
                </a:rPr>
                <a:t>权限 </a:t>
              </a:r>
              <a:r>
                <a:t>/ </a:t>
              </a:r>
              <a:r>
                <a:rPr b="0">
                  <a:latin typeface="PingFang SC Semibold"/>
                  <a:ea typeface="PingFang SC Semibold"/>
                  <a:cs typeface="PingFang SC Semibold"/>
                  <a:sym typeface="PingFang SC Semibold"/>
                </a:rPr>
                <a:t>审计</a:t>
              </a:r>
            </a:p>
          </p:txBody>
        </p:sp>
      </p:grpSp>
      <p:grpSp>
        <p:nvGrpSpPr>
          <p:cNvPr id="176" name="Box 23"/>
          <p:cNvGrpSpPr/>
          <p:nvPr/>
        </p:nvGrpSpPr>
        <p:grpSpPr>
          <a:xfrm>
            <a:off x="658368" y="3493008"/>
            <a:ext cx="1143001" cy="566929"/>
            <a:chOff x="0" y="0"/>
            <a:chExt cx="1143000" cy="566927"/>
          </a:xfrm>
        </p:grpSpPr>
        <p:sp>
          <p:nvSpPr>
            <p:cNvPr id="174" name="圆角矩形"/>
            <p:cNvSpPr/>
            <p:nvPr/>
          </p:nvSpPr>
          <p:spPr>
            <a:xfrm>
              <a:off x="0" y="0"/>
              <a:ext cx="1143000" cy="566928"/>
            </a:xfrm>
            <a:prstGeom prst="roundRect">
              <a:avLst>
                <a:gd name="adj" fmla="val 16667"/>
              </a:avLst>
            </a:prstGeom>
            <a:solidFill>
              <a:srgbClr val="557C69"/>
            </a:solidFill>
            <a:ln w="12700" cap="flat">
              <a:solidFill>
                <a:srgbClr val="557C69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100"/>
              </a:pPr>
            </a:p>
          </p:txBody>
        </p:sp>
        <p:sp>
          <p:nvSpPr>
            <p:cNvPr id="175" name="数据层"/>
            <p:cNvSpPr txBox="1"/>
            <p:nvPr/>
          </p:nvSpPr>
          <p:spPr>
            <a:xfrm>
              <a:off x="70601" y="145287"/>
              <a:ext cx="1001798" cy="27635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576" tIns="36576" rIns="36576" bIns="36576" numCol="1" anchor="ctr">
              <a:spAutoFit/>
            </a:bodyPr>
            <a:lstStyle>
              <a:lvl1pPr algn="ctr">
                <a:defRPr sz="1100">
                  <a:solidFill>
                    <a:srgbClr val="FFFFFF"/>
                  </a:solidFill>
                  <a:latin typeface="PingFang SC Semibold"/>
                  <a:ea typeface="PingFang SC Semibold"/>
                  <a:cs typeface="PingFang SC Semibold"/>
                  <a:sym typeface="PingFang SC Semibold"/>
                </a:defRPr>
              </a:lvl1pPr>
            </a:lstStyle>
            <a:p>
              <a:pPr>
                <a:defRPr b="1">
                  <a:latin typeface="Aptos"/>
                  <a:ea typeface="Aptos"/>
                  <a:cs typeface="Aptos"/>
                  <a:sym typeface="Aptos"/>
                </a:defRPr>
              </a:pPr>
              <a:r>
                <a:rPr b="0">
                  <a:latin typeface="PingFang SC Semibold"/>
                  <a:ea typeface="PingFang SC Semibold"/>
                  <a:cs typeface="PingFang SC Semibold"/>
                  <a:sym typeface="PingFang SC Semibold"/>
                </a:rPr>
                <a:t>数据层</a:t>
              </a:r>
            </a:p>
          </p:txBody>
        </p:sp>
      </p:grpSp>
      <p:grpSp>
        <p:nvGrpSpPr>
          <p:cNvPr id="179" name="Box 24"/>
          <p:cNvGrpSpPr/>
          <p:nvPr/>
        </p:nvGrpSpPr>
        <p:grpSpPr>
          <a:xfrm>
            <a:off x="1965960" y="3493008"/>
            <a:ext cx="1993393" cy="566929"/>
            <a:chOff x="0" y="0"/>
            <a:chExt cx="1993392" cy="566927"/>
          </a:xfrm>
        </p:grpSpPr>
        <p:sp>
          <p:nvSpPr>
            <p:cNvPr id="177" name="圆角矩形"/>
            <p:cNvSpPr/>
            <p:nvPr/>
          </p:nvSpPr>
          <p:spPr>
            <a:xfrm>
              <a:off x="0" y="0"/>
              <a:ext cx="1993393" cy="566928"/>
            </a:xfrm>
            <a:prstGeom prst="roundRect">
              <a:avLst>
                <a:gd name="adj" fmla="val 16667"/>
              </a:avLst>
            </a:prstGeom>
            <a:solidFill>
              <a:srgbClr val="F6F3EA"/>
            </a:solidFill>
            <a:ln w="12700" cap="flat">
              <a:solidFill>
                <a:srgbClr val="B7C7BA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100"/>
              </a:pPr>
            </a:p>
          </p:txBody>
        </p:sp>
        <p:sp>
          <p:nvSpPr>
            <p:cNvPr id="178" name="业务数据库"/>
            <p:cNvSpPr txBox="1"/>
            <p:nvPr/>
          </p:nvSpPr>
          <p:spPr>
            <a:xfrm>
              <a:off x="70601" y="145287"/>
              <a:ext cx="1852190" cy="27635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576" tIns="36576" rIns="36576" bIns="36576" numCol="1" anchor="ctr">
              <a:spAutoFit/>
            </a:bodyPr>
            <a:lstStyle>
              <a:lvl1pPr algn="ctr">
                <a:defRPr sz="1100">
                  <a:solidFill>
                    <a:srgbClr val="24332B"/>
                  </a:solidFill>
                  <a:latin typeface="PingFang SC Semibold"/>
                  <a:ea typeface="PingFang SC Semibold"/>
                  <a:cs typeface="PingFang SC Semibold"/>
                  <a:sym typeface="PingFang SC Semibold"/>
                </a:defRPr>
              </a:lvl1pPr>
            </a:lstStyle>
            <a:p>
              <a:pPr>
                <a:defRPr b="1">
                  <a:latin typeface="Aptos"/>
                  <a:ea typeface="Aptos"/>
                  <a:cs typeface="Aptos"/>
                  <a:sym typeface="Aptos"/>
                </a:defRPr>
              </a:pPr>
              <a:r>
                <a:rPr b="0">
                  <a:latin typeface="PingFang SC Semibold"/>
                  <a:ea typeface="PingFang SC Semibold"/>
                  <a:cs typeface="PingFang SC Semibold"/>
                  <a:sym typeface="PingFang SC Semibold"/>
                </a:rPr>
                <a:t>业务数据库</a:t>
              </a:r>
            </a:p>
          </p:txBody>
        </p:sp>
      </p:grpSp>
      <p:grpSp>
        <p:nvGrpSpPr>
          <p:cNvPr id="182" name="Box 25"/>
          <p:cNvGrpSpPr/>
          <p:nvPr/>
        </p:nvGrpSpPr>
        <p:grpSpPr>
          <a:xfrm>
            <a:off x="4224528" y="3493008"/>
            <a:ext cx="1993393" cy="566929"/>
            <a:chOff x="0" y="0"/>
            <a:chExt cx="1993392" cy="566927"/>
          </a:xfrm>
        </p:grpSpPr>
        <p:sp>
          <p:nvSpPr>
            <p:cNvPr id="180" name="圆角矩形"/>
            <p:cNvSpPr/>
            <p:nvPr/>
          </p:nvSpPr>
          <p:spPr>
            <a:xfrm>
              <a:off x="0" y="0"/>
              <a:ext cx="1993393" cy="566928"/>
            </a:xfrm>
            <a:prstGeom prst="roundRect">
              <a:avLst>
                <a:gd name="adj" fmla="val 16667"/>
              </a:avLst>
            </a:prstGeom>
            <a:solidFill>
              <a:srgbClr val="F6F3EA"/>
            </a:solidFill>
            <a:ln w="12700" cap="flat">
              <a:solidFill>
                <a:srgbClr val="B7C7BA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100"/>
              </a:pPr>
            </a:p>
          </p:txBody>
        </p:sp>
        <p:sp>
          <p:nvSpPr>
            <p:cNvPr id="181" name="向量数据库"/>
            <p:cNvSpPr txBox="1"/>
            <p:nvPr/>
          </p:nvSpPr>
          <p:spPr>
            <a:xfrm>
              <a:off x="70601" y="145287"/>
              <a:ext cx="1852190" cy="27635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576" tIns="36576" rIns="36576" bIns="36576" numCol="1" anchor="ctr">
              <a:spAutoFit/>
            </a:bodyPr>
            <a:lstStyle>
              <a:lvl1pPr algn="ctr">
                <a:defRPr sz="1100">
                  <a:solidFill>
                    <a:srgbClr val="24332B"/>
                  </a:solidFill>
                  <a:latin typeface="PingFang SC Semibold"/>
                  <a:ea typeface="PingFang SC Semibold"/>
                  <a:cs typeface="PingFang SC Semibold"/>
                  <a:sym typeface="PingFang SC Semibold"/>
                </a:defRPr>
              </a:lvl1pPr>
            </a:lstStyle>
            <a:p>
              <a:pPr>
                <a:defRPr b="1">
                  <a:latin typeface="Aptos"/>
                  <a:ea typeface="Aptos"/>
                  <a:cs typeface="Aptos"/>
                  <a:sym typeface="Aptos"/>
                </a:defRPr>
              </a:pPr>
              <a:r>
                <a:rPr b="0">
                  <a:latin typeface="PingFang SC Semibold"/>
                  <a:ea typeface="PingFang SC Semibold"/>
                  <a:cs typeface="PingFang SC Semibold"/>
                  <a:sym typeface="PingFang SC Semibold"/>
                </a:rPr>
                <a:t>向量数据库</a:t>
              </a:r>
            </a:p>
          </p:txBody>
        </p:sp>
      </p:grpSp>
      <p:grpSp>
        <p:nvGrpSpPr>
          <p:cNvPr id="185" name="Box 26"/>
          <p:cNvGrpSpPr/>
          <p:nvPr/>
        </p:nvGrpSpPr>
        <p:grpSpPr>
          <a:xfrm>
            <a:off x="6483096" y="3493008"/>
            <a:ext cx="1993393" cy="566929"/>
            <a:chOff x="0" y="0"/>
            <a:chExt cx="1993392" cy="566927"/>
          </a:xfrm>
        </p:grpSpPr>
        <p:sp>
          <p:nvSpPr>
            <p:cNvPr id="183" name="圆角矩形"/>
            <p:cNvSpPr/>
            <p:nvPr/>
          </p:nvSpPr>
          <p:spPr>
            <a:xfrm>
              <a:off x="0" y="0"/>
              <a:ext cx="1993393" cy="566928"/>
            </a:xfrm>
            <a:prstGeom prst="roundRect">
              <a:avLst>
                <a:gd name="adj" fmla="val 16667"/>
              </a:avLst>
            </a:prstGeom>
            <a:solidFill>
              <a:srgbClr val="F6F3EA"/>
            </a:solidFill>
            <a:ln w="12700" cap="flat">
              <a:solidFill>
                <a:srgbClr val="B7C7BA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100"/>
              </a:pPr>
            </a:p>
          </p:txBody>
        </p:sp>
        <p:sp>
          <p:nvSpPr>
            <p:cNvPr id="184" name="时序数据"/>
            <p:cNvSpPr txBox="1"/>
            <p:nvPr/>
          </p:nvSpPr>
          <p:spPr>
            <a:xfrm>
              <a:off x="70601" y="145287"/>
              <a:ext cx="1852190" cy="27635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576" tIns="36576" rIns="36576" bIns="36576" numCol="1" anchor="ctr">
              <a:spAutoFit/>
            </a:bodyPr>
            <a:lstStyle>
              <a:lvl1pPr algn="ctr">
                <a:defRPr sz="1100">
                  <a:solidFill>
                    <a:srgbClr val="24332B"/>
                  </a:solidFill>
                  <a:latin typeface="PingFang SC Semibold"/>
                  <a:ea typeface="PingFang SC Semibold"/>
                  <a:cs typeface="PingFang SC Semibold"/>
                  <a:sym typeface="PingFang SC Semibold"/>
                </a:defRPr>
              </a:lvl1pPr>
            </a:lstStyle>
            <a:p>
              <a:pPr>
                <a:defRPr b="1">
                  <a:latin typeface="Aptos"/>
                  <a:ea typeface="Aptos"/>
                  <a:cs typeface="Aptos"/>
                  <a:sym typeface="Aptos"/>
                </a:defRPr>
              </a:pPr>
              <a:r>
                <a:rPr b="0">
                  <a:latin typeface="PingFang SC Semibold"/>
                  <a:ea typeface="PingFang SC Semibold"/>
                  <a:cs typeface="PingFang SC Semibold"/>
                  <a:sym typeface="PingFang SC Semibold"/>
                </a:rPr>
                <a:t>时序数据</a:t>
              </a:r>
            </a:p>
          </p:txBody>
        </p:sp>
      </p:grpSp>
      <p:grpSp>
        <p:nvGrpSpPr>
          <p:cNvPr id="188" name="Box 27"/>
          <p:cNvGrpSpPr/>
          <p:nvPr/>
        </p:nvGrpSpPr>
        <p:grpSpPr>
          <a:xfrm>
            <a:off x="8741664" y="3493008"/>
            <a:ext cx="1993393" cy="566929"/>
            <a:chOff x="0" y="0"/>
            <a:chExt cx="1993392" cy="566927"/>
          </a:xfrm>
        </p:grpSpPr>
        <p:sp>
          <p:nvSpPr>
            <p:cNvPr id="186" name="圆角矩形"/>
            <p:cNvSpPr/>
            <p:nvPr/>
          </p:nvSpPr>
          <p:spPr>
            <a:xfrm>
              <a:off x="0" y="0"/>
              <a:ext cx="1993393" cy="566928"/>
            </a:xfrm>
            <a:prstGeom prst="roundRect">
              <a:avLst>
                <a:gd name="adj" fmla="val 16667"/>
              </a:avLst>
            </a:prstGeom>
            <a:solidFill>
              <a:srgbClr val="F6F3EA"/>
            </a:solidFill>
            <a:ln w="12700" cap="flat">
              <a:solidFill>
                <a:srgbClr val="B7C7BA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100"/>
              </a:pPr>
            </a:p>
          </p:txBody>
        </p:sp>
        <p:sp>
          <p:nvSpPr>
            <p:cNvPr id="187" name="对象存储"/>
            <p:cNvSpPr txBox="1"/>
            <p:nvPr/>
          </p:nvSpPr>
          <p:spPr>
            <a:xfrm>
              <a:off x="70601" y="145287"/>
              <a:ext cx="1852190" cy="27635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576" tIns="36576" rIns="36576" bIns="36576" numCol="1" anchor="ctr">
              <a:spAutoFit/>
            </a:bodyPr>
            <a:lstStyle>
              <a:lvl1pPr algn="ctr">
                <a:defRPr sz="1100">
                  <a:solidFill>
                    <a:srgbClr val="24332B"/>
                  </a:solidFill>
                  <a:latin typeface="PingFang SC Semibold"/>
                  <a:ea typeface="PingFang SC Semibold"/>
                  <a:cs typeface="PingFang SC Semibold"/>
                  <a:sym typeface="PingFang SC Semibold"/>
                </a:defRPr>
              </a:lvl1pPr>
            </a:lstStyle>
            <a:p>
              <a:pPr>
                <a:defRPr b="1">
                  <a:latin typeface="Aptos"/>
                  <a:ea typeface="Aptos"/>
                  <a:cs typeface="Aptos"/>
                  <a:sym typeface="Aptos"/>
                </a:defRPr>
              </a:pPr>
              <a:r>
                <a:rPr b="0">
                  <a:latin typeface="PingFang SC Semibold"/>
                  <a:ea typeface="PingFang SC Semibold"/>
                  <a:cs typeface="PingFang SC Semibold"/>
                  <a:sym typeface="PingFang SC Semibold"/>
                </a:rPr>
                <a:t>对象存储</a:t>
              </a:r>
            </a:p>
          </p:txBody>
        </p:sp>
      </p:grpSp>
      <p:grpSp>
        <p:nvGrpSpPr>
          <p:cNvPr id="191" name="Box 28"/>
          <p:cNvGrpSpPr/>
          <p:nvPr/>
        </p:nvGrpSpPr>
        <p:grpSpPr>
          <a:xfrm>
            <a:off x="658368" y="4261103"/>
            <a:ext cx="1143001" cy="566929"/>
            <a:chOff x="0" y="0"/>
            <a:chExt cx="1143000" cy="566927"/>
          </a:xfrm>
        </p:grpSpPr>
        <p:sp>
          <p:nvSpPr>
            <p:cNvPr id="189" name="圆角矩形"/>
            <p:cNvSpPr/>
            <p:nvPr/>
          </p:nvSpPr>
          <p:spPr>
            <a:xfrm>
              <a:off x="0" y="0"/>
              <a:ext cx="1143000" cy="566928"/>
            </a:xfrm>
            <a:prstGeom prst="roundRect">
              <a:avLst>
                <a:gd name="adj" fmla="val 16667"/>
              </a:avLst>
            </a:prstGeom>
            <a:solidFill>
              <a:srgbClr val="785F3C"/>
            </a:solidFill>
            <a:ln w="12700" cap="flat">
              <a:solidFill>
                <a:srgbClr val="785F3C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100"/>
              </a:pPr>
            </a:p>
          </p:txBody>
        </p:sp>
        <p:sp>
          <p:nvSpPr>
            <p:cNvPr id="190" name="集成层"/>
            <p:cNvSpPr txBox="1"/>
            <p:nvPr/>
          </p:nvSpPr>
          <p:spPr>
            <a:xfrm>
              <a:off x="70601" y="145287"/>
              <a:ext cx="1001798" cy="27635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576" tIns="36576" rIns="36576" bIns="36576" numCol="1" anchor="ctr">
              <a:spAutoFit/>
            </a:bodyPr>
            <a:lstStyle>
              <a:lvl1pPr algn="ctr">
                <a:defRPr sz="1100">
                  <a:solidFill>
                    <a:srgbClr val="FFFFFF"/>
                  </a:solidFill>
                  <a:latin typeface="PingFang SC Semibold"/>
                  <a:ea typeface="PingFang SC Semibold"/>
                  <a:cs typeface="PingFang SC Semibold"/>
                  <a:sym typeface="PingFang SC Semibold"/>
                </a:defRPr>
              </a:lvl1pPr>
            </a:lstStyle>
            <a:p>
              <a:pPr>
                <a:defRPr b="1">
                  <a:latin typeface="Aptos"/>
                  <a:ea typeface="Aptos"/>
                  <a:cs typeface="Aptos"/>
                  <a:sym typeface="Aptos"/>
                </a:defRPr>
              </a:pPr>
              <a:r>
                <a:rPr b="0">
                  <a:latin typeface="PingFang SC Semibold"/>
                  <a:ea typeface="PingFang SC Semibold"/>
                  <a:cs typeface="PingFang SC Semibold"/>
                  <a:sym typeface="PingFang SC Semibold"/>
                </a:rPr>
                <a:t>集成层</a:t>
              </a:r>
            </a:p>
          </p:txBody>
        </p:sp>
      </p:grpSp>
      <p:grpSp>
        <p:nvGrpSpPr>
          <p:cNvPr id="194" name="Box 29"/>
          <p:cNvGrpSpPr/>
          <p:nvPr/>
        </p:nvGrpSpPr>
        <p:grpSpPr>
          <a:xfrm>
            <a:off x="1965960" y="4261103"/>
            <a:ext cx="2697480" cy="566929"/>
            <a:chOff x="0" y="0"/>
            <a:chExt cx="2697479" cy="566927"/>
          </a:xfrm>
        </p:grpSpPr>
        <p:sp>
          <p:nvSpPr>
            <p:cNvPr id="192" name="圆角矩形"/>
            <p:cNvSpPr/>
            <p:nvPr/>
          </p:nvSpPr>
          <p:spPr>
            <a:xfrm>
              <a:off x="0" y="0"/>
              <a:ext cx="2697480" cy="566928"/>
            </a:xfrm>
            <a:prstGeom prst="roundRect">
              <a:avLst>
                <a:gd name="adj" fmla="val 16667"/>
              </a:avLst>
            </a:prstGeom>
            <a:solidFill>
              <a:srgbClr val="F7EFE3"/>
            </a:solidFill>
            <a:ln w="12700" cap="flat">
              <a:solidFill>
                <a:srgbClr val="C4AA72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100"/>
              </a:pPr>
            </a:p>
          </p:txBody>
        </p:sp>
        <p:sp>
          <p:nvSpPr>
            <p:cNvPr id="193" name="标准 API / 连接器"/>
            <p:cNvSpPr txBox="1"/>
            <p:nvPr/>
          </p:nvSpPr>
          <p:spPr>
            <a:xfrm>
              <a:off x="70600" y="145287"/>
              <a:ext cx="2556280" cy="27635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576" tIns="36576" rIns="36576" bIns="36576" numCol="1" anchor="ctr">
              <a:spAutoFit/>
            </a:bodyPr>
            <a:lstStyle/>
            <a:p>
              <a:pPr algn="ctr">
                <a:defRPr b="1" sz="1100">
                  <a:solidFill>
                    <a:srgbClr val="24332B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rPr b="0">
                  <a:latin typeface="PingFang SC Semibold"/>
                  <a:ea typeface="PingFang SC Semibold"/>
                  <a:cs typeface="PingFang SC Semibold"/>
                  <a:sym typeface="PingFang SC Semibold"/>
                </a:rPr>
                <a:t>标准 </a:t>
              </a:r>
              <a:r>
                <a:t>API / </a:t>
              </a:r>
              <a:r>
                <a:rPr b="0">
                  <a:latin typeface="PingFang SC Semibold"/>
                  <a:ea typeface="PingFang SC Semibold"/>
                  <a:cs typeface="PingFang SC Semibold"/>
                  <a:sym typeface="PingFang SC Semibold"/>
                </a:rPr>
                <a:t>连接器</a:t>
              </a:r>
            </a:p>
          </p:txBody>
        </p:sp>
      </p:grpSp>
      <p:grpSp>
        <p:nvGrpSpPr>
          <p:cNvPr id="197" name="Box 30"/>
          <p:cNvGrpSpPr/>
          <p:nvPr/>
        </p:nvGrpSpPr>
        <p:grpSpPr>
          <a:xfrm>
            <a:off x="4965191" y="4261103"/>
            <a:ext cx="2697481" cy="566929"/>
            <a:chOff x="0" y="0"/>
            <a:chExt cx="2697479" cy="566927"/>
          </a:xfrm>
        </p:grpSpPr>
        <p:sp>
          <p:nvSpPr>
            <p:cNvPr id="195" name="圆角矩形"/>
            <p:cNvSpPr/>
            <p:nvPr/>
          </p:nvSpPr>
          <p:spPr>
            <a:xfrm>
              <a:off x="0" y="0"/>
              <a:ext cx="2697480" cy="566928"/>
            </a:xfrm>
            <a:prstGeom prst="roundRect">
              <a:avLst>
                <a:gd name="adj" fmla="val 16667"/>
              </a:avLst>
            </a:prstGeom>
            <a:solidFill>
              <a:srgbClr val="F7EFE3"/>
            </a:solidFill>
            <a:ln w="12700" cap="flat">
              <a:solidFill>
                <a:srgbClr val="C4AA72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100"/>
              </a:pPr>
            </a:p>
          </p:txBody>
        </p:sp>
        <p:sp>
          <p:nvSpPr>
            <p:cNvPr id="196" name="数据映射与校验"/>
            <p:cNvSpPr txBox="1"/>
            <p:nvPr/>
          </p:nvSpPr>
          <p:spPr>
            <a:xfrm>
              <a:off x="70600" y="145287"/>
              <a:ext cx="2556280" cy="27635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576" tIns="36576" rIns="36576" bIns="36576" numCol="1" anchor="ctr">
              <a:spAutoFit/>
            </a:bodyPr>
            <a:lstStyle>
              <a:lvl1pPr algn="ctr">
                <a:defRPr sz="1100">
                  <a:solidFill>
                    <a:srgbClr val="24332B"/>
                  </a:solidFill>
                  <a:latin typeface="PingFang SC Semibold"/>
                  <a:ea typeface="PingFang SC Semibold"/>
                  <a:cs typeface="PingFang SC Semibold"/>
                  <a:sym typeface="PingFang SC Semibold"/>
                </a:defRPr>
              </a:lvl1pPr>
            </a:lstStyle>
            <a:p>
              <a:pPr>
                <a:defRPr b="1">
                  <a:latin typeface="Aptos"/>
                  <a:ea typeface="Aptos"/>
                  <a:cs typeface="Aptos"/>
                  <a:sym typeface="Aptos"/>
                </a:defRPr>
              </a:pPr>
              <a:r>
                <a:rPr b="0">
                  <a:latin typeface="PingFang SC Semibold"/>
                  <a:ea typeface="PingFang SC Semibold"/>
                  <a:cs typeface="PingFang SC Semibold"/>
                  <a:sym typeface="PingFang SC Semibold"/>
                </a:rPr>
                <a:t>数据映射与校验</a:t>
              </a:r>
            </a:p>
          </p:txBody>
        </p:sp>
      </p:grpSp>
      <p:grpSp>
        <p:nvGrpSpPr>
          <p:cNvPr id="200" name="Box 31"/>
          <p:cNvGrpSpPr/>
          <p:nvPr/>
        </p:nvGrpSpPr>
        <p:grpSpPr>
          <a:xfrm>
            <a:off x="7964423" y="4261103"/>
            <a:ext cx="2697481" cy="566929"/>
            <a:chOff x="0" y="0"/>
            <a:chExt cx="2697479" cy="566927"/>
          </a:xfrm>
        </p:grpSpPr>
        <p:sp>
          <p:nvSpPr>
            <p:cNvPr id="198" name="圆角矩形"/>
            <p:cNvSpPr/>
            <p:nvPr/>
          </p:nvSpPr>
          <p:spPr>
            <a:xfrm>
              <a:off x="0" y="0"/>
              <a:ext cx="2697480" cy="566928"/>
            </a:xfrm>
            <a:prstGeom prst="roundRect">
              <a:avLst>
                <a:gd name="adj" fmla="val 16667"/>
              </a:avLst>
            </a:prstGeom>
            <a:solidFill>
              <a:srgbClr val="F7EFE3"/>
            </a:solidFill>
            <a:ln w="12700" cap="flat">
              <a:solidFill>
                <a:srgbClr val="C4AA72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100"/>
              </a:pPr>
            </a:p>
          </p:txBody>
        </p:sp>
        <p:sp>
          <p:nvSpPr>
            <p:cNvPr id="199" name="边缘网关 / 协议适配"/>
            <p:cNvSpPr txBox="1"/>
            <p:nvPr/>
          </p:nvSpPr>
          <p:spPr>
            <a:xfrm>
              <a:off x="70600" y="145287"/>
              <a:ext cx="2556280" cy="27635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576" tIns="36576" rIns="36576" bIns="36576" numCol="1" anchor="ctr">
              <a:spAutoFit/>
            </a:bodyPr>
            <a:lstStyle/>
            <a:p>
              <a:pPr algn="ctr">
                <a:defRPr b="1" sz="1100">
                  <a:solidFill>
                    <a:srgbClr val="24332B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rPr b="0">
                  <a:latin typeface="PingFang SC Semibold"/>
                  <a:ea typeface="PingFang SC Semibold"/>
                  <a:cs typeface="PingFang SC Semibold"/>
                  <a:sym typeface="PingFang SC Semibold"/>
                </a:rPr>
                <a:t>边缘网关 </a:t>
              </a:r>
              <a:r>
                <a:t>/ </a:t>
              </a:r>
              <a:r>
                <a:rPr b="0">
                  <a:latin typeface="PingFang SC Semibold"/>
                  <a:ea typeface="PingFang SC Semibold"/>
                  <a:cs typeface="PingFang SC Semibold"/>
                  <a:sym typeface="PingFang SC Semibold"/>
                </a:rPr>
                <a:t>协议适配</a:t>
              </a:r>
            </a:p>
          </p:txBody>
        </p:sp>
      </p:grpSp>
      <p:sp>
        <p:nvSpPr>
          <p:cNvPr id="201" name="Connector 33"/>
          <p:cNvSpPr/>
          <p:nvPr/>
        </p:nvSpPr>
        <p:spPr>
          <a:xfrm>
            <a:off x="5614415" y="5001767"/>
            <a:ext cx="9145" cy="237744"/>
          </a:xfrm>
          <a:prstGeom prst="line">
            <a:avLst/>
          </a:prstGeom>
          <a:ln w="19050">
            <a:solidFill>
              <a:srgbClr val="7B9284"/>
            </a:solidFill>
            <a:tailEnd type="triangle"/>
          </a:ln>
        </p:spPr>
        <p:txBody>
          <a:bodyPr lIns="45719" rIns="45719"/>
          <a:lstStyle/>
          <a:p>
            <a:pPr/>
          </a:p>
        </p:txBody>
      </p:sp>
      <p:grpSp>
        <p:nvGrpSpPr>
          <p:cNvPr id="204" name="Box 35"/>
          <p:cNvGrpSpPr/>
          <p:nvPr/>
        </p:nvGrpSpPr>
        <p:grpSpPr>
          <a:xfrm>
            <a:off x="1874520" y="5230367"/>
            <a:ext cx="1609345" cy="502921"/>
            <a:chOff x="0" y="0"/>
            <a:chExt cx="1609344" cy="502919"/>
          </a:xfrm>
        </p:grpSpPr>
        <p:sp>
          <p:nvSpPr>
            <p:cNvPr id="202" name="圆角矩形"/>
            <p:cNvSpPr/>
            <p:nvPr/>
          </p:nvSpPr>
          <p:spPr>
            <a:xfrm>
              <a:off x="0" y="0"/>
              <a:ext cx="1609345" cy="502920"/>
            </a:xfrm>
            <a:prstGeom prst="roundRect">
              <a:avLst>
                <a:gd name="adj" fmla="val 16667"/>
              </a:avLst>
            </a:prstGeom>
            <a:solidFill>
              <a:srgbClr val="F2F0EA"/>
            </a:solidFill>
            <a:ln w="12700" cap="flat">
              <a:solidFill>
                <a:srgbClr val="A8A39A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000"/>
              </a:pPr>
            </a:p>
          </p:txBody>
        </p:sp>
        <p:sp>
          <p:nvSpPr>
            <p:cNvPr id="203" name="设备 / PLC / 仪器"/>
            <p:cNvSpPr txBox="1"/>
            <p:nvPr/>
          </p:nvSpPr>
          <p:spPr>
            <a:xfrm>
              <a:off x="67475" y="125983"/>
              <a:ext cx="1474394" cy="2509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576" tIns="36576" rIns="36576" bIns="36576" numCol="1" anchor="ctr">
              <a:spAutoFit/>
            </a:bodyPr>
            <a:lstStyle/>
            <a:p>
              <a:pPr algn="ctr">
                <a:defRPr b="1" sz="1000">
                  <a:solidFill>
                    <a:srgbClr val="24332B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rPr b="0">
                  <a:latin typeface="PingFang SC Semibold"/>
                  <a:ea typeface="PingFang SC Semibold"/>
                  <a:cs typeface="PingFang SC Semibold"/>
                  <a:sym typeface="PingFang SC Semibold"/>
                </a:rPr>
                <a:t>设备 </a:t>
              </a:r>
              <a:r>
                <a:t>/ PLC / </a:t>
              </a:r>
              <a:r>
                <a:rPr b="0">
                  <a:latin typeface="PingFang SC Semibold"/>
                  <a:ea typeface="PingFang SC Semibold"/>
                  <a:cs typeface="PingFang SC Semibold"/>
                  <a:sym typeface="PingFang SC Semibold"/>
                </a:rPr>
                <a:t>仪器</a:t>
              </a:r>
            </a:p>
          </p:txBody>
        </p:sp>
      </p:grpSp>
      <p:grpSp>
        <p:nvGrpSpPr>
          <p:cNvPr id="207" name="Box 36"/>
          <p:cNvGrpSpPr/>
          <p:nvPr/>
        </p:nvGrpSpPr>
        <p:grpSpPr>
          <a:xfrm>
            <a:off x="3739896" y="5230367"/>
            <a:ext cx="1609345" cy="502921"/>
            <a:chOff x="0" y="0"/>
            <a:chExt cx="1609344" cy="502919"/>
          </a:xfrm>
        </p:grpSpPr>
        <p:sp>
          <p:nvSpPr>
            <p:cNvPr id="205" name="圆角矩形"/>
            <p:cNvSpPr/>
            <p:nvPr/>
          </p:nvSpPr>
          <p:spPr>
            <a:xfrm>
              <a:off x="0" y="0"/>
              <a:ext cx="1609345" cy="502920"/>
            </a:xfrm>
            <a:prstGeom prst="roundRect">
              <a:avLst>
                <a:gd name="adj" fmla="val 16667"/>
              </a:avLst>
            </a:prstGeom>
            <a:solidFill>
              <a:srgbClr val="F2F0EA"/>
            </a:solidFill>
            <a:ln w="12700" cap="flat">
              <a:solidFill>
                <a:srgbClr val="A8A39A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000"/>
              </a:pPr>
            </a:p>
          </p:txBody>
        </p:sp>
        <p:sp>
          <p:nvSpPr>
            <p:cNvPr id="206" name="MES"/>
            <p:cNvSpPr txBox="1"/>
            <p:nvPr/>
          </p:nvSpPr>
          <p:spPr>
            <a:xfrm>
              <a:off x="67475" y="138683"/>
              <a:ext cx="1474394" cy="2255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576" tIns="36576" rIns="36576" bIns="36576" numCol="1" anchor="ctr">
              <a:spAutoFit/>
            </a:bodyPr>
            <a:lstStyle>
              <a:lvl1pPr algn="ctr">
                <a:defRPr b="1" sz="1000">
                  <a:solidFill>
                    <a:srgbClr val="24332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MES</a:t>
              </a:r>
            </a:p>
          </p:txBody>
        </p:sp>
      </p:grpSp>
      <p:grpSp>
        <p:nvGrpSpPr>
          <p:cNvPr id="210" name="Box 37"/>
          <p:cNvGrpSpPr/>
          <p:nvPr/>
        </p:nvGrpSpPr>
        <p:grpSpPr>
          <a:xfrm>
            <a:off x="5605271" y="5230367"/>
            <a:ext cx="1609345" cy="502921"/>
            <a:chOff x="0" y="0"/>
            <a:chExt cx="1609344" cy="502919"/>
          </a:xfrm>
        </p:grpSpPr>
        <p:sp>
          <p:nvSpPr>
            <p:cNvPr id="208" name="圆角矩形"/>
            <p:cNvSpPr/>
            <p:nvPr/>
          </p:nvSpPr>
          <p:spPr>
            <a:xfrm>
              <a:off x="0" y="0"/>
              <a:ext cx="1609345" cy="502920"/>
            </a:xfrm>
            <a:prstGeom prst="roundRect">
              <a:avLst>
                <a:gd name="adj" fmla="val 16667"/>
              </a:avLst>
            </a:prstGeom>
            <a:solidFill>
              <a:srgbClr val="F2F0EA"/>
            </a:solidFill>
            <a:ln w="12700" cap="flat">
              <a:solidFill>
                <a:srgbClr val="A8A39A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000"/>
              </a:pPr>
            </a:p>
          </p:txBody>
        </p:sp>
        <p:sp>
          <p:nvSpPr>
            <p:cNvPr id="209" name="QMS"/>
            <p:cNvSpPr txBox="1"/>
            <p:nvPr/>
          </p:nvSpPr>
          <p:spPr>
            <a:xfrm>
              <a:off x="67475" y="138683"/>
              <a:ext cx="1474394" cy="2255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576" tIns="36576" rIns="36576" bIns="36576" numCol="1" anchor="ctr">
              <a:spAutoFit/>
            </a:bodyPr>
            <a:lstStyle>
              <a:lvl1pPr algn="ctr">
                <a:defRPr b="1" sz="1000">
                  <a:solidFill>
                    <a:srgbClr val="24332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QMS</a:t>
              </a:r>
            </a:p>
          </p:txBody>
        </p:sp>
      </p:grpSp>
      <p:grpSp>
        <p:nvGrpSpPr>
          <p:cNvPr id="213" name="Box 38"/>
          <p:cNvGrpSpPr/>
          <p:nvPr/>
        </p:nvGrpSpPr>
        <p:grpSpPr>
          <a:xfrm>
            <a:off x="7470647" y="5230367"/>
            <a:ext cx="1609345" cy="502921"/>
            <a:chOff x="0" y="0"/>
            <a:chExt cx="1609344" cy="502919"/>
          </a:xfrm>
        </p:grpSpPr>
        <p:sp>
          <p:nvSpPr>
            <p:cNvPr id="211" name="圆角矩形"/>
            <p:cNvSpPr/>
            <p:nvPr/>
          </p:nvSpPr>
          <p:spPr>
            <a:xfrm>
              <a:off x="0" y="0"/>
              <a:ext cx="1609345" cy="502920"/>
            </a:xfrm>
            <a:prstGeom prst="roundRect">
              <a:avLst>
                <a:gd name="adj" fmla="val 16667"/>
              </a:avLst>
            </a:prstGeom>
            <a:solidFill>
              <a:srgbClr val="F2F0EA"/>
            </a:solidFill>
            <a:ln w="12700" cap="flat">
              <a:solidFill>
                <a:srgbClr val="A8A39A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000"/>
              </a:pPr>
            </a:p>
          </p:txBody>
        </p:sp>
        <p:sp>
          <p:nvSpPr>
            <p:cNvPr id="212" name="ERP / PLM"/>
            <p:cNvSpPr txBox="1"/>
            <p:nvPr/>
          </p:nvSpPr>
          <p:spPr>
            <a:xfrm>
              <a:off x="67475" y="138683"/>
              <a:ext cx="1474394" cy="2255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576" tIns="36576" rIns="36576" bIns="36576" numCol="1" anchor="ctr">
              <a:spAutoFit/>
            </a:bodyPr>
            <a:lstStyle>
              <a:lvl1pPr algn="ctr">
                <a:defRPr b="1" sz="1000">
                  <a:solidFill>
                    <a:srgbClr val="24332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ERP / PLM</a:t>
              </a:r>
            </a:p>
          </p:txBody>
        </p:sp>
      </p:grpSp>
      <p:grpSp>
        <p:nvGrpSpPr>
          <p:cNvPr id="216" name="Box 39"/>
          <p:cNvGrpSpPr/>
          <p:nvPr/>
        </p:nvGrpSpPr>
        <p:grpSpPr>
          <a:xfrm>
            <a:off x="9336023" y="5230367"/>
            <a:ext cx="1609345" cy="502921"/>
            <a:chOff x="0" y="0"/>
            <a:chExt cx="1609344" cy="502919"/>
          </a:xfrm>
        </p:grpSpPr>
        <p:sp>
          <p:nvSpPr>
            <p:cNvPr id="214" name="圆角矩形"/>
            <p:cNvSpPr/>
            <p:nvPr/>
          </p:nvSpPr>
          <p:spPr>
            <a:xfrm>
              <a:off x="0" y="0"/>
              <a:ext cx="1609345" cy="502920"/>
            </a:xfrm>
            <a:prstGeom prst="roundRect">
              <a:avLst>
                <a:gd name="adj" fmla="val 16667"/>
              </a:avLst>
            </a:prstGeom>
            <a:solidFill>
              <a:srgbClr val="F2F0EA"/>
            </a:solidFill>
            <a:ln w="12700" cap="flat">
              <a:solidFill>
                <a:srgbClr val="A8A39A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000"/>
              </a:pPr>
            </a:p>
          </p:txBody>
        </p:sp>
        <p:sp>
          <p:nvSpPr>
            <p:cNvPr id="215" name="法规及外部数据"/>
            <p:cNvSpPr txBox="1"/>
            <p:nvPr/>
          </p:nvSpPr>
          <p:spPr>
            <a:xfrm>
              <a:off x="67475" y="125983"/>
              <a:ext cx="1474394" cy="2509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576" tIns="36576" rIns="36576" bIns="36576" numCol="1" anchor="ctr">
              <a:spAutoFit/>
            </a:bodyPr>
            <a:lstStyle>
              <a:lvl1pPr algn="ctr">
                <a:defRPr sz="1000">
                  <a:solidFill>
                    <a:srgbClr val="24332B"/>
                  </a:solidFill>
                  <a:latin typeface="PingFang SC Semibold"/>
                  <a:ea typeface="PingFang SC Semibold"/>
                  <a:cs typeface="PingFang SC Semibold"/>
                  <a:sym typeface="PingFang SC Semibold"/>
                </a:defRPr>
              </a:lvl1pPr>
            </a:lstStyle>
            <a:p>
              <a:pPr>
                <a:defRPr b="1">
                  <a:latin typeface="Aptos"/>
                  <a:ea typeface="Aptos"/>
                  <a:cs typeface="Aptos"/>
                  <a:sym typeface="Aptos"/>
                </a:defRPr>
              </a:pPr>
              <a:r>
                <a:rPr b="0">
                  <a:latin typeface="PingFang SC Semibold"/>
                  <a:ea typeface="PingFang SC Semibold"/>
                  <a:cs typeface="PingFang SC Semibold"/>
                  <a:sym typeface="PingFang SC Semibold"/>
                </a:rPr>
                <a:t>法规及外部数据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Shape 0"/>
          <p:cNvSpPr/>
          <p:nvPr/>
        </p:nvSpPr>
        <p:spPr>
          <a:xfrm>
            <a:off x="-1" y="-1"/>
            <a:ext cx="12188954" cy="82298"/>
          </a:xfrm>
          <a:prstGeom prst="rect">
            <a:avLst/>
          </a:prstGeom>
          <a:solidFill>
            <a:srgbClr val="2C5F2D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19" name="Text 1"/>
          <p:cNvSpPr txBox="1"/>
          <p:nvPr/>
        </p:nvSpPr>
        <p:spPr>
          <a:xfrm>
            <a:off x="548639" y="467106"/>
            <a:ext cx="11064242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400">
                <a:solidFill>
                  <a:srgbClr val="1F422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渠道中心 · 做什么</a:t>
            </a:r>
          </a:p>
        </p:txBody>
      </p:sp>
      <p:sp>
        <p:nvSpPr>
          <p:cNvPr id="220" name="Text 2"/>
          <p:cNvSpPr txBox="1"/>
          <p:nvPr/>
        </p:nvSpPr>
        <p:spPr>
          <a:xfrm>
            <a:off x="548639" y="952753"/>
            <a:ext cx="11064242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三条线</a:t>
            </a:r>
          </a:p>
        </p:txBody>
      </p:sp>
      <p:sp>
        <p:nvSpPr>
          <p:cNvPr id="221" name="Text 3"/>
          <p:cNvSpPr txBox="1"/>
          <p:nvPr/>
        </p:nvSpPr>
        <p:spPr>
          <a:xfrm>
            <a:off x="10332719" y="6605269"/>
            <a:ext cx="128016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8 / 19</a:t>
            </a:r>
          </a:p>
        </p:txBody>
      </p:sp>
      <p:sp>
        <p:nvSpPr>
          <p:cNvPr id="222" name="Text 4"/>
          <p:cNvSpPr txBox="1"/>
          <p:nvPr/>
        </p:nvSpPr>
        <p:spPr>
          <a:xfrm>
            <a:off x="548640" y="6592569"/>
            <a:ext cx="7315201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稻生万物 · 能力中心与渠道中心建设规划</a:t>
            </a:r>
          </a:p>
        </p:txBody>
      </p:sp>
      <p:graphicFrame>
        <p:nvGraphicFramePr>
          <p:cNvPr id="223" name="Table 0"/>
          <p:cNvGraphicFramePr/>
          <p:nvPr/>
        </p:nvGraphicFramePr>
        <p:xfrm>
          <a:off x="548640" y="1325880"/>
          <a:ext cx="11064241" cy="3657601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1659635"/>
                <a:gridCol w="5200193"/>
                <a:gridCol w="4204411"/>
              </a:tblGrid>
              <a:tr h="9144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线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内容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考核口径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政府关系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产业政策跟踪与解读；专项申报的组织与材料准备；园区与管委会日常对接；地方标准与认证通道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过程指标为主：政策覆盖度、申报参与数、关系维护频次。获批与否不完全可控，不宜单一考核政策结果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合作伙伴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上游：稻壳供应、设备与集成商、检测仪表商。平行：高校院所、检测认证机构。下游：既有品牌客户（迪士尼、宜家、乐高、爱玛客、劳斯莱斯等）的持续经营、渠道商、承接成型的入驻企业。产能：合作产能的开发、评估与订单分配。生态：入驻企业招引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有效合作方数量、合作深度分级、单个伙伴带来的业务量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渠道销售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材料产品渠道分销；能力订阅销售（阶段三起）；认证代办等服务销售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订单额、回款、渠道覆盖。提成适用于本线，不覆盖前两条线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4" name="Shape 5"/>
          <p:cNvSpPr/>
          <p:nvPr/>
        </p:nvSpPr>
        <p:spPr>
          <a:xfrm>
            <a:off x="548639" y="5074920"/>
            <a:ext cx="11064242" cy="457201"/>
          </a:xfrm>
          <a:prstGeom prst="rect">
            <a:avLst/>
          </a:prstGeom>
          <a:solidFill>
            <a:srgbClr val="F5F1E8"/>
          </a:solidFill>
          <a:ln>
            <a:solidFill>
              <a:srgbClr val="E8DFC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25" name="Shape 6"/>
          <p:cNvSpPr/>
          <p:nvPr/>
        </p:nvSpPr>
        <p:spPr>
          <a:xfrm>
            <a:off x="548640" y="5074920"/>
            <a:ext cx="50293" cy="457201"/>
          </a:xfrm>
          <a:prstGeom prst="rect">
            <a:avLst/>
          </a:prstGeom>
          <a:solidFill>
            <a:srgbClr val="A87F5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26" name="Text 7"/>
          <p:cNvSpPr txBox="1"/>
          <p:nvPr/>
        </p:nvSpPr>
        <p:spPr>
          <a:xfrm>
            <a:off x="749808" y="5214620"/>
            <a:ext cx="10652760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阶段一即启动政府关系与合作伙伴两条线：政策窗口与关系建设都有前置期。渠道销售随材料产能爬坡在阶段二建线。</a:t>
            </a:r>
          </a:p>
        </p:txBody>
      </p:sp>
      <p:sp>
        <p:nvSpPr>
          <p:cNvPr id="227" name="Shape 8"/>
          <p:cNvSpPr/>
          <p:nvPr/>
        </p:nvSpPr>
        <p:spPr>
          <a:xfrm>
            <a:off x="548639" y="5669279"/>
            <a:ext cx="11064242" cy="457201"/>
          </a:xfrm>
          <a:prstGeom prst="rect">
            <a:avLst/>
          </a:prstGeom>
          <a:solidFill>
            <a:srgbClr val="F5F1E8"/>
          </a:solidFill>
          <a:ln>
            <a:solidFill>
              <a:srgbClr val="E8DFC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28" name="Shape 9"/>
          <p:cNvSpPr/>
          <p:nvPr/>
        </p:nvSpPr>
        <p:spPr>
          <a:xfrm>
            <a:off x="548640" y="5669279"/>
            <a:ext cx="50293" cy="457201"/>
          </a:xfrm>
          <a:prstGeom prst="rect">
            <a:avLst/>
          </a:prstGeom>
          <a:solidFill>
            <a:srgbClr val="A87F5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29" name="Text 10"/>
          <p:cNvSpPr txBox="1"/>
          <p:nvPr/>
        </p:nvSpPr>
        <p:spPr>
          <a:xfrm>
            <a:off x="749808" y="5808979"/>
            <a:ext cx="10652760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专项申报须提交供应商合同与发票，合同金额与内容进入官方留档，签约主体须与实际交付主体一致。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Shape 0"/>
          <p:cNvSpPr/>
          <p:nvPr/>
        </p:nvSpPr>
        <p:spPr>
          <a:xfrm>
            <a:off x="-1" y="-1"/>
            <a:ext cx="12188954" cy="82298"/>
          </a:xfrm>
          <a:prstGeom prst="rect">
            <a:avLst/>
          </a:prstGeom>
          <a:solidFill>
            <a:srgbClr val="2C5F2D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32" name="Text 1"/>
          <p:cNvSpPr txBox="1"/>
          <p:nvPr/>
        </p:nvSpPr>
        <p:spPr>
          <a:xfrm>
            <a:off x="548639" y="467106"/>
            <a:ext cx="11064242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400">
                <a:solidFill>
                  <a:srgbClr val="1F422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两个中心怎么配合</a:t>
            </a:r>
          </a:p>
        </p:txBody>
      </p:sp>
      <p:sp>
        <p:nvSpPr>
          <p:cNvPr id="233" name="Text 2"/>
          <p:cNvSpPr txBox="1"/>
          <p:nvPr/>
        </p:nvSpPr>
        <p:spPr>
          <a:xfrm>
            <a:off x="548639" y="952753"/>
            <a:ext cx="11064242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三个交接点</a:t>
            </a:r>
          </a:p>
        </p:txBody>
      </p:sp>
      <p:sp>
        <p:nvSpPr>
          <p:cNvPr id="234" name="Text 3"/>
          <p:cNvSpPr txBox="1"/>
          <p:nvPr/>
        </p:nvSpPr>
        <p:spPr>
          <a:xfrm>
            <a:off x="10332719" y="6605269"/>
            <a:ext cx="128016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9 / 19</a:t>
            </a:r>
          </a:p>
        </p:txBody>
      </p:sp>
      <p:sp>
        <p:nvSpPr>
          <p:cNvPr id="235" name="Text 4"/>
          <p:cNvSpPr txBox="1"/>
          <p:nvPr/>
        </p:nvSpPr>
        <p:spPr>
          <a:xfrm>
            <a:off x="548640" y="6592569"/>
            <a:ext cx="7315201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稻生万物 · 能力中心与渠道中心建设规划</a:t>
            </a:r>
          </a:p>
        </p:txBody>
      </p:sp>
      <p:graphicFrame>
        <p:nvGraphicFramePr>
          <p:cNvPr id="236" name="Table 0"/>
          <p:cNvGraphicFramePr/>
          <p:nvPr/>
        </p:nvGraphicFramePr>
        <p:xfrm>
          <a:off x="548640" y="1325880"/>
          <a:ext cx="11064239" cy="3108961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1991562"/>
                <a:gridCol w="4536338"/>
                <a:gridCol w="4536338"/>
              </a:tblGrid>
              <a:tr h="7772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接口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能力中心负责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渠道中心负责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招商智能体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建设产业链缺口分析与目标企业匹配能力；维护企业库与产业链模型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使用其输出作为线索池；反馈匹配质量以迭代模型；实际接洽与落地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认证服务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提供材料清单生成、申报书草稿、法规监测能力；沉淀既有品牌客户的审厂标准与对接档案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承接认证代办业务；组织人工审核与对外交付。智能体只出草稿，不代替人承诺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能力订阅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定义能力包边界、计量口径与数据隔离方案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定价、销售、客户成功；把付费意愿反馈回能力包设计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7" name="Shape 5"/>
          <p:cNvSpPr/>
          <p:nvPr/>
        </p:nvSpPr>
        <p:spPr>
          <a:xfrm>
            <a:off x="548639" y="4526279"/>
            <a:ext cx="11064242" cy="457201"/>
          </a:xfrm>
          <a:prstGeom prst="rect">
            <a:avLst/>
          </a:prstGeom>
          <a:solidFill>
            <a:srgbClr val="F5F1E8"/>
          </a:solidFill>
          <a:ln>
            <a:solidFill>
              <a:srgbClr val="E8DFC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38" name="Shape 6"/>
          <p:cNvSpPr/>
          <p:nvPr/>
        </p:nvSpPr>
        <p:spPr>
          <a:xfrm>
            <a:off x="548640" y="4526279"/>
            <a:ext cx="50293" cy="457201"/>
          </a:xfrm>
          <a:prstGeom prst="rect">
            <a:avLst/>
          </a:prstGeom>
          <a:solidFill>
            <a:srgbClr val="A87F5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39" name="Text 7"/>
          <p:cNvSpPr txBox="1"/>
          <p:nvPr/>
        </p:nvSpPr>
        <p:spPr>
          <a:xfrm>
            <a:off x="749808" y="4665979"/>
            <a:ext cx="10652760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一条约束：渠道中心对外销售的能力，限于已通过阶段验收的能力项。</a:t>
            </a:r>
          </a:p>
        </p:txBody>
      </p:sp>
      <p:sp>
        <p:nvSpPr>
          <p:cNvPr id="240" name="Shape 8"/>
          <p:cNvSpPr/>
          <p:nvPr/>
        </p:nvSpPr>
        <p:spPr>
          <a:xfrm>
            <a:off x="548639" y="5120640"/>
            <a:ext cx="11064242" cy="457201"/>
          </a:xfrm>
          <a:prstGeom prst="rect">
            <a:avLst/>
          </a:prstGeom>
          <a:solidFill>
            <a:srgbClr val="F5F1E8"/>
          </a:solidFill>
          <a:ln>
            <a:solidFill>
              <a:srgbClr val="E8DFC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41" name="Shape 9"/>
          <p:cNvSpPr/>
          <p:nvPr/>
        </p:nvSpPr>
        <p:spPr>
          <a:xfrm>
            <a:off x="548640" y="5120640"/>
            <a:ext cx="50293" cy="457201"/>
          </a:xfrm>
          <a:prstGeom prst="rect">
            <a:avLst/>
          </a:prstGeom>
          <a:solidFill>
            <a:srgbClr val="A87F5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42" name="Text 10"/>
          <p:cNvSpPr txBox="1"/>
          <p:nvPr/>
        </p:nvSpPr>
        <p:spPr>
          <a:xfrm>
            <a:off x="749808" y="5260339"/>
            <a:ext cx="10652760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业务专家由认证、工艺、招商三条线内部抽调，不新增编制。职责是演示业务流程供系统凝固，并核对复用结果。</a:t>
            </a:r>
          </a:p>
        </p:txBody>
      </p:sp>
      <p:sp>
        <p:nvSpPr>
          <p:cNvPr id="243" name="Shape 11"/>
          <p:cNvSpPr/>
          <p:nvPr/>
        </p:nvSpPr>
        <p:spPr>
          <a:xfrm>
            <a:off x="548639" y="5715000"/>
            <a:ext cx="11064242" cy="457200"/>
          </a:xfrm>
          <a:prstGeom prst="rect">
            <a:avLst/>
          </a:prstGeom>
          <a:solidFill>
            <a:srgbClr val="F5F1E8"/>
          </a:solidFill>
          <a:ln>
            <a:solidFill>
              <a:srgbClr val="E8DFC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44" name="Shape 12"/>
          <p:cNvSpPr/>
          <p:nvPr/>
        </p:nvSpPr>
        <p:spPr>
          <a:xfrm>
            <a:off x="548640" y="5715000"/>
            <a:ext cx="50293" cy="457200"/>
          </a:xfrm>
          <a:prstGeom prst="rect">
            <a:avLst/>
          </a:prstGeom>
          <a:solidFill>
            <a:srgbClr val="A87F5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45" name="Text 13"/>
          <p:cNvSpPr txBox="1"/>
          <p:nvPr/>
        </p:nvSpPr>
        <p:spPr>
          <a:xfrm>
            <a:off x="749808" y="5854700"/>
            <a:ext cx="10652760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建议以固定工时投入（如每周两个半天）并纳入所在部门考核。系统能凝固出什么，取决于演示了多少、演示得多完整。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Shape 0"/>
          <p:cNvSpPr/>
          <p:nvPr/>
        </p:nvSpPr>
        <p:spPr>
          <a:xfrm>
            <a:off x="-1" y="-1"/>
            <a:ext cx="12188954" cy="82298"/>
          </a:xfrm>
          <a:prstGeom prst="rect">
            <a:avLst/>
          </a:prstGeom>
          <a:solidFill>
            <a:srgbClr val="2C5F2D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48" name="Text 1"/>
          <p:cNvSpPr txBox="1"/>
          <p:nvPr/>
        </p:nvSpPr>
        <p:spPr>
          <a:xfrm>
            <a:off x="548639" y="467106"/>
            <a:ext cx="11064242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400">
                <a:solidFill>
                  <a:srgbClr val="1F422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参与方与责任边界</a:t>
            </a:r>
          </a:p>
        </p:txBody>
      </p:sp>
      <p:sp>
        <p:nvSpPr>
          <p:cNvPr id="249" name="Text 2"/>
          <p:cNvSpPr txBox="1"/>
          <p:nvPr/>
        </p:nvSpPr>
        <p:spPr>
          <a:xfrm>
            <a:off x="548639" y="952753"/>
            <a:ext cx="11064242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谁交付什么，规范由谁定、由谁实现</a:t>
            </a:r>
          </a:p>
        </p:txBody>
      </p:sp>
      <p:sp>
        <p:nvSpPr>
          <p:cNvPr id="250" name="Text 3"/>
          <p:cNvSpPr txBox="1"/>
          <p:nvPr/>
        </p:nvSpPr>
        <p:spPr>
          <a:xfrm>
            <a:off x="10332719" y="6605269"/>
            <a:ext cx="128016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10 / 19</a:t>
            </a:r>
          </a:p>
        </p:txBody>
      </p:sp>
      <p:sp>
        <p:nvSpPr>
          <p:cNvPr id="251" name="Text 4"/>
          <p:cNvSpPr txBox="1"/>
          <p:nvPr/>
        </p:nvSpPr>
        <p:spPr>
          <a:xfrm>
            <a:off x="548640" y="6592569"/>
            <a:ext cx="7315201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稻生万物 · 能力中心与渠道中心建设规划</a:t>
            </a:r>
          </a:p>
        </p:txBody>
      </p:sp>
      <p:graphicFrame>
        <p:nvGraphicFramePr>
          <p:cNvPr id="252" name="Table 0"/>
          <p:cNvGraphicFramePr/>
          <p:nvPr/>
        </p:nvGraphicFramePr>
        <p:xfrm>
          <a:off x="548640" y="1325880"/>
          <a:ext cx="11064241" cy="4535424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2212848"/>
                <a:gridCol w="4868266"/>
                <a:gridCol w="3983125"/>
              </a:tblGrid>
              <a:tr h="56692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参与方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交付范围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与能力中心的关系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稻生万物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建设主体。出资、编制、决策。业务数据与知识资产归属方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能力中心与渠道中心均为其内设部门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平台供应商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AI Native 技术底座（智能体编排、工具链、知识库、模型路由、审计）；基于现有产品完成底座定向适配（向量检索、远端 MCP 传输、OT 协议、多租户）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采购合同关系。能力中心负责需求定义与验收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应用开发方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五类智能体的业务实现、知识库内容工程、与集成商的联调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委托开发合同。可与平台供应商同源，避免「平台一家、应用另一家」的责任真空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系统集成商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电控与自动化集成、PLC 编程与组态、OT 侧点位接出、边缘网关的现场安装与接线、与 PLC 的联调。参数上下限硬约束由其在 PLC 侧组态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责任边界：能力中心定义数据接入规范与控制接口规范并提供网关硬件与软件，集成商负责现场落地与联调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设备供应商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产线设备本体、安全联锁与实时控制回路（含功能安全 SIL 等级认证）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不直接对接。设备侧点位由集成商统一接出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在线检测与仪表供应商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原料在线水分与粒径检测、粒料色选、板材测厚与表面视觉（板材线可选）；实验室试验机与熔指仪的数据接出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主数据来源：用于归因分析。能力中心定义检测项与采样频率，接检测数据做归因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检测认证机构 / 高校院所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第三方检测、认证受理；计算化学模拟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能力中心负责结果的结构化入库与实验数据关联验证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3" name="Shape 5"/>
          <p:cNvSpPr/>
          <p:nvPr/>
        </p:nvSpPr>
        <p:spPr>
          <a:xfrm>
            <a:off x="548639" y="5989320"/>
            <a:ext cx="11064242" cy="457201"/>
          </a:xfrm>
          <a:prstGeom prst="rect">
            <a:avLst/>
          </a:prstGeom>
          <a:solidFill>
            <a:srgbClr val="F5F1E8"/>
          </a:solidFill>
          <a:ln>
            <a:solidFill>
              <a:srgbClr val="E8DFC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54" name="Shape 6"/>
          <p:cNvSpPr/>
          <p:nvPr/>
        </p:nvSpPr>
        <p:spPr>
          <a:xfrm>
            <a:off x="548640" y="5989320"/>
            <a:ext cx="50293" cy="457201"/>
          </a:xfrm>
          <a:prstGeom prst="rect">
            <a:avLst/>
          </a:prstGeom>
          <a:solidFill>
            <a:srgbClr val="A87F5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55" name="Text 7"/>
          <p:cNvSpPr txBox="1"/>
          <p:nvPr/>
        </p:nvSpPr>
        <p:spPr>
          <a:xfrm>
            <a:off x="749808" y="6129020"/>
            <a:ext cx="10652760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系统集成商的选定须与产线设备定标同步：规范写好而承接方未定，等于没有交付对象。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Shape 0"/>
          <p:cNvSpPr/>
          <p:nvPr/>
        </p:nvSpPr>
        <p:spPr>
          <a:xfrm>
            <a:off x="-1" y="-1"/>
            <a:ext cx="12188954" cy="82298"/>
          </a:xfrm>
          <a:prstGeom prst="rect">
            <a:avLst/>
          </a:prstGeom>
          <a:solidFill>
            <a:srgbClr val="2C5F2D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58" name="Text 1"/>
          <p:cNvSpPr txBox="1"/>
          <p:nvPr/>
        </p:nvSpPr>
        <p:spPr>
          <a:xfrm>
            <a:off x="548639" y="467106"/>
            <a:ext cx="11064242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400">
                <a:solidFill>
                  <a:srgbClr val="1F422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设备与平台的边界</a:t>
            </a:r>
          </a:p>
        </p:txBody>
      </p:sp>
      <p:sp>
        <p:nvSpPr>
          <p:cNvPr id="259" name="Text 2"/>
          <p:cNvSpPr txBox="1"/>
          <p:nvPr/>
        </p:nvSpPr>
        <p:spPr>
          <a:xfrm>
            <a:off x="548639" y="952753"/>
            <a:ext cx="11064242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平台不直连设备。边缘网关是唯一接口，对上以 MCP 暴露能力</a:t>
            </a:r>
          </a:p>
        </p:txBody>
      </p:sp>
      <p:sp>
        <p:nvSpPr>
          <p:cNvPr id="260" name="Text 3"/>
          <p:cNvSpPr txBox="1"/>
          <p:nvPr/>
        </p:nvSpPr>
        <p:spPr>
          <a:xfrm>
            <a:off x="10332719" y="6605269"/>
            <a:ext cx="128016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11 / 19</a:t>
            </a:r>
          </a:p>
        </p:txBody>
      </p:sp>
      <p:sp>
        <p:nvSpPr>
          <p:cNvPr id="261" name="Text 4"/>
          <p:cNvSpPr txBox="1"/>
          <p:nvPr/>
        </p:nvSpPr>
        <p:spPr>
          <a:xfrm>
            <a:off x="548640" y="6592569"/>
            <a:ext cx="7315201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稻生万物 · 能力中心与渠道中心建设规划</a:t>
            </a:r>
          </a:p>
        </p:txBody>
      </p:sp>
      <p:sp>
        <p:nvSpPr>
          <p:cNvPr id="262" name="Shape 5"/>
          <p:cNvSpPr/>
          <p:nvPr/>
        </p:nvSpPr>
        <p:spPr>
          <a:xfrm>
            <a:off x="548639" y="1325880"/>
            <a:ext cx="5394962" cy="457201"/>
          </a:xfrm>
          <a:prstGeom prst="rect">
            <a:avLst/>
          </a:prstGeom>
          <a:solidFill>
            <a:srgbClr val="FFFFFF"/>
          </a:solidFill>
          <a:ln>
            <a:solidFill>
              <a:srgbClr val="E3E3DE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63" name="Text 6"/>
          <p:cNvSpPr txBox="1"/>
          <p:nvPr/>
        </p:nvSpPr>
        <p:spPr>
          <a:xfrm>
            <a:off x="749808" y="1446530"/>
            <a:ext cx="4992624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200">
                <a:solidFill>
                  <a:srgbClr val="5B6C8F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Agent 编排层 · IT 侧</a:t>
            </a:r>
          </a:p>
        </p:txBody>
      </p:sp>
      <p:sp>
        <p:nvSpPr>
          <p:cNvPr id="264" name="Text 7"/>
          <p:cNvSpPr txBox="1"/>
          <p:nvPr/>
        </p:nvSpPr>
        <p:spPr>
          <a:xfrm>
            <a:off x="749808" y="1867915"/>
            <a:ext cx="4992624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A87F5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↕   MCP —— 工具调用 / 资源读取，带 schema、权限与审计</a:t>
            </a:r>
          </a:p>
        </p:txBody>
      </p:sp>
      <p:sp>
        <p:nvSpPr>
          <p:cNvPr id="265" name="Shape 8"/>
          <p:cNvSpPr/>
          <p:nvPr/>
        </p:nvSpPr>
        <p:spPr>
          <a:xfrm>
            <a:off x="548639" y="2130551"/>
            <a:ext cx="5394962" cy="566929"/>
          </a:xfrm>
          <a:prstGeom prst="rect">
            <a:avLst/>
          </a:prstGeom>
          <a:solidFill>
            <a:srgbClr val="F5F1E8"/>
          </a:solidFill>
          <a:ln>
            <a:solidFill>
              <a:srgbClr val="E3E3DE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66" name="Text 9"/>
          <p:cNvSpPr txBox="1"/>
          <p:nvPr/>
        </p:nvSpPr>
        <p:spPr>
          <a:xfrm>
            <a:off x="749808" y="2203704"/>
            <a:ext cx="4992624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200">
                <a:solidFill>
                  <a:srgbClr val="1F422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边缘网关 · 工业级双网口 · OT / IT 交界</a:t>
            </a:r>
          </a:p>
        </p:txBody>
      </p:sp>
      <p:sp>
        <p:nvSpPr>
          <p:cNvPr id="267" name="Text 10"/>
          <p:cNvSpPr txBox="1"/>
          <p:nvPr/>
        </p:nvSpPr>
        <p:spPr>
          <a:xfrm>
            <a:off x="749808" y="2468626"/>
            <a:ext cx="4992624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1F422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唯一接口。上行说 MCP，下行说工业协议</a:t>
            </a:r>
          </a:p>
        </p:txBody>
      </p:sp>
      <p:sp>
        <p:nvSpPr>
          <p:cNvPr id="268" name="Text 11"/>
          <p:cNvSpPr txBox="1"/>
          <p:nvPr/>
        </p:nvSpPr>
        <p:spPr>
          <a:xfrm>
            <a:off x="749808" y="2782315"/>
            <a:ext cx="4992624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A87F5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↕   OPC UA / Modbus / Profinet / 串口</a:t>
            </a:r>
          </a:p>
        </p:txBody>
      </p:sp>
      <p:sp>
        <p:nvSpPr>
          <p:cNvPr id="269" name="Shape 12"/>
          <p:cNvSpPr/>
          <p:nvPr/>
        </p:nvSpPr>
        <p:spPr>
          <a:xfrm>
            <a:off x="548639" y="3044951"/>
            <a:ext cx="5394962" cy="457201"/>
          </a:xfrm>
          <a:prstGeom prst="rect">
            <a:avLst/>
          </a:prstGeom>
          <a:solidFill>
            <a:srgbClr val="FFFFFF"/>
          </a:solidFill>
          <a:ln>
            <a:solidFill>
              <a:srgbClr val="E3E3DE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70" name="Text 13"/>
          <p:cNvSpPr txBox="1"/>
          <p:nvPr/>
        </p:nvSpPr>
        <p:spPr>
          <a:xfrm>
            <a:off x="749808" y="3165601"/>
            <a:ext cx="4992624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2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PLC · 仪表 · 设备 · OT 侧</a:t>
            </a:r>
          </a:p>
        </p:txBody>
      </p:sp>
      <p:sp>
        <p:nvSpPr>
          <p:cNvPr id="271" name="Shape 14"/>
          <p:cNvSpPr/>
          <p:nvPr/>
        </p:nvSpPr>
        <p:spPr>
          <a:xfrm>
            <a:off x="6217919" y="1325880"/>
            <a:ext cx="5394962" cy="2176273"/>
          </a:xfrm>
          <a:prstGeom prst="rect">
            <a:avLst/>
          </a:prstGeom>
          <a:solidFill>
            <a:srgbClr val="FFFFFF"/>
          </a:solidFill>
          <a:ln>
            <a:solidFill>
              <a:srgbClr val="E3E3DE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72" name="Shape 15"/>
          <p:cNvSpPr/>
          <p:nvPr/>
        </p:nvSpPr>
        <p:spPr>
          <a:xfrm>
            <a:off x="6217920" y="1325880"/>
            <a:ext cx="50293" cy="2176273"/>
          </a:xfrm>
          <a:prstGeom prst="rect">
            <a:avLst/>
          </a:prstGeom>
          <a:solidFill>
            <a:srgbClr val="B8504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73" name="Text 16"/>
          <p:cNvSpPr txBox="1"/>
          <p:nvPr/>
        </p:nvSpPr>
        <p:spPr>
          <a:xfrm>
            <a:off x="6419088" y="1504187"/>
            <a:ext cx="502920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300">
                <a:solidFill>
                  <a:srgbClr val="B85042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三条不能越的线</a:t>
            </a:r>
          </a:p>
        </p:txBody>
      </p:sp>
      <p:sp>
        <p:nvSpPr>
          <p:cNvPr id="274" name="Text 17"/>
          <p:cNvSpPr txBox="1"/>
          <p:nvPr/>
        </p:nvSpPr>
        <p:spPr>
          <a:xfrm>
            <a:off x="6419088" y="1837944"/>
            <a:ext cx="5029201" cy="815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342900" indent="-342900">
              <a:lnSpc>
                <a:spcPts val="1600"/>
              </a:lnSpc>
              <a:buSzPct val="100000"/>
              <a:buChar char="•"/>
              <a:defRPr sz="10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网关不是安全装置——参数上下限硬约束在 PLC 侧组态，网关崩溃或被绕过时约束仍成立</a:t>
            </a:r>
          </a:p>
          <a:p>
            <a:pPr marL="342900" indent="-342900">
              <a:lnSpc>
                <a:spcPts val="1600"/>
              </a:lnSpc>
              <a:buSzPct val="100000"/>
              <a:buChar char="•"/>
              <a:defRPr sz="10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网关不进实时回路——毫秒级闭环与安全联锁归 PLC，网关上的写是批次级设定</a:t>
            </a:r>
          </a:p>
          <a:p>
            <a:pPr marL="342900" indent="-342900">
              <a:lnSpc>
                <a:spcPts val="1600"/>
              </a:lnSpc>
              <a:buSzPct val="100000"/>
              <a:buChar char="•"/>
              <a:defRPr sz="10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网关故障不停线——读路径旁路，写路径降级，产线按 PLC 现有设定继续运行</a:t>
            </a:r>
          </a:p>
        </p:txBody>
      </p:sp>
      <p:graphicFrame>
        <p:nvGraphicFramePr>
          <p:cNvPr id="275" name="Table 0"/>
          <p:cNvGraphicFramePr/>
          <p:nvPr/>
        </p:nvGraphicFramePr>
        <p:xfrm>
          <a:off x="548640" y="3703320"/>
          <a:ext cx="11064241" cy="1920241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1991562"/>
                <a:gridCol w="4868266"/>
                <a:gridCol w="1880921"/>
                <a:gridCol w="2323490"/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MCP 概念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网关上对应什么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谁定义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谁实现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Resource · 可读资源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工艺点位、批次记录、检测结果——只读订阅，不影响产线运行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能力中心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我方（网关软件）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Tool · 可调用动作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配方参数下发、开机准备度检查——每次调用留痕，人工确认不可绕过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能力中心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我方（网关软件）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Schema · 接口契约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点位表 + 控制接口规范——名称、量纲、精度、采样频率、上下限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能力中心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——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底层协议实现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PLC 寄存器映射、OPC UA 节点、仪表串口——网关之下的部分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——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系统集成商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</a:tr>
            </a:tbl>
          </a:graphicData>
        </a:graphic>
      </p:graphicFrame>
      <p:sp>
        <p:nvSpPr>
          <p:cNvPr id="276" name="Shape 18"/>
          <p:cNvSpPr/>
          <p:nvPr/>
        </p:nvSpPr>
        <p:spPr>
          <a:xfrm>
            <a:off x="548639" y="5715000"/>
            <a:ext cx="11064242" cy="457200"/>
          </a:xfrm>
          <a:prstGeom prst="rect">
            <a:avLst/>
          </a:prstGeom>
          <a:solidFill>
            <a:srgbClr val="F5F1E8"/>
          </a:solidFill>
          <a:ln>
            <a:solidFill>
              <a:srgbClr val="E8DFC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77" name="Shape 19"/>
          <p:cNvSpPr/>
          <p:nvPr/>
        </p:nvSpPr>
        <p:spPr>
          <a:xfrm>
            <a:off x="548640" y="5715000"/>
            <a:ext cx="50293" cy="457200"/>
          </a:xfrm>
          <a:prstGeom prst="rect">
            <a:avLst/>
          </a:prstGeom>
          <a:solidFill>
            <a:srgbClr val="A87F5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78" name="Text 20"/>
          <p:cNvSpPr txBox="1"/>
          <p:nvPr/>
        </p:nvSpPr>
        <p:spPr>
          <a:xfrm>
            <a:off x="749808" y="5854700"/>
            <a:ext cx="10652760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当前平台的 MCP 客户端为 stdio 形态（本机拉起子进程），跨网段接远端网关需 HTTP / SSE 传输，属底座定向开发项，须在阶段二启动前完成。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Shape 0"/>
          <p:cNvSpPr/>
          <p:nvPr/>
        </p:nvSpPr>
        <p:spPr>
          <a:xfrm>
            <a:off x="-1" y="-1"/>
            <a:ext cx="12188954" cy="82298"/>
          </a:xfrm>
          <a:prstGeom prst="rect">
            <a:avLst/>
          </a:prstGeom>
          <a:solidFill>
            <a:srgbClr val="2C5F2D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81" name="Text 1"/>
          <p:cNvSpPr txBox="1"/>
          <p:nvPr/>
        </p:nvSpPr>
        <p:spPr>
          <a:xfrm>
            <a:off x="548639" y="467106"/>
            <a:ext cx="11064242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400">
                <a:solidFill>
                  <a:srgbClr val="1F422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安全与合规</a:t>
            </a:r>
          </a:p>
        </p:txBody>
      </p:sp>
      <p:sp>
        <p:nvSpPr>
          <p:cNvPr id="282" name="Text 2"/>
          <p:cNvSpPr txBox="1"/>
          <p:nvPr/>
        </p:nvSpPr>
        <p:spPr>
          <a:xfrm>
            <a:off x="548639" y="952753"/>
            <a:ext cx="11064242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按等保三级建设 · 涉工业控制系统</a:t>
            </a:r>
          </a:p>
        </p:txBody>
      </p:sp>
      <p:sp>
        <p:nvSpPr>
          <p:cNvPr id="283" name="Text 3"/>
          <p:cNvSpPr txBox="1"/>
          <p:nvPr/>
        </p:nvSpPr>
        <p:spPr>
          <a:xfrm>
            <a:off x="10332719" y="6605269"/>
            <a:ext cx="128016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12 / 19</a:t>
            </a:r>
          </a:p>
        </p:txBody>
      </p:sp>
      <p:sp>
        <p:nvSpPr>
          <p:cNvPr id="284" name="Text 4"/>
          <p:cNvSpPr txBox="1"/>
          <p:nvPr/>
        </p:nvSpPr>
        <p:spPr>
          <a:xfrm>
            <a:off x="548640" y="6592569"/>
            <a:ext cx="7315201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稻生万物 · 能力中心与渠道中心建设规划</a:t>
            </a:r>
          </a:p>
        </p:txBody>
      </p:sp>
      <p:sp>
        <p:nvSpPr>
          <p:cNvPr id="285" name="Shape 5"/>
          <p:cNvSpPr/>
          <p:nvPr/>
        </p:nvSpPr>
        <p:spPr>
          <a:xfrm>
            <a:off x="548639" y="1325880"/>
            <a:ext cx="5394962" cy="2240280"/>
          </a:xfrm>
          <a:prstGeom prst="rect">
            <a:avLst/>
          </a:prstGeom>
          <a:solidFill>
            <a:srgbClr val="FFFFFF"/>
          </a:solidFill>
          <a:ln>
            <a:solidFill>
              <a:srgbClr val="E3E3DE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86" name="Shape 6"/>
          <p:cNvSpPr/>
          <p:nvPr/>
        </p:nvSpPr>
        <p:spPr>
          <a:xfrm>
            <a:off x="548640" y="1325880"/>
            <a:ext cx="50293" cy="2240280"/>
          </a:xfrm>
          <a:prstGeom prst="rect">
            <a:avLst/>
          </a:prstGeom>
          <a:solidFill>
            <a:srgbClr val="5B6C8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87" name="Text 7"/>
          <p:cNvSpPr txBox="1"/>
          <p:nvPr/>
        </p:nvSpPr>
        <p:spPr>
          <a:xfrm>
            <a:off x="749808" y="1504187"/>
            <a:ext cx="502920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300">
                <a:solidFill>
                  <a:srgbClr val="5B6C8F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常规安全面</a:t>
            </a:r>
          </a:p>
        </p:txBody>
      </p:sp>
      <p:sp>
        <p:nvSpPr>
          <p:cNvPr id="288" name="Text 8"/>
          <p:cNvSpPr txBox="1"/>
          <p:nvPr/>
        </p:nvSpPr>
        <p:spPr>
          <a:xfrm>
            <a:off x="749808" y="1837944"/>
            <a:ext cx="5029201" cy="815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342900" indent="-342900">
              <a:lnSpc>
                <a:spcPts val="1600"/>
              </a:lnSpc>
              <a:buSzPct val="100000"/>
              <a:buChar char="•"/>
              <a:defRPr sz="10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机房物理安防、OT / IT 隔离（工业防火墙或网闸）、区域划分与最小开放</a:t>
            </a:r>
          </a:p>
          <a:p>
            <a:pPr marL="342900" indent="-342900">
              <a:lnSpc>
                <a:spcPts val="1600"/>
              </a:lnSpc>
              <a:buSzPct val="100000"/>
              <a:buChar char="•"/>
              <a:defRPr sz="10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数据分类分级——配方与客户资料为最高级；传输与静态加密、脱敏与最小授权</a:t>
            </a:r>
          </a:p>
          <a:p>
            <a:pPr marL="342900" indent="-342900">
              <a:lnSpc>
                <a:spcPts val="1600"/>
              </a:lnSpc>
              <a:buSzPct val="100000"/>
              <a:buChar char="•"/>
              <a:defRPr sz="10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统一身份认证、基于角色与企业的权限模型、全量操作留痕</a:t>
            </a:r>
          </a:p>
          <a:p>
            <a:pPr marL="342900" indent="-342900">
              <a:lnSpc>
                <a:spcPts val="1600"/>
              </a:lnSpc>
              <a:buSzPct val="100000"/>
              <a:buChar char="•"/>
              <a:defRPr sz="10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备份与恢复演练</a:t>
            </a:r>
          </a:p>
        </p:txBody>
      </p:sp>
      <p:sp>
        <p:nvSpPr>
          <p:cNvPr id="289" name="Shape 9"/>
          <p:cNvSpPr/>
          <p:nvPr/>
        </p:nvSpPr>
        <p:spPr>
          <a:xfrm>
            <a:off x="6217919" y="1325880"/>
            <a:ext cx="5394962" cy="2240280"/>
          </a:xfrm>
          <a:prstGeom prst="rect">
            <a:avLst/>
          </a:prstGeom>
          <a:solidFill>
            <a:srgbClr val="FFFFFF"/>
          </a:solidFill>
          <a:ln>
            <a:solidFill>
              <a:srgbClr val="E3E3DE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90" name="Shape 10"/>
          <p:cNvSpPr/>
          <p:nvPr/>
        </p:nvSpPr>
        <p:spPr>
          <a:xfrm>
            <a:off x="6217920" y="1325880"/>
            <a:ext cx="50293" cy="2240280"/>
          </a:xfrm>
          <a:prstGeom prst="rect">
            <a:avLst/>
          </a:prstGeom>
          <a:solidFill>
            <a:srgbClr val="B8504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91" name="Text 11"/>
          <p:cNvSpPr txBox="1"/>
          <p:nvPr/>
        </p:nvSpPr>
        <p:spPr>
          <a:xfrm>
            <a:off x="6419088" y="1504187"/>
            <a:ext cx="502920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300">
                <a:solidFill>
                  <a:srgbClr val="B85042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AI Native 新增的风险面</a:t>
            </a:r>
          </a:p>
        </p:txBody>
      </p:sp>
      <p:sp>
        <p:nvSpPr>
          <p:cNvPr id="292" name="Text 12"/>
          <p:cNvSpPr txBox="1"/>
          <p:nvPr/>
        </p:nvSpPr>
        <p:spPr>
          <a:xfrm>
            <a:off x="6419088" y="1837944"/>
            <a:ext cx="5029201" cy="815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342900" indent="-342900">
              <a:lnSpc>
                <a:spcPts val="1600"/>
              </a:lnSpc>
              <a:buSzPct val="100000"/>
              <a:buChar char="•"/>
              <a:defRPr sz="10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模型自部署：推理与向量数据不出自有实例，不经模型服务商</a:t>
            </a:r>
          </a:p>
          <a:p>
            <a:pPr marL="342900" indent="-342900">
              <a:lnSpc>
                <a:spcPts val="1600"/>
              </a:lnSpc>
              <a:buSzPct val="100000"/>
              <a:buChar char="•"/>
              <a:defRPr sz="10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上下文准入控制、提示注入防护</a:t>
            </a:r>
          </a:p>
          <a:p>
            <a:pPr marL="342900" indent="-342900">
              <a:lnSpc>
                <a:spcPts val="1600"/>
              </a:lnSpc>
              <a:buSzPct val="100000"/>
              <a:buChar char="•"/>
              <a:defRPr sz="10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输出可审计与出处留存——这同时是「答案须附出处」的技术前提</a:t>
            </a:r>
          </a:p>
          <a:p>
            <a:pPr marL="342900" indent="-342900">
              <a:lnSpc>
                <a:spcPts val="1600"/>
              </a:lnSpc>
              <a:buSzPct val="100000"/>
              <a:buChar char="•"/>
              <a:defRPr sz="10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跨企业上下文严格隔离（阶段三对下游开放时的硬约束）</a:t>
            </a:r>
          </a:p>
        </p:txBody>
      </p:sp>
      <p:graphicFrame>
        <p:nvGraphicFramePr>
          <p:cNvPr id="293" name="Table 0"/>
          <p:cNvGraphicFramePr/>
          <p:nvPr/>
        </p:nvGraphicFramePr>
        <p:xfrm>
          <a:off x="548640" y="3749040"/>
          <a:ext cx="11064241" cy="1920241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3761842"/>
                <a:gridCol w="1770278"/>
                <a:gridCol w="5532120"/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科目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配置要求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说明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安全设备与软件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三地各一套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防火墙、入侵检测、日志审计、堡垒机、数据库审计、终端安全、态势感知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OT / IT 隔离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三地产线接入前，各一套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工业防火墙或网闸，随产线接入部署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测评与整改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阶段一末首测 · 三地取点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首次定级测评 ＋ 三年年度测评；整改与文档体系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合计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—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具体设备、测评与整改范围以实施方案确定。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</a:tr>
            </a:tbl>
          </a:graphicData>
        </a:graphic>
      </p:graphicFrame>
      <p:sp>
        <p:nvSpPr>
          <p:cNvPr id="294" name="Shape 13"/>
          <p:cNvSpPr/>
          <p:nvPr/>
        </p:nvSpPr>
        <p:spPr>
          <a:xfrm>
            <a:off x="548639" y="5760720"/>
            <a:ext cx="11064242" cy="457201"/>
          </a:xfrm>
          <a:prstGeom prst="rect">
            <a:avLst/>
          </a:prstGeom>
          <a:solidFill>
            <a:srgbClr val="F5F1E8"/>
          </a:solidFill>
          <a:ln>
            <a:solidFill>
              <a:srgbClr val="E8DFC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95" name="Shape 14"/>
          <p:cNvSpPr/>
          <p:nvPr/>
        </p:nvSpPr>
        <p:spPr>
          <a:xfrm>
            <a:off x="548640" y="5760720"/>
            <a:ext cx="50293" cy="457201"/>
          </a:xfrm>
          <a:prstGeom prst="rect">
            <a:avLst/>
          </a:prstGeom>
          <a:solidFill>
            <a:srgbClr val="A87F5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96" name="Text 15"/>
          <p:cNvSpPr txBox="1"/>
          <p:nvPr/>
        </p:nvSpPr>
        <p:spPr>
          <a:xfrm>
            <a:off x="749808" y="5811520"/>
            <a:ext cx="10652760" cy="355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本项目涉及工业控制系统并承载配方、客户等重要数据，规划按等保三级要求建设，最终定级以主管部门确认和测评结果为准。另有两项须在建设前确定：数据跨境评估（若面向海外客户）、入驻企业数据边界（多企业共用平台，隔离方案须写入入驻协议并在系统中强制）。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Shape 0"/>
          <p:cNvSpPr/>
          <p:nvPr/>
        </p:nvSpPr>
        <p:spPr>
          <a:xfrm>
            <a:off x="-1" y="-1"/>
            <a:ext cx="12188954" cy="82298"/>
          </a:xfrm>
          <a:prstGeom prst="rect">
            <a:avLst/>
          </a:prstGeom>
          <a:solidFill>
            <a:srgbClr val="2C5F2D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99" name="Text 1"/>
          <p:cNvSpPr txBox="1"/>
          <p:nvPr/>
        </p:nvSpPr>
        <p:spPr>
          <a:xfrm>
            <a:off x="548639" y="467106"/>
            <a:ext cx="11064242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400">
                <a:solidFill>
                  <a:srgbClr val="1F422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产能外包</a:t>
            </a:r>
          </a:p>
        </p:txBody>
      </p:sp>
      <p:sp>
        <p:nvSpPr>
          <p:cNvPr id="300" name="Text 2"/>
          <p:cNvSpPr txBox="1"/>
          <p:nvPr/>
        </p:nvSpPr>
        <p:spPr>
          <a:xfrm>
            <a:off x="548639" y="952753"/>
            <a:ext cx="11064242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稻生下发配方，下游合作产能生产，产出归稻生</a:t>
            </a:r>
          </a:p>
        </p:txBody>
      </p:sp>
      <p:sp>
        <p:nvSpPr>
          <p:cNvPr id="301" name="Text 3"/>
          <p:cNvSpPr txBox="1"/>
          <p:nvPr/>
        </p:nvSpPr>
        <p:spPr>
          <a:xfrm>
            <a:off x="10332719" y="6605269"/>
            <a:ext cx="128016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13 / 19</a:t>
            </a:r>
          </a:p>
        </p:txBody>
      </p:sp>
      <p:sp>
        <p:nvSpPr>
          <p:cNvPr id="302" name="Text 4"/>
          <p:cNvSpPr txBox="1"/>
          <p:nvPr/>
        </p:nvSpPr>
        <p:spPr>
          <a:xfrm>
            <a:off x="548640" y="6592569"/>
            <a:ext cx="7315201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稻生万物 · 能力中心与渠道中心建设规划</a:t>
            </a:r>
          </a:p>
        </p:txBody>
      </p:sp>
      <p:sp>
        <p:nvSpPr>
          <p:cNvPr id="303" name="Shape 5"/>
          <p:cNvSpPr/>
          <p:nvPr/>
        </p:nvSpPr>
        <p:spPr>
          <a:xfrm>
            <a:off x="548639" y="1325879"/>
            <a:ext cx="5394962" cy="1737362"/>
          </a:xfrm>
          <a:prstGeom prst="rect">
            <a:avLst/>
          </a:prstGeom>
          <a:solidFill>
            <a:srgbClr val="FFFFFF"/>
          </a:solidFill>
          <a:ln>
            <a:solidFill>
              <a:srgbClr val="E3E3DE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04" name="Shape 6"/>
          <p:cNvSpPr/>
          <p:nvPr/>
        </p:nvSpPr>
        <p:spPr>
          <a:xfrm>
            <a:off x="548640" y="1325879"/>
            <a:ext cx="50293" cy="1737362"/>
          </a:xfrm>
          <a:prstGeom prst="rect">
            <a:avLst/>
          </a:prstGeom>
          <a:solidFill>
            <a:srgbClr val="8B6F47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05" name="Text 7"/>
          <p:cNvSpPr txBox="1"/>
          <p:nvPr/>
        </p:nvSpPr>
        <p:spPr>
          <a:xfrm>
            <a:off x="749808" y="1504187"/>
            <a:ext cx="502920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300">
                <a:solidFill>
                  <a:srgbClr val="8B6F47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与园区赋能的区别</a:t>
            </a:r>
          </a:p>
        </p:txBody>
      </p:sp>
      <p:sp>
        <p:nvSpPr>
          <p:cNvPr id="306" name="Text 8"/>
          <p:cNvSpPr txBox="1"/>
          <p:nvPr/>
        </p:nvSpPr>
        <p:spPr>
          <a:xfrm>
            <a:off x="749808" y="1837944"/>
            <a:ext cx="5029201" cy="612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342900" indent="-342900">
              <a:lnSpc>
                <a:spcPts val="1600"/>
              </a:lnSpc>
              <a:buSzPct val="100000"/>
              <a:buChar char="•"/>
              <a:defRPr sz="10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园区赋能：产品与质量责任归入驻企业，稻生开放能力</a:t>
            </a:r>
          </a:p>
          <a:p>
            <a:pPr marL="342900" indent="-342900">
              <a:lnSpc>
                <a:spcPts val="1600"/>
              </a:lnSpc>
              <a:buSzPct val="100000"/>
              <a:buChar char="•"/>
              <a:defRPr sz="10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产能外包：产品与质量责任归稻生，合作方只提供产能</a:t>
            </a:r>
          </a:p>
          <a:p>
            <a:pPr marL="342900" indent="-342900">
              <a:lnSpc>
                <a:spcPts val="1600"/>
              </a:lnSpc>
              <a:buSzPct val="100000"/>
              <a:buChar char="•"/>
              <a:defRPr sz="10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因此过程数据必须回流 —— 出了质量问题，担责的是稻生</a:t>
            </a:r>
          </a:p>
        </p:txBody>
      </p:sp>
      <p:sp>
        <p:nvSpPr>
          <p:cNvPr id="307" name="Shape 9"/>
          <p:cNvSpPr/>
          <p:nvPr/>
        </p:nvSpPr>
        <p:spPr>
          <a:xfrm>
            <a:off x="6217919" y="1325879"/>
            <a:ext cx="5394962" cy="1737362"/>
          </a:xfrm>
          <a:prstGeom prst="rect">
            <a:avLst/>
          </a:prstGeom>
          <a:solidFill>
            <a:srgbClr val="FFFFFF"/>
          </a:solidFill>
          <a:ln>
            <a:solidFill>
              <a:srgbClr val="E3E3DE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08" name="Shape 10"/>
          <p:cNvSpPr/>
          <p:nvPr/>
        </p:nvSpPr>
        <p:spPr>
          <a:xfrm>
            <a:off x="6217920" y="1325879"/>
            <a:ext cx="50293" cy="1737362"/>
          </a:xfrm>
          <a:prstGeom prst="rect">
            <a:avLst/>
          </a:prstGeom>
          <a:solidFill>
            <a:srgbClr val="5B6C8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09" name="Text 11"/>
          <p:cNvSpPr txBox="1"/>
          <p:nvPr/>
        </p:nvSpPr>
        <p:spPr>
          <a:xfrm>
            <a:off x="6419088" y="1504187"/>
            <a:ext cx="502920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300">
                <a:solidFill>
                  <a:srgbClr val="5B6C8F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对能力中心的额外要求</a:t>
            </a:r>
          </a:p>
        </p:txBody>
      </p:sp>
      <p:sp>
        <p:nvSpPr>
          <p:cNvPr id="310" name="Text 12"/>
          <p:cNvSpPr txBox="1"/>
          <p:nvPr/>
        </p:nvSpPr>
        <p:spPr>
          <a:xfrm>
            <a:off x="6419088" y="1837944"/>
            <a:ext cx="5029201" cy="612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342900" indent="-342900">
              <a:lnSpc>
                <a:spcPts val="1600"/>
              </a:lnSpc>
              <a:buSzPct val="100000"/>
              <a:buChar char="•"/>
              <a:defRPr sz="10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配方版本管理：哪个批次用哪一版，可追溯</a:t>
            </a:r>
          </a:p>
          <a:p>
            <a:pPr marL="342900" indent="-342900">
              <a:lnSpc>
                <a:spcPts val="1600"/>
              </a:lnSpc>
              <a:buSzPct val="100000"/>
              <a:buChar char="•"/>
              <a:defRPr sz="10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过程数据回流：合作方产线的关键点位回到稻生</a:t>
            </a:r>
          </a:p>
          <a:p>
            <a:pPr marL="342900" indent="-342900">
              <a:lnSpc>
                <a:spcPts val="1600"/>
              </a:lnSpc>
              <a:buSzPct val="100000"/>
              <a:buChar char="•"/>
              <a:defRPr sz="10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跨产线参数换算：同一配方在不同设备上的适配</a:t>
            </a:r>
          </a:p>
        </p:txBody>
      </p:sp>
      <p:graphicFrame>
        <p:nvGraphicFramePr>
          <p:cNvPr id="311" name="Table 0"/>
          <p:cNvGraphicFramePr/>
          <p:nvPr/>
        </p:nvGraphicFramePr>
        <p:xfrm>
          <a:off x="548640" y="3200400"/>
          <a:ext cx="11064240" cy="2633473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1991562"/>
                <a:gridCol w="5089550"/>
                <a:gridCol w="3983125"/>
              </a:tblGrid>
              <a:tr h="43891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环节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内容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承接方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配方下发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按保密分级下发参数（非完整配方）；经工艺工程师确认后经 MES / 配方系统下发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能力中心提供能力，工艺部门确认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产线执行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合作方 PLC 侧设参数上下限硬约束，超范围拒绝执行并回报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合作方及其系统集成商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数据回流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关键工艺点位、批次记录、理化与外观检测结果回传稻生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边缘网关按厂部署，纳入项目单独立项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质量追溯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成品批次 → 配方版本 → 工艺参数 → 原料批次，全链路可查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能力中心（生产智能体的归因能力延伸）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产能管理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合作产能的开发、评估、订单分配与结算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渠道中心（合作伙伴线）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2" name="Shape 13"/>
          <p:cNvSpPr/>
          <p:nvPr/>
        </p:nvSpPr>
        <p:spPr>
          <a:xfrm>
            <a:off x="548639" y="5989320"/>
            <a:ext cx="11064242" cy="457201"/>
          </a:xfrm>
          <a:prstGeom prst="rect">
            <a:avLst/>
          </a:prstGeom>
          <a:solidFill>
            <a:srgbClr val="F5F1E8"/>
          </a:solidFill>
          <a:ln>
            <a:solidFill>
              <a:srgbClr val="E8DFC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13" name="Shape 14"/>
          <p:cNvSpPr/>
          <p:nvPr/>
        </p:nvSpPr>
        <p:spPr>
          <a:xfrm>
            <a:off x="548640" y="5989320"/>
            <a:ext cx="50293" cy="457201"/>
          </a:xfrm>
          <a:prstGeom prst="rect">
            <a:avLst/>
          </a:prstGeom>
          <a:solidFill>
            <a:srgbClr val="A87F5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14" name="Text 15"/>
          <p:cNvSpPr txBox="1"/>
          <p:nvPr/>
        </p:nvSpPr>
        <p:spPr>
          <a:xfrm>
            <a:off x="749808" y="6129020"/>
            <a:ext cx="10652760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前置条件：配方保密分级（决定下发颗粒度）与质量事故的赔偿责任划分，两项须先写入合作协议。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Shape 0"/>
          <p:cNvSpPr/>
          <p:nvPr/>
        </p:nvSpPr>
        <p:spPr>
          <a:xfrm>
            <a:off x="-1" y="-1"/>
            <a:ext cx="12188954" cy="82298"/>
          </a:xfrm>
          <a:prstGeom prst="rect">
            <a:avLst/>
          </a:prstGeom>
          <a:solidFill>
            <a:srgbClr val="2C5F2D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17" name="Text 1"/>
          <p:cNvSpPr txBox="1"/>
          <p:nvPr/>
        </p:nvSpPr>
        <p:spPr>
          <a:xfrm>
            <a:off x="548639" y="467106"/>
            <a:ext cx="11064242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400">
                <a:solidFill>
                  <a:srgbClr val="1F422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分三阶段</a:t>
            </a:r>
          </a:p>
        </p:txBody>
      </p:sp>
      <p:sp>
        <p:nvSpPr>
          <p:cNvPr id="318" name="Text 2"/>
          <p:cNvSpPr txBox="1"/>
          <p:nvPr/>
        </p:nvSpPr>
        <p:spPr>
          <a:xfrm>
            <a:off x="548639" y="952753"/>
            <a:ext cx="11064242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每阶段有独立可用的交付物</a:t>
            </a:r>
          </a:p>
        </p:txBody>
      </p:sp>
      <p:sp>
        <p:nvSpPr>
          <p:cNvPr id="319" name="Text 3"/>
          <p:cNvSpPr txBox="1"/>
          <p:nvPr/>
        </p:nvSpPr>
        <p:spPr>
          <a:xfrm>
            <a:off x="10332719" y="6605269"/>
            <a:ext cx="128016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14 / 19</a:t>
            </a:r>
          </a:p>
        </p:txBody>
      </p:sp>
      <p:sp>
        <p:nvSpPr>
          <p:cNvPr id="320" name="Text 4"/>
          <p:cNvSpPr txBox="1"/>
          <p:nvPr/>
        </p:nvSpPr>
        <p:spPr>
          <a:xfrm>
            <a:off x="548640" y="6592569"/>
            <a:ext cx="7315201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稻生万物 · 能力中心与渠道中心建设规划</a:t>
            </a:r>
          </a:p>
        </p:txBody>
      </p:sp>
      <p:graphicFrame>
        <p:nvGraphicFramePr>
          <p:cNvPr id="321" name="Table 0"/>
          <p:cNvGraphicFramePr/>
          <p:nvPr/>
        </p:nvGraphicFramePr>
        <p:xfrm>
          <a:off x="548640" y="1325880"/>
          <a:ext cx="11064240" cy="3657601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1106424"/>
                <a:gridCol w="1217066"/>
                <a:gridCol w="4757623"/>
                <a:gridCol w="1770278"/>
                <a:gridCol w="2212848"/>
              </a:tblGrid>
              <a:tr h="73152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阶段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周期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交付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决策门槛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阶段末产出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一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0–6 个月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上海节点建成；认证智能体（认证知识库 → 材料清单 → 申报草稿 → 法规监测）、招商智能体；渠道中心政府关系与合作伙伴建线；基础设施采购与部署（上海：6 台 GPU ＋ 9 台基础服务与入口节点）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范围与接口确认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认证材料准备提速；政策与合作资源摸清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二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6–18 个月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深圳节点建成；研发与生产智能体；数据接入规范交付并与集成商联调；边缘网关与控制接口；渠道销售建线；深圳节点基础设施采购与部署（同构 6 台）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试点验收后扩展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研发数据结构化；生产异常可归因；招商线索池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三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18–36 个月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山东节点建成；园区智能体对下游开放；多租户与数据隔离；能力订阅计量与计费；渠道中心承接销售；山东节点基础设施采购与部署（同构 6 台）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运营指标达标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对入驻企业的能力订阅与服务收入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合计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36 个月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每阶段以交付物评审通过作为下一阶段启动条件，范围变化单独评审。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defRPr>
                      </a:pPr>
                      <a:r>
                        <a:t>分阶段决策</a:t>
                      </a:r>
                    </a:p>
                    <a:p>
                      <a:pPr algn="l">
                        <a:def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defRPr>
                      </a:pPr>
                      <a:r>
                        <a:t>阶段评审</a:t>
                      </a:r>
                    </a:p>
                    <a:p>
                      <a:pPr algn="l">
                        <a:def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defRPr>
                      </a:pPr>
                      <a:r>
                        <a:t>进入稳态运营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—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</a:tr>
            </a:tbl>
          </a:graphicData>
        </a:graphic>
      </p:graphicFrame>
      <p:sp>
        <p:nvSpPr>
          <p:cNvPr id="322" name="Shape 5"/>
          <p:cNvSpPr/>
          <p:nvPr/>
        </p:nvSpPr>
        <p:spPr>
          <a:xfrm>
            <a:off x="548639" y="5074920"/>
            <a:ext cx="11064242" cy="457201"/>
          </a:xfrm>
          <a:prstGeom prst="rect">
            <a:avLst/>
          </a:prstGeom>
          <a:solidFill>
            <a:srgbClr val="F5F1E8"/>
          </a:solidFill>
          <a:ln>
            <a:solidFill>
              <a:srgbClr val="E8DFC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23" name="Shape 6"/>
          <p:cNvSpPr/>
          <p:nvPr/>
        </p:nvSpPr>
        <p:spPr>
          <a:xfrm>
            <a:off x="548640" y="5074920"/>
            <a:ext cx="50293" cy="457201"/>
          </a:xfrm>
          <a:prstGeom prst="rect">
            <a:avLst/>
          </a:prstGeom>
          <a:solidFill>
            <a:srgbClr val="A87F5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24" name="Text 7"/>
          <p:cNvSpPr txBox="1"/>
          <p:nvPr/>
        </p:nvSpPr>
        <p:spPr>
          <a:xfrm>
            <a:off x="749808" y="5214620"/>
            <a:ext cx="10652760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阶段一不接产线：点位表尚未产出，数据接入范围待定。知识库建设与认证档案入库不依赖产线，算力在阶段一即需到位以支撑向量化与模型选型。边缘网关另行立项，不纳入阶段二范围。</a:t>
            </a:r>
          </a:p>
        </p:txBody>
      </p:sp>
      <p:sp>
        <p:nvSpPr>
          <p:cNvPr id="325" name="Shape 8"/>
          <p:cNvSpPr/>
          <p:nvPr/>
        </p:nvSpPr>
        <p:spPr>
          <a:xfrm>
            <a:off x="548639" y="5669279"/>
            <a:ext cx="11064242" cy="457201"/>
          </a:xfrm>
          <a:prstGeom prst="rect">
            <a:avLst/>
          </a:prstGeom>
          <a:solidFill>
            <a:srgbClr val="F5F1E8"/>
          </a:solidFill>
          <a:ln>
            <a:solidFill>
              <a:srgbClr val="E8DFC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26" name="Shape 9"/>
          <p:cNvSpPr/>
          <p:nvPr/>
        </p:nvSpPr>
        <p:spPr>
          <a:xfrm>
            <a:off x="548640" y="5669279"/>
            <a:ext cx="50293" cy="457201"/>
          </a:xfrm>
          <a:prstGeom prst="rect">
            <a:avLst/>
          </a:prstGeom>
          <a:solidFill>
            <a:srgbClr val="A87F5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27" name="Text 10"/>
          <p:cNvSpPr txBox="1"/>
          <p:nvPr/>
        </p:nvSpPr>
        <p:spPr>
          <a:xfrm>
            <a:off x="749808" y="5808979"/>
            <a:ext cx="10652760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阶段二启动前须确认网关侧方案：不必把 Agent 运行时搬进车间，需要的是网关上的 MCP Server 与平台侧的远端传输，范围比「边缘常驻」窄。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Shape 0"/>
          <p:cNvSpPr/>
          <p:nvPr/>
        </p:nvSpPr>
        <p:spPr>
          <a:xfrm>
            <a:off x="-1" y="-1"/>
            <a:ext cx="12188954" cy="82298"/>
          </a:xfrm>
          <a:prstGeom prst="rect">
            <a:avLst/>
          </a:prstGeom>
          <a:solidFill>
            <a:srgbClr val="2C5F2D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30" name="Text 1"/>
          <p:cNvSpPr txBox="1"/>
          <p:nvPr/>
        </p:nvSpPr>
        <p:spPr>
          <a:xfrm>
            <a:off x="548639" y="467106"/>
            <a:ext cx="11064242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400">
                <a:solidFill>
                  <a:srgbClr val="1F422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人员需求 · 总量</a:t>
            </a:r>
          </a:p>
        </p:txBody>
      </p:sp>
      <p:sp>
        <p:nvSpPr>
          <p:cNvPr id="331" name="Text 2"/>
          <p:cNvSpPr txBox="1"/>
          <p:nvPr/>
        </p:nvSpPr>
        <p:spPr>
          <a:xfrm>
            <a:off x="548639" y="952753"/>
            <a:ext cx="11064242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自有编制 + 委托开发配置 · 三节点口径</a:t>
            </a:r>
          </a:p>
        </p:txBody>
      </p:sp>
      <p:sp>
        <p:nvSpPr>
          <p:cNvPr id="332" name="Text 3"/>
          <p:cNvSpPr txBox="1"/>
          <p:nvPr/>
        </p:nvSpPr>
        <p:spPr>
          <a:xfrm>
            <a:off x="10332719" y="6605269"/>
            <a:ext cx="128016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15 / 19</a:t>
            </a:r>
          </a:p>
        </p:txBody>
      </p:sp>
      <p:sp>
        <p:nvSpPr>
          <p:cNvPr id="333" name="Text 4"/>
          <p:cNvSpPr txBox="1"/>
          <p:nvPr/>
        </p:nvSpPr>
        <p:spPr>
          <a:xfrm>
            <a:off x="548640" y="6592569"/>
            <a:ext cx="7315201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稻生万物 · 能力中心与渠道中心建设规划</a:t>
            </a:r>
          </a:p>
        </p:txBody>
      </p:sp>
      <p:graphicFrame>
        <p:nvGraphicFramePr>
          <p:cNvPr id="334" name="Table 0"/>
          <p:cNvGraphicFramePr/>
          <p:nvPr/>
        </p:nvGraphicFramePr>
        <p:xfrm>
          <a:off x="548640" y="1325880"/>
          <a:ext cx="11064240" cy="2743201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2434133"/>
                <a:gridCol w="1438351"/>
                <a:gridCol w="1438351"/>
                <a:gridCol w="1438351"/>
                <a:gridCol w="4315054"/>
              </a:tblGrid>
              <a:tr h="4572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阶段一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阶段二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阶段三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说明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能力中心（自有）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3.5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10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16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内部抽调业务专家；三地各配数据与运维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渠道中心（自有）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1.5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7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11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政府关系每地一人；销售与 BD 按区域覆盖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自有小计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5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17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27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峰值 27 人，随节点投产配置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委托开发（平台 + 应用）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8.5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23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16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三年 615 人月；三地现场对接在阶段二、三加配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在场总人数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13.5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40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43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阶段三重心从建设转向运营与销售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5" name="Shape 5"/>
          <p:cNvSpPr/>
          <p:nvPr/>
        </p:nvSpPr>
        <p:spPr>
          <a:xfrm>
            <a:off x="548639" y="4251959"/>
            <a:ext cx="11064242" cy="457201"/>
          </a:xfrm>
          <a:prstGeom prst="rect">
            <a:avLst/>
          </a:prstGeom>
          <a:solidFill>
            <a:srgbClr val="F5F1E8"/>
          </a:solidFill>
          <a:ln>
            <a:solidFill>
              <a:srgbClr val="E8DFC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36" name="Shape 6"/>
          <p:cNvSpPr/>
          <p:nvPr/>
        </p:nvSpPr>
        <p:spPr>
          <a:xfrm>
            <a:off x="548640" y="4251959"/>
            <a:ext cx="50293" cy="457201"/>
          </a:xfrm>
          <a:prstGeom prst="rect">
            <a:avLst/>
          </a:prstGeom>
          <a:solidFill>
            <a:srgbClr val="A87F5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37" name="Text 7"/>
          <p:cNvSpPr txBox="1"/>
          <p:nvPr/>
        </p:nvSpPr>
        <p:spPr>
          <a:xfrm>
            <a:off x="749808" y="4391659"/>
            <a:ext cx="10652760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委托开发含算法与数据科学、实施联调、安全、边缘工业协议四类角色，三年按 615 人月配置，同时覆盖平台与应用两段。通用软件一次开发三地共用，增量集中在三地现场对接。</a:t>
            </a:r>
          </a:p>
        </p:txBody>
      </p:sp>
      <p:sp>
        <p:nvSpPr>
          <p:cNvPr id="338" name="Shape 8"/>
          <p:cNvSpPr/>
          <p:nvPr/>
        </p:nvSpPr>
        <p:spPr>
          <a:xfrm>
            <a:off x="548639" y="4846320"/>
            <a:ext cx="11064242" cy="457201"/>
          </a:xfrm>
          <a:prstGeom prst="rect">
            <a:avLst/>
          </a:prstGeom>
          <a:solidFill>
            <a:srgbClr val="F5F1E8"/>
          </a:solidFill>
          <a:ln>
            <a:solidFill>
              <a:srgbClr val="E8DFC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39" name="Shape 9"/>
          <p:cNvSpPr/>
          <p:nvPr/>
        </p:nvSpPr>
        <p:spPr>
          <a:xfrm>
            <a:off x="548640" y="4846320"/>
            <a:ext cx="50293" cy="457201"/>
          </a:xfrm>
          <a:prstGeom prst="rect">
            <a:avLst/>
          </a:prstGeom>
          <a:solidFill>
            <a:srgbClr val="A87F5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40" name="Text 10"/>
          <p:cNvSpPr txBox="1"/>
          <p:nvPr/>
        </p:nvSpPr>
        <p:spPr>
          <a:xfrm>
            <a:off x="749808" y="4986020"/>
            <a:ext cx="10652760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边缘与工业协议工程师阶段二按 3 人配置（三地）；市场供给紧张，建议在阶段一即锁定资源。</a:t>
            </a:r>
          </a:p>
        </p:txBody>
      </p:sp>
      <p:sp>
        <p:nvSpPr>
          <p:cNvPr id="341" name="Shape 11"/>
          <p:cNvSpPr/>
          <p:nvPr/>
        </p:nvSpPr>
        <p:spPr>
          <a:xfrm>
            <a:off x="548639" y="5440679"/>
            <a:ext cx="11064242" cy="457201"/>
          </a:xfrm>
          <a:prstGeom prst="rect">
            <a:avLst/>
          </a:prstGeom>
          <a:solidFill>
            <a:srgbClr val="F5F1E8"/>
          </a:solidFill>
          <a:ln>
            <a:solidFill>
              <a:srgbClr val="E8DFC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42" name="Shape 12"/>
          <p:cNvSpPr/>
          <p:nvPr/>
        </p:nvSpPr>
        <p:spPr>
          <a:xfrm>
            <a:off x="548640" y="5440679"/>
            <a:ext cx="50293" cy="457201"/>
          </a:xfrm>
          <a:prstGeom prst="rect">
            <a:avLst/>
          </a:prstGeom>
          <a:solidFill>
            <a:srgbClr val="A87F5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43" name="Text 13"/>
          <p:cNvSpPr txBox="1"/>
          <p:nvPr/>
        </p:nvSpPr>
        <p:spPr>
          <a:xfrm>
            <a:off x="749808" y="5580379"/>
            <a:ext cx="10652760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用工方式与边界在组织与采购阶段另行确定。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Shape 0"/>
          <p:cNvSpPr/>
          <p:nvPr/>
        </p:nvSpPr>
        <p:spPr>
          <a:xfrm>
            <a:off x="-1" y="-1"/>
            <a:ext cx="12188954" cy="82298"/>
          </a:xfrm>
          <a:prstGeom prst="rect">
            <a:avLst/>
          </a:prstGeom>
          <a:solidFill>
            <a:srgbClr val="2C5F2D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46" name="Text 1"/>
          <p:cNvSpPr txBox="1"/>
          <p:nvPr/>
        </p:nvSpPr>
        <p:spPr>
          <a:xfrm>
            <a:off x="548639" y="467106"/>
            <a:ext cx="11064242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400">
                <a:solidFill>
                  <a:srgbClr val="1F422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人员需求 · 岗位与职责</a:t>
            </a:r>
          </a:p>
        </p:txBody>
      </p:sp>
      <p:sp>
        <p:nvSpPr>
          <p:cNvPr id="347" name="Text 2"/>
          <p:cNvSpPr txBox="1"/>
          <p:nvPr/>
        </p:nvSpPr>
        <p:spPr>
          <a:xfrm>
            <a:off x="548639" y="952753"/>
            <a:ext cx="11064242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自有编制，峰值 27 人 · 三节点</a:t>
            </a:r>
          </a:p>
        </p:txBody>
      </p:sp>
      <p:sp>
        <p:nvSpPr>
          <p:cNvPr id="348" name="Text 3"/>
          <p:cNvSpPr txBox="1"/>
          <p:nvPr/>
        </p:nvSpPr>
        <p:spPr>
          <a:xfrm>
            <a:off x="10332719" y="6605269"/>
            <a:ext cx="128016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16 / 19</a:t>
            </a:r>
          </a:p>
        </p:txBody>
      </p:sp>
      <p:sp>
        <p:nvSpPr>
          <p:cNvPr id="349" name="Text 4"/>
          <p:cNvSpPr txBox="1"/>
          <p:nvPr/>
        </p:nvSpPr>
        <p:spPr>
          <a:xfrm>
            <a:off x="548640" y="6592569"/>
            <a:ext cx="7315201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稻生万物 · 能力中心与渠道中心建设规划</a:t>
            </a:r>
          </a:p>
        </p:txBody>
      </p:sp>
      <p:graphicFrame>
        <p:nvGraphicFramePr>
          <p:cNvPr id="350" name="Table 0"/>
          <p:cNvGraphicFramePr/>
          <p:nvPr/>
        </p:nvGraphicFramePr>
        <p:xfrm>
          <a:off x="548640" y="1325880"/>
          <a:ext cx="11064239" cy="4224528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2212848"/>
                <a:gridCol w="663854"/>
                <a:gridCol w="663854"/>
                <a:gridCol w="663854"/>
                <a:gridCol w="4204411"/>
                <a:gridCol w="2655418"/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岗位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一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二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三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职责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配置说明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能力中心负责人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定方向、判交付质量、对外协调。需同时理解业务与技术可行性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核心岗位 · 一人管三地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产品与开发管理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2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3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把业务需求翻译成可验收的规格，管交付节奏与质量，守住知识资产归属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三地工艺不同，阶段三加 1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数据工程师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0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3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4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点位与时序数据、统一语义模型、数据服务与权限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点位按站点建，随节点加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基础设施运维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2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4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GPU、存储、网络的日常运维与故障响应。自持设备后阶段一即需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托管为主，三地各需现场处置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业务专家（认证/工艺/招商）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0.5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2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4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内部抽调。演示业务流程供系统凝固，核对复用结果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内部抽调 · 每地出人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渠道中心负责人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0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统筹三条线。阶段一由管理层直接分管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统筹三条线 · 一人管三地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政府关系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2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3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政策跟踪、专项申报、园区与管委会对接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★ 每地一人 · 政策各申各的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合作伙伴 / BD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0.5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2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3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上下游、检测认证机构、高校院所的关系归口与拓展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按区域拓展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渠道销售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0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2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4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材料分销、能力订阅、认证代办的销售与回款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按区域覆盖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合计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5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17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27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峰值 27 人，随节点投产配置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—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</a:tr>
            </a:tbl>
          </a:graphicData>
        </a:graphic>
      </p:graphicFrame>
      <p:sp>
        <p:nvSpPr>
          <p:cNvPr id="351" name="Shape 5"/>
          <p:cNvSpPr/>
          <p:nvPr/>
        </p:nvSpPr>
        <p:spPr>
          <a:xfrm>
            <a:off x="548639" y="5806440"/>
            <a:ext cx="11064242" cy="457201"/>
          </a:xfrm>
          <a:prstGeom prst="rect">
            <a:avLst/>
          </a:prstGeom>
          <a:solidFill>
            <a:srgbClr val="F5F1E8"/>
          </a:solidFill>
          <a:ln>
            <a:solidFill>
              <a:srgbClr val="E8DFC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52" name="Shape 6"/>
          <p:cNvSpPr/>
          <p:nvPr/>
        </p:nvSpPr>
        <p:spPr>
          <a:xfrm>
            <a:off x="548640" y="5806440"/>
            <a:ext cx="50293" cy="457201"/>
          </a:xfrm>
          <a:prstGeom prst="rect">
            <a:avLst/>
          </a:prstGeom>
          <a:solidFill>
            <a:srgbClr val="A87F5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53" name="Text 7"/>
          <p:cNvSpPr txBox="1"/>
          <p:nvPr/>
        </p:nvSpPr>
        <p:spPr>
          <a:xfrm>
            <a:off x="749808" y="5946139"/>
            <a:ext cx="10652760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能力中心负责人与业务专家两项是启动前提：前者决定方向与验收质量，后者决定系统能凝固出什么。三节点下政府关系是唯一「不加不行」的岗位——三地政策各申各的，属地关系无法远程；两个负责人岗反而不加，一人管三地才能保持方向一致。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FFE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Box 2"/>
          <p:cNvSpPr/>
          <p:nvPr/>
        </p:nvSpPr>
        <p:spPr>
          <a:xfrm>
            <a:off x="-1" y="-1"/>
            <a:ext cx="12191697" cy="50294"/>
          </a:xfrm>
          <a:prstGeom prst="rect">
            <a:avLst/>
          </a:prstGeom>
          <a:solidFill>
            <a:srgbClr val="1F5A46"/>
          </a:solidFill>
          <a:ln w="12700">
            <a:solidFill>
              <a:srgbClr val="1F5A46"/>
            </a:solidFill>
          </a:ln>
        </p:spPr>
        <p:txBody>
          <a:bodyPr lIns="45719" rIns="45719" anchor="ctr"/>
          <a:lstStyle/>
          <a:p>
            <a:pPr algn="ctr">
              <a:defRPr sz="100"/>
            </a:pPr>
          </a:p>
        </p:txBody>
      </p:sp>
      <p:grpSp>
        <p:nvGrpSpPr>
          <p:cNvPr id="358" name="Box 6"/>
          <p:cNvGrpSpPr/>
          <p:nvPr/>
        </p:nvGrpSpPr>
        <p:grpSpPr>
          <a:xfrm>
            <a:off x="566927" y="1572767"/>
            <a:ext cx="1371601" cy="566929"/>
            <a:chOff x="0" y="0"/>
            <a:chExt cx="1371600" cy="566927"/>
          </a:xfrm>
        </p:grpSpPr>
        <p:sp>
          <p:nvSpPr>
            <p:cNvPr id="356" name="圆角矩形"/>
            <p:cNvSpPr/>
            <p:nvPr/>
          </p:nvSpPr>
          <p:spPr>
            <a:xfrm>
              <a:off x="0" y="0"/>
              <a:ext cx="1371600" cy="566928"/>
            </a:xfrm>
            <a:prstGeom prst="roundRect">
              <a:avLst>
                <a:gd name="adj" fmla="val 16667"/>
              </a:avLst>
            </a:prstGeom>
            <a:solidFill>
              <a:srgbClr val="EEF3ED"/>
            </a:solidFill>
            <a:ln w="12700" cap="flat">
              <a:solidFill>
                <a:srgbClr val="8AA68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000"/>
              </a:pPr>
            </a:p>
          </p:txBody>
        </p:sp>
        <p:sp>
          <p:nvSpPr>
            <p:cNvPr id="357" name="园区用户…"/>
            <p:cNvSpPr txBox="1"/>
            <p:nvPr/>
          </p:nvSpPr>
          <p:spPr>
            <a:xfrm>
              <a:off x="70601" y="69088"/>
              <a:ext cx="1230398" cy="4287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576" tIns="36576" rIns="36576" bIns="36576" numCol="1" anchor="ctr">
              <a:spAutoFit/>
            </a:bodyPr>
            <a:lstStyle/>
            <a:p>
              <a:pPr algn="ctr">
                <a:defRPr b="1" sz="1000">
                  <a:solidFill>
                    <a:srgbClr val="24332B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rPr b="0">
                  <a:latin typeface="PingFang SC Semibold"/>
                  <a:ea typeface="PingFang SC Semibold"/>
                  <a:cs typeface="PingFang SC Semibold"/>
                  <a:sym typeface="PingFang SC Semibold"/>
                </a:rPr>
                <a:t>园区用户</a:t>
              </a:r>
            </a:p>
            <a:p>
              <a:pPr algn="ctr">
                <a:defRPr b="1" sz="1000">
                  <a:solidFill>
                    <a:srgbClr val="24332B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rPr b="0">
                  <a:latin typeface="PingFang SC Semibold"/>
                  <a:ea typeface="PingFang SC Semibold"/>
                  <a:cs typeface="PingFang SC Semibold"/>
                  <a:sym typeface="PingFang SC Semibold"/>
                </a:rPr>
                <a:t>管理终端</a:t>
              </a:r>
            </a:p>
          </p:txBody>
        </p:sp>
      </p:grpSp>
      <p:sp>
        <p:nvSpPr>
          <p:cNvPr id="359" name="Connector 7"/>
          <p:cNvSpPr/>
          <p:nvPr/>
        </p:nvSpPr>
        <p:spPr>
          <a:xfrm>
            <a:off x="1965960" y="1856232"/>
            <a:ext cx="365761" cy="9145"/>
          </a:xfrm>
          <a:prstGeom prst="line">
            <a:avLst/>
          </a:prstGeom>
          <a:ln w="19050">
            <a:solidFill>
              <a:srgbClr val="7B9284"/>
            </a:solidFill>
            <a:tailEnd type="triangle"/>
          </a:ln>
        </p:spPr>
        <p:txBody>
          <a:bodyPr lIns="45719" rIns="45719"/>
          <a:lstStyle/>
          <a:p>
            <a:pPr/>
          </a:p>
        </p:txBody>
      </p:sp>
      <p:grpSp>
        <p:nvGrpSpPr>
          <p:cNvPr id="362" name="Box 8"/>
          <p:cNvGrpSpPr/>
          <p:nvPr/>
        </p:nvGrpSpPr>
        <p:grpSpPr>
          <a:xfrm>
            <a:off x="2331720" y="1572767"/>
            <a:ext cx="1417321" cy="566929"/>
            <a:chOff x="0" y="0"/>
            <a:chExt cx="1417319" cy="566927"/>
          </a:xfrm>
        </p:grpSpPr>
        <p:sp>
          <p:nvSpPr>
            <p:cNvPr id="360" name="圆角矩形"/>
            <p:cNvSpPr/>
            <p:nvPr/>
          </p:nvSpPr>
          <p:spPr>
            <a:xfrm>
              <a:off x="0" y="0"/>
              <a:ext cx="1417320" cy="566928"/>
            </a:xfrm>
            <a:prstGeom prst="roundRect">
              <a:avLst>
                <a:gd name="adj" fmla="val 16667"/>
              </a:avLst>
            </a:prstGeom>
            <a:solidFill>
              <a:srgbClr val="F7EFE3"/>
            </a:solidFill>
            <a:ln w="12700" cap="flat">
              <a:solidFill>
                <a:srgbClr val="C4AA72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000"/>
              </a:pPr>
            </a:p>
          </p:txBody>
        </p:sp>
        <p:sp>
          <p:nvSpPr>
            <p:cNvPr id="361" name="防火墙 / WAF…"/>
            <p:cNvSpPr txBox="1"/>
            <p:nvPr/>
          </p:nvSpPr>
          <p:spPr>
            <a:xfrm>
              <a:off x="70600" y="69088"/>
              <a:ext cx="1276120" cy="4287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576" tIns="36576" rIns="36576" bIns="36576" numCol="1" anchor="ctr">
              <a:spAutoFit/>
            </a:bodyPr>
            <a:lstStyle/>
            <a:p>
              <a:pPr algn="ctr">
                <a:defRPr b="1" sz="1000">
                  <a:solidFill>
                    <a:srgbClr val="24332B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rPr b="0">
                  <a:latin typeface="PingFang SC Semibold"/>
                  <a:ea typeface="PingFang SC Semibold"/>
                  <a:cs typeface="PingFang SC Semibold"/>
                  <a:sym typeface="PingFang SC Semibold"/>
                </a:rPr>
                <a:t>防火墙 </a:t>
              </a:r>
              <a:r>
                <a:t>/ WAF</a:t>
              </a:r>
            </a:p>
            <a:p>
              <a:pPr algn="ctr">
                <a:defRPr b="1" sz="1000">
                  <a:solidFill>
                    <a:srgbClr val="24332B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rPr b="0">
                  <a:latin typeface="PingFang SC Semibold"/>
                  <a:ea typeface="PingFang SC Semibold"/>
                  <a:cs typeface="PingFang SC Semibold"/>
                  <a:sym typeface="PingFang SC Semibold"/>
                </a:rPr>
                <a:t>安全接入</a:t>
              </a:r>
            </a:p>
          </p:txBody>
        </p:sp>
      </p:grpSp>
      <p:sp>
        <p:nvSpPr>
          <p:cNvPr id="363" name="Connector 9"/>
          <p:cNvSpPr/>
          <p:nvPr/>
        </p:nvSpPr>
        <p:spPr>
          <a:xfrm>
            <a:off x="3767328" y="1856232"/>
            <a:ext cx="329185" cy="9145"/>
          </a:xfrm>
          <a:prstGeom prst="line">
            <a:avLst/>
          </a:prstGeom>
          <a:ln w="19050">
            <a:solidFill>
              <a:srgbClr val="7B9284"/>
            </a:solidFill>
            <a:tailEnd type="triangle"/>
          </a:ln>
        </p:spPr>
        <p:txBody>
          <a:bodyPr lIns="45719" rIns="45719"/>
          <a:lstStyle/>
          <a:p>
            <a:pPr/>
          </a:p>
        </p:txBody>
      </p:sp>
      <p:grpSp>
        <p:nvGrpSpPr>
          <p:cNvPr id="366" name="Box 10"/>
          <p:cNvGrpSpPr/>
          <p:nvPr/>
        </p:nvGrpSpPr>
        <p:grpSpPr>
          <a:xfrm>
            <a:off x="4096511" y="1572767"/>
            <a:ext cx="1307593" cy="566929"/>
            <a:chOff x="0" y="0"/>
            <a:chExt cx="1307591" cy="566927"/>
          </a:xfrm>
        </p:grpSpPr>
        <p:sp>
          <p:nvSpPr>
            <p:cNvPr id="364" name="圆角矩形"/>
            <p:cNvSpPr/>
            <p:nvPr/>
          </p:nvSpPr>
          <p:spPr>
            <a:xfrm>
              <a:off x="0" y="0"/>
              <a:ext cx="1307592" cy="566928"/>
            </a:xfrm>
            <a:prstGeom prst="roundRect">
              <a:avLst>
                <a:gd name="adj" fmla="val 16667"/>
              </a:avLst>
            </a:prstGeom>
            <a:solidFill>
              <a:srgbClr val="E6EFE9"/>
            </a:solidFill>
            <a:ln w="12700" cap="flat">
              <a:solidFill>
                <a:srgbClr val="8AA68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000"/>
              </a:pPr>
            </a:p>
          </p:txBody>
        </p:sp>
        <p:sp>
          <p:nvSpPr>
            <p:cNvPr id="365" name="负载均衡…"/>
            <p:cNvSpPr txBox="1"/>
            <p:nvPr/>
          </p:nvSpPr>
          <p:spPr>
            <a:xfrm>
              <a:off x="70601" y="69088"/>
              <a:ext cx="1166390" cy="4287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576" tIns="36576" rIns="36576" bIns="36576" numCol="1" anchor="ctr">
              <a:spAutoFit/>
            </a:bodyPr>
            <a:lstStyle/>
            <a:p>
              <a:pPr algn="ctr">
                <a:defRPr b="1" sz="1000">
                  <a:solidFill>
                    <a:srgbClr val="24332B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rPr b="0">
                  <a:latin typeface="PingFang SC Semibold"/>
                  <a:ea typeface="PingFang SC Semibold"/>
                  <a:cs typeface="PingFang SC Semibold"/>
                  <a:sym typeface="PingFang SC Semibold"/>
                </a:rPr>
                <a:t>负载均衡</a:t>
              </a:r>
            </a:p>
            <a:p>
              <a:pPr algn="ctr">
                <a:defRPr b="1" sz="1000">
                  <a:solidFill>
                    <a:srgbClr val="24332B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2 </a:t>
              </a:r>
              <a:r>
                <a:rPr b="0">
                  <a:latin typeface="PingFang SC Semibold"/>
                  <a:ea typeface="PingFang SC Semibold"/>
                  <a:cs typeface="PingFang SC Semibold"/>
                  <a:sym typeface="PingFang SC Semibold"/>
                </a:rPr>
                <a:t>台</a:t>
              </a:r>
            </a:p>
          </p:txBody>
        </p:sp>
      </p:grpSp>
      <p:sp>
        <p:nvSpPr>
          <p:cNvPr id="367" name="Connector 11"/>
          <p:cNvSpPr/>
          <p:nvPr/>
        </p:nvSpPr>
        <p:spPr>
          <a:xfrm>
            <a:off x="5413247" y="1856232"/>
            <a:ext cx="329185" cy="9145"/>
          </a:xfrm>
          <a:prstGeom prst="line">
            <a:avLst/>
          </a:prstGeom>
          <a:ln w="19050">
            <a:solidFill>
              <a:srgbClr val="7B9284"/>
            </a:solidFill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368" name="Box 12"/>
          <p:cNvSpPr/>
          <p:nvPr/>
        </p:nvSpPr>
        <p:spPr>
          <a:xfrm>
            <a:off x="5742432" y="1353311"/>
            <a:ext cx="3063241" cy="2231137"/>
          </a:xfrm>
          <a:prstGeom prst="roundRect">
            <a:avLst>
              <a:gd name="adj" fmla="val 16667"/>
            </a:avLst>
          </a:prstGeom>
          <a:solidFill>
            <a:srgbClr val="FBFAF5"/>
          </a:solidFill>
          <a:ln w="12700">
            <a:solidFill>
              <a:srgbClr val="4F7D68"/>
            </a:solidFill>
          </a:ln>
        </p:spPr>
        <p:txBody>
          <a:bodyPr lIns="45719" rIns="45719" anchor="ctr"/>
          <a:lstStyle/>
          <a:p>
            <a:pPr algn="ctr">
              <a:defRPr sz="100"/>
            </a:pPr>
          </a:p>
        </p:txBody>
      </p:sp>
      <p:grpSp>
        <p:nvGrpSpPr>
          <p:cNvPr id="371" name="Box 14"/>
          <p:cNvGrpSpPr/>
          <p:nvPr/>
        </p:nvGrpSpPr>
        <p:grpSpPr>
          <a:xfrm>
            <a:off x="5943600" y="1810511"/>
            <a:ext cx="2651761" cy="594361"/>
            <a:chOff x="0" y="0"/>
            <a:chExt cx="2651760" cy="594359"/>
          </a:xfrm>
        </p:grpSpPr>
        <p:sp>
          <p:nvSpPr>
            <p:cNvPr id="369" name="圆角矩形"/>
            <p:cNvSpPr/>
            <p:nvPr/>
          </p:nvSpPr>
          <p:spPr>
            <a:xfrm>
              <a:off x="0" y="0"/>
              <a:ext cx="2651761" cy="594360"/>
            </a:xfrm>
            <a:prstGeom prst="roundRect">
              <a:avLst>
                <a:gd name="adj" fmla="val 16667"/>
              </a:avLst>
            </a:prstGeom>
            <a:solidFill>
              <a:srgbClr val="E6EFE9"/>
            </a:solidFill>
            <a:ln w="12700" cap="flat">
              <a:solidFill>
                <a:srgbClr val="8AA68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100"/>
              </a:pPr>
            </a:p>
          </p:txBody>
        </p:sp>
        <p:sp>
          <p:nvSpPr>
            <p:cNvPr id="370" name="应用 / 智能体编排…"/>
            <p:cNvSpPr txBox="1"/>
            <p:nvPr/>
          </p:nvSpPr>
          <p:spPr>
            <a:xfrm>
              <a:off x="71940" y="57404"/>
              <a:ext cx="2507880" cy="4795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576" tIns="36576" rIns="36576" bIns="36576" numCol="1" anchor="ctr">
              <a:spAutoFit/>
            </a:bodyPr>
            <a:lstStyle/>
            <a:p>
              <a:pPr algn="ctr">
                <a:defRPr b="1" sz="1100">
                  <a:solidFill>
                    <a:srgbClr val="24332B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rPr b="0">
                  <a:latin typeface="PingFang SC Semibold"/>
                  <a:ea typeface="PingFang SC Semibold"/>
                  <a:cs typeface="PingFang SC Semibold"/>
                  <a:sym typeface="PingFang SC Semibold"/>
                </a:rPr>
                <a:t>应用 </a:t>
              </a:r>
              <a:r>
                <a:t>/ </a:t>
              </a:r>
              <a:r>
                <a:rPr b="0">
                  <a:latin typeface="PingFang SC Semibold"/>
                  <a:ea typeface="PingFang SC Semibold"/>
                  <a:cs typeface="PingFang SC Semibold"/>
                  <a:sym typeface="PingFang SC Semibold"/>
                </a:rPr>
                <a:t>智能体编排</a:t>
              </a:r>
            </a:p>
            <a:p>
              <a:pPr algn="ctr">
                <a:defRPr b="1" sz="1100">
                  <a:solidFill>
                    <a:srgbClr val="24332B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2 </a:t>
              </a:r>
              <a:r>
                <a:rPr b="0">
                  <a:latin typeface="PingFang SC Semibold"/>
                  <a:ea typeface="PingFang SC Semibold"/>
                  <a:cs typeface="PingFang SC Semibold"/>
                  <a:sym typeface="PingFang SC Semibold"/>
                </a:rPr>
                <a:t>台</a:t>
              </a:r>
            </a:p>
          </p:txBody>
        </p:sp>
      </p:grpSp>
      <p:sp>
        <p:nvSpPr>
          <p:cNvPr id="372" name="Connector 15"/>
          <p:cNvSpPr/>
          <p:nvPr/>
        </p:nvSpPr>
        <p:spPr>
          <a:xfrm>
            <a:off x="7269480" y="2414016"/>
            <a:ext cx="9145" cy="182881"/>
          </a:xfrm>
          <a:prstGeom prst="line">
            <a:avLst/>
          </a:prstGeom>
          <a:ln w="19050">
            <a:solidFill>
              <a:srgbClr val="7B9284"/>
            </a:solidFill>
            <a:tailEnd type="triangle"/>
          </a:ln>
        </p:spPr>
        <p:txBody>
          <a:bodyPr lIns="45719" rIns="45719"/>
          <a:lstStyle/>
          <a:p>
            <a:pPr/>
          </a:p>
        </p:txBody>
      </p:sp>
      <p:grpSp>
        <p:nvGrpSpPr>
          <p:cNvPr id="375" name="Box 16"/>
          <p:cNvGrpSpPr/>
          <p:nvPr/>
        </p:nvGrpSpPr>
        <p:grpSpPr>
          <a:xfrm>
            <a:off x="5943600" y="2596895"/>
            <a:ext cx="2651761" cy="594361"/>
            <a:chOff x="0" y="0"/>
            <a:chExt cx="2651760" cy="594359"/>
          </a:xfrm>
        </p:grpSpPr>
        <p:sp>
          <p:nvSpPr>
            <p:cNvPr id="373" name="圆角矩形"/>
            <p:cNvSpPr/>
            <p:nvPr/>
          </p:nvSpPr>
          <p:spPr>
            <a:xfrm>
              <a:off x="0" y="0"/>
              <a:ext cx="2651761" cy="594360"/>
            </a:xfrm>
            <a:prstGeom prst="roundRect">
              <a:avLst>
                <a:gd name="adj" fmla="val 16667"/>
              </a:avLst>
            </a:prstGeom>
            <a:solidFill>
              <a:srgbClr val="F6F3EA"/>
            </a:solidFill>
            <a:ln w="12700" cap="flat">
              <a:solidFill>
                <a:srgbClr val="B7C7BA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100"/>
              </a:pPr>
            </a:p>
          </p:txBody>
        </p:sp>
        <p:sp>
          <p:nvSpPr>
            <p:cNvPr id="374" name="中间件服务…"/>
            <p:cNvSpPr txBox="1"/>
            <p:nvPr/>
          </p:nvSpPr>
          <p:spPr>
            <a:xfrm>
              <a:off x="71940" y="57404"/>
              <a:ext cx="2507880" cy="4795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576" tIns="36576" rIns="36576" bIns="36576" numCol="1" anchor="ctr">
              <a:spAutoFit/>
            </a:bodyPr>
            <a:lstStyle/>
            <a:p>
              <a:pPr algn="ctr">
                <a:defRPr b="1" sz="1100">
                  <a:solidFill>
                    <a:srgbClr val="24332B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rPr b="0">
                  <a:latin typeface="PingFang SC Semibold"/>
                  <a:ea typeface="PingFang SC Semibold"/>
                  <a:cs typeface="PingFang SC Semibold"/>
                  <a:sym typeface="PingFang SC Semibold"/>
                </a:rPr>
                <a:t>中间件服务</a:t>
              </a:r>
            </a:p>
            <a:p>
              <a:pPr algn="ctr">
                <a:defRPr b="1" sz="1100">
                  <a:solidFill>
                    <a:srgbClr val="24332B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2 </a:t>
              </a:r>
              <a:r>
                <a:rPr b="0">
                  <a:latin typeface="PingFang SC Semibold"/>
                  <a:ea typeface="PingFang SC Semibold"/>
                  <a:cs typeface="PingFang SC Semibold"/>
                  <a:sym typeface="PingFang SC Semibold"/>
                </a:rPr>
                <a:t>台</a:t>
              </a:r>
            </a:p>
          </p:txBody>
        </p:sp>
      </p:grpSp>
      <p:sp>
        <p:nvSpPr>
          <p:cNvPr id="376" name="Box 17"/>
          <p:cNvSpPr/>
          <p:nvPr/>
        </p:nvSpPr>
        <p:spPr>
          <a:xfrm>
            <a:off x="9089135" y="1353311"/>
            <a:ext cx="2542033" cy="2231137"/>
          </a:xfrm>
          <a:prstGeom prst="roundRect">
            <a:avLst>
              <a:gd name="adj" fmla="val 16667"/>
            </a:avLst>
          </a:prstGeom>
          <a:solidFill>
            <a:srgbClr val="FBFAF5"/>
          </a:solidFill>
          <a:ln w="12700">
            <a:solidFill>
              <a:srgbClr val="4F7D68"/>
            </a:solidFill>
          </a:ln>
        </p:spPr>
        <p:txBody>
          <a:bodyPr lIns="45719" rIns="45719" anchor="ctr"/>
          <a:lstStyle/>
          <a:p>
            <a:pPr algn="ctr">
              <a:defRPr sz="100"/>
            </a:pPr>
          </a:p>
        </p:txBody>
      </p:sp>
      <p:grpSp>
        <p:nvGrpSpPr>
          <p:cNvPr id="379" name="Box 19"/>
          <p:cNvGrpSpPr/>
          <p:nvPr/>
        </p:nvGrpSpPr>
        <p:grpSpPr>
          <a:xfrm>
            <a:off x="9308592" y="1810511"/>
            <a:ext cx="2103121" cy="594361"/>
            <a:chOff x="0" y="0"/>
            <a:chExt cx="2103120" cy="594359"/>
          </a:xfrm>
        </p:grpSpPr>
        <p:sp>
          <p:nvSpPr>
            <p:cNvPr id="377" name="圆角矩形"/>
            <p:cNvSpPr/>
            <p:nvPr/>
          </p:nvSpPr>
          <p:spPr>
            <a:xfrm>
              <a:off x="0" y="0"/>
              <a:ext cx="2103121" cy="594360"/>
            </a:xfrm>
            <a:prstGeom prst="roundRect">
              <a:avLst>
                <a:gd name="adj" fmla="val 16667"/>
              </a:avLst>
            </a:prstGeom>
            <a:solidFill>
              <a:srgbClr val="E6EFE9"/>
            </a:solidFill>
            <a:ln w="12700" cap="flat">
              <a:solidFill>
                <a:srgbClr val="8AA68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000"/>
              </a:pPr>
            </a:p>
          </p:txBody>
        </p:sp>
        <p:sp>
          <p:nvSpPr>
            <p:cNvPr id="378" name="GPU 组 A · 3 台…"/>
            <p:cNvSpPr txBox="1"/>
            <p:nvPr/>
          </p:nvSpPr>
          <p:spPr>
            <a:xfrm>
              <a:off x="71939" y="82803"/>
              <a:ext cx="1959242" cy="4287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576" tIns="36576" rIns="36576" bIns="36576" numCol="1" anchor="ctr">
              <a:spAutoFit/>
            </a:bodyPr>
            <a:lstStyle/>
            <a:p>
              <a:pPr algn="ctr">
                <a:defRPr b="1" sz="1000">
                  <a:solidFill>
                    <a:srgbClr val="24332B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GPU </a:t>
              </a:r>
              <a:r>
                <a:rPr b="0">
                  <a:latin typeface="PingFang SC Semibold"/>
                  <a:ea typeface="PingFang SC Semibold"/>
                  <a:cs typeface="PingFang SC Semibold"/>
                  <a:sym typeface="PingFang SC Semibold"/>
                </a:rPr>
                <a:t>组 </a:t>
              </a:r>
              <a:r>
                <a:t>A · 3 </a:t>
              </a:r>
              <a:r>
                <a:rPr b="0">
                  <a:latin typeface="PingFang SC Semibold"/>
                  <a:ea typeface="PingFang SC Semibold"/>
                  <a:cs typeface="PingFang SC Semibold"/>
                  <a:sym typeface="PingFang SC Semibold"/>
                </a:rPr>
                <a:t>台</a:t>
              </a:r>
            </a:p>
            <a:p>
              <a:pPr algn="ctr">
                <a:defRPr b="1" sz="1000">
                  <a:solidFill>
                    <a:srgbClr val="24332B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rPr b="0">
                  <a:latin typeface="PingFang SC Semibold"/>
                  <a:ea typeface="PingFang SC Semibold"/>
                  <a:cs typeface="PingFang SC Semibold"/>
                  <a:sym typeface="PingFang SC Semibold"/>
                </a:rPr>
                <a:t>完整模型实例</a:t>
              </a:r>
            </a:p>
          </p:txBody>
        </p:sp>
      </p:grpSp>
      <p:grpSp>
        <p:nvGrpSpPr>
          <p:cNvPr id="382" name="Box 20"/>
          <p:cNvGrpSpPr/>
          <p:nvPr/>
        </p:nvGrpSpPr>
        <p:grpSpPr>
          <a:xfrm>
            <a:off x="9308592" y="2596895"/>
            <a:ext cx="2103121" cy="594361"/>
            <a:chOff x="0" y="0"/>
            <a:chExt cx="2103120" cy="594359"/>
          </a:xfrm>
        </p:grpSpPr>
        <p:sp>
          <p:nvSpPr>
            <p:cNvPr id="380" name="圆角矩形"/>
            <p:cNvSpPr/>
            <p:nvPr/>
          </p:nvSpPr>
          <p:spPr>
            <a:xfrm>
              <a:off x="0" y="0"/>
              <a:ext cx="2103121" cy="594360"/>
            </a:xfrm>
            <a:prstGeom prst="roundRect">
              <a:avLst>
                <a:gd name="adj" fmla="val 16667"/>
              </a:avLst>
            </a:prstGeom>
            <a:solidFill>
              <a:srgbClr val="E6EFE9"/>
            </a:solidFill>
            <a:ln w="12700" cap="flat">
              <a:solidFill>
                <a:srgbClr val="8AA68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000"/>
              </a:pPr>
            </a:p>
          </p:txBody>
        </p:sp>
        <p:sp>
          <p:nvSpPr>
            <p:cNvPr id="381" name="GPU 组 B · 3 台…"/>
            <p:cNvSpPr txBox="1"/>
            <p:nvPr/>
          </p:nvSpPr>
          <p:spPr>
            <a:xfrm>
              <a:off x="71939" y="82803"/>
              <a:ext cx="1959242" cy="4287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576" tIns="36576" rIns="36576" bIns="36576" numCol="1" anchor="ctr">
              <a:spAutoFit/>
            </a:bodyPr>
            <a:lstStyle/>
            <a:p>
              <a:pPr algn="ctr">
                <a:defRPr b="1" sz="1000">
                  <a:solidFill>
                    <a:srgbClr val="24332B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GPU </a:t>
              </a:r>
              <a:r>
                <a:rPr b="0">
                  <a:latin typeface="PingFang SC Semibold"/>
                  <a:ea typeface="PingFang SC Semibold"/>
                  <a:cs typeface="PingFang SC Semibold"/>
                  <a:sym typeface="PingFang SC Semibold"/>
                </a:rPr>
                <a:t>组 </a:t>
              </a:r>
              <a:r>
                <a:t>B · 3 </a:t>
              </a:r>
              <a:r>
                <a:rPr b="0">
                  <a:latin typeface="PingFang SC Semibold"/>
                  <a:ea typeface="PingFang SC Semibold"/>
                  <a:cs typeface="PingFang SC Semibold"/>
                  <a:sym typeface="PingFang SC Semibold"/>
                </a:rPr>
                <a:t>台</a:t>
              </a:r>
            </a:p>
            <a:p>
              <a:pPr algn="ctr">
                <a:defRPr b="1" sz="1000">
                  <a:solidFill>
                    <a:srgbClr val="24332B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rPr b="0">
                  <a:latin typeface="PingFang SC Semibold"/>
                  <a:ea typeface="PingFang SC Semibold"/>
                  <a:cs typeface="PingFang SC Semibold"/>
                  <a:sym typeface="PingFang SC Semibold"/>
                </a:rPr>
                <a:t>完整模型实例</a:t>
              </a:r>
            </a:p>
          </p:txBody>
        </p:sp>
      </p:grpSp>
      <p:sp>
        <p:nvSpPr>
          <p:cNvPr id="383" name="Connector 21"/>
          <p:cNvSpPr/>
          <p:nvPr/>
        </p:nvSpPr>
        <p:spPr>
          <a:xfrm>
            <a:off x="8613647" y="2121407"/>
            <a:ext cx="676657" cy="9145"/>
          </a:xfrm>
          <a:prstGeom prst="line">
            <a:avLst/>
          </a:prstGeom>
          <a:ln w="19050">
            <a:solidFill>
              <a:srgbClr val="7B9284"/>
            </a:solidFill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384" name="Connector 22"/>
          <p:cNvSpPr/>
          <p:nvPr/>
        </p:nvSpPr>
        <p:spPr>
          <a:xfrm>
            <a:off x="8613647" y="2889504"/>
            <a:ext cx="676657" cy="9145"/>
          </a:xfrm>
          <a:prstGeom prst="line">
            <a:avLst/>
          </a:prstGeom>
          <a:ln w="19050">
            <a:solidFill>
              <a:srgbClr val="7B9284"/>
            </a:solidFill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385" name="Box 24"/>
          <p:cNvSpPr/>
          <p:nvPr/>
        </p:nvSpPr>
        <p:spPr>
          <a:xfrm>
            <a:off x="5742432" y="3803903"/>
            <a:ext cx="5888736" cy="960121"/>
          </a:xfrm>
          <a:prstGeom prst="roundRect">
            <a:avLst>
              <a:gd name="adj" fmla="val 16667"/>
            </a:avLst>
          </a:prstGeom>
          <a:solidFill>
            <a:srgbClr val="FBFAF5"/>
          </a:solidFill>
          <a:ln w="12700">
            <a:solidFill>
              <a:srgbClr val="557C69"/>
            </a:solidFill>
          </a:ln>
        </p:spPr>
        <p:txBody>
          <a:bodyPr lIns="45719" rIns="45719" anchor="ctr"/>
          <a:lstStyle/>
          <a:p>
            <a:pPr algn="ctr">
              <a:defRPr sz="100"/>
            </a:pPr>
          </a:p>
        </p:txBody>
      </p:sp>
      <p:grpSp>
        <p:nvGrpSpPr>
          <p:cNvPr id="388" name="Box 26"/>
          <p:cNvGrpSpPr/>
          <p:nvPr/>
        </p:nvGrpSpPr>
        <p:grpSpPr>
          <a:xfrm>
            <a:off x="5943600" y="4160520"/>
            <a:ext cx="2514600" cy="438913"/>
            <a:chOff x="0" y="0"/>
            <a:chExt cx="2514600" cy="438912"/>
          </a:xfrm>
        </p:grpSpPr>
        <p:sp>
          <p:nvSpPr>
            <p:cNvPr id="386" name="圆角矩形"/>
            <p:cNvSpPr/>
            <p:nvPr/>
          </p:nvSpPr>
          <p:spPr>
            <a:xfrm>
              <a:off x="0" y="0"/>
              <a:ext cx="2514600" cy="438913"/>
            </a:xfrm>
            <a:prstGeom prst="roundRect">
              <a:avLst>
                <a:gd name="adj" fmla="val 16667"/>
              </a:avLst>
            </a:prstGeom>
            <a:solidFill>
              <a:srgbClr val="EEF3ED"/>
            </a:solidFill>
            <a:ln w="12700" cap="flat">
              <a:solidFill>
                <a:srgbClr val="8AA68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000"/>
              </a:pPr>
            </a:p>
          </p:txBody>
        </p:sp>
        <p:sp>
          <p:nvSpPr>
            <p:cNvPr id="387" name="数据库与数据服务 · 3 台"/>
            <p:cNvSpPr txBox="1"/>
            <p:nvPr/>
          </p:nvSpPr>
          <p:spPr>
            <a:xfrm>
              <a:off x="64352" y="93979"/>
              <a:ext cx="2385896" cy="2509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576" tIns="36576" rIns="36576" bIns="36576" numCol="1" anchor="ctr">
              <a:spAutoFit/>
            </a:bodyPr>
            <a:lstStyle/>
            <a:p>
              <a:pPr algn="ctr">
                <a:defRPr b="1" sz="1000">
                  <a:solidFill>
                    <a:srgbClr val="24332B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rPr b="0">
                  <a:latin typeface="PingFang SC Semibold"/>
                  <a:ea typeface="PingFang SC Semibold"/>
                  <a:cs typeface="PingFang SC Semibold"/>
                  <a:sym typeface="PingFang SC Semibold"/>
                </a:rPr>
                <a:t>数据库与数据服务 </a:t>
              </a:r>
              <a:r>
                <a:t>· 3 </a:t>
              </a:r>
              <a:r>
                <a:rPr b="0">
                  <a:latin typeface="PingFang SC Semibold"/>
                  <a:ea typeface="PingFang SC Semibold"/>
                  <a:cs typeface="PingFang SC Semibold"/>
                  <a:sym typeface="PingFang SC Semibold"/>
                </a:rPr>
                <a:t>台</a:t>
              </a:r>
            </a:p>
          </p:txBody>
        </p:sp>
      </p:grpSp>
      <p:grpSp>
        <p:nvGrpSpPr>
          <p:cNvPr id="391" name="Box 27"/>
          <p:cNvGrpSpPr/>
          <p:nvPr/>
        </p:nvGrpSpPr>
        <p:grpSpPr>
          <a:xfrm>
            <a:off x="8732519" y="4160520"/>
            <a:ext cx="2679193" cy="438913"/>
            <a:chOff x="0" y="0"/>
            <a:chExt cx="2679192" cy="438912"/>
          </a:xfrm>
        </p:grpSpPr>
        <p:sp>
          <p:nvSpPr>
            <p:cNvPr id="389" name="圆角矩形"/>
            <p:cNvSpPr/>
            <p:nvPr/>
          </p:nvSpPr>
          <p:spPr>
            <a:xfrm>
              <a:off x="0" y="0"/>
              <a:ext cx="2679193" cy="438913"/>
            </a:xfrm>
            <a:prstGeom prst="roundRect">
              <a:avLst>
                <a:gd name="adj" fmla="val 16667"/>
              </a:avLst>
            </a:prstGeom>
            <a:solidFill>
              <a:srgbClr val="F6F3EA"/>
            </a:solidFill>
            <a:ln w="12700" cap="flat">
              <a:solidFill>
                <a:srgbClr val="B7C7BA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000"/>
              </a:pPr>
            </a:p>
          </p:txBody>
        </p:sp>
        <p:sp>
          <p:nvSpPr>
            <p:cNvPr id="390" name="集中存储 + 独立备份"/>
            <p:cNvSpPr txBox="1"/>
            <p:nvPr/>
          </p:nvSpPr>
          <p:spPr>
            <a:xfrm>
              <a:off x="64351" y="93979"/>
              <a:ext cx="2550490" cy="2509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576" tIns="36576" rIns="36576" bIns="36576" numCol="1" anchor="ctr">
              <a:spAutoFit/>
            </a:bodyPr>
            <a:lstStyle/>
            <a:p>
              <a:pPr algn="ctr">
                <a:defRPr b="1" sz="1000">
                  <a:solidFill>
                    <a:srgbClr val="24332B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rPr b="0">
                  <a:latin typeface="PingFang SC Semibold"/>
                  <a:ea typeface="PingFang SC Semibold"/>
                  <a:cs typeface="PingFang SC Semibold"/>
                  <a:sym typeface="PingFang SC Semibold"/>
                </a:rPr>
                <a:t>集中存储 </a:t>
              </a:r>
              <a:r>
                <a:t>+ </a:t>
              </a:r>
              <a:r>
                <a:rPr b="0">
                  <a:latin typeface="PingFang SC Semibold"/>
                  <a:ea typeface="PingFang SC Semibold"/>
                  <a:cs typeface="PingFang SC Semibold"/>
                  <a:sym typeface="PingFang SC Semibold"/>
                </a:rPr>
                <a:t>独立备份</a:t>
              </a:r>
            </a:p>
          </p:txBody>
        </p:sp>
      </p:grpSp>
      <p:sp>
        <p:nvSpPr>
          <p:cNvPr id="392" name="Connector 28"/>
          <p:cNvSpPr/>
          <p:nvPr/>
        </p:nvSpPr>
        <p:spPr>
          <a:xfrm>
            <a:off x="7269480" y="3200400"/>
            <a:ext cx="9145" cy="594361"/>
          </a:xfrm>
          <a:prstGeom prst="line">
            <a:avLst/>
          </a:prstGeom>
          <a:ln w="19050">
            <a:solidFill>
              <a:srgbClr val="7B9284"/>
            </a:solidFill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393" name="Box 29"/>
          <p:cNvSpPr/>
          <p:nvPr/>
        </p:nvSpPr>
        <p:spPr>
          <a:xfrm>
            <a:off x="566927" y="2542032"/>
            <a:ext cx="4846322" cy="2221993"/>
          </a:xfrm>
          <a:prstGeom prst="roundRect">
            <a:avLst>
              <a:gd name="adj" fmla="val 16667"/>
            </a:avLst>
          </a:prstGeom>
          <a:solidFill>
            <a:srgbClr val="FCF7EE"/>
          </a:solidFill>
          <a:ln w="12700">
            <a:solidFill>
              <a:srgbClr val="B98A52"/>
            </a:solidFill>
          </a:ln>
        </p:spPr>
        <p:txBody>
          <a:bodyPr lIns="45719" rIns="45719" anchor="ctr"/>
          <a:lstStyle/>
          <a:p>
            <a:pPr algn="ctr">
              <a:defRPr sz="100"/>
            </a:pPr>
          </a:p>
        </p:txBody>
      </p:sp>
      <p:grpSp>
        <p:nvGrpSpPr>
          <p:cNvPr id="396" name="Box 31"/>
          <p:cNvGrpSpPr/>
          <p:nvPr/>
        </p:nvGrpSpPr>
        <p:grpSpPr>
          <a:xfrm>
            <a:off x="749808" y="2999232"/>
            <a:ext cx="1298448" cy="566929"/>
            <a:chOff x="0" y="0"/>
            <a:chExt cx="1298447" cy="566927"/>
          </a:xfrm>
        </p:grpSpPr>
        <p:sp>
          <p:nvSpPr>
            <p:cNvPr id="394" name="圆角矩形"/>
            <p:cNvSpPr/>
            <p:nvPr/>
          </p:nvSpPr>
          <p:spPr>
            <a:xfrm>
              <a:off x="0" y="0"/>
              <a:ext cx="1298448" cy="566928"/>
            </a:xfrm>
            <a:prstGeom prst="roundRect">
              <a:avLst>
                <a:gd name="adj" fmla="val 16667"/>
              </a:avLst>
            </a:prstGeom>
            <a:solidFill>
              <a:srgbClr val="F2E3D0"/>
            </a:solidFill>
            <a:ln w="12700" cap="flat">
              <a:solidFill>
                <a:srgbClr val="B98A52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000"/>
              </a:pPr>
            </a:p>
          </p:txBody>
        </p:sp>
        <p:sp>
          <p:nvSpPr>
            <p:cNvPr id="395" name="工业防火墙…"/>
            <p:cNvSpPr txBox="1"/>
            <p:nvPr/>
          </p:nvSpPr>
          <p:spPr>
            <a:xfrm>
              <a:off x="70600" y="69088"/>
              <a:ext cx="1157248" cy="4287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576" tIns="36576" rIns="36576" bIns="36576" numCol="1" anchor="ctr">
              <a:spAutoFit/>
            </a:bodyPr>
            <a:lstStyle/>
            <a:p>
              <a:pPr algn="ctr">
                <a:defRPr b="1" sz="1000">
                  <a:solidFill>
                    <a:srgbClr val="24332B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rPr b="0">
                  <a:latin typeface="PingFang SC Semibold"/>
                  <a:ea typeface="PingFang SC Semibold"/>
                  <a:cs typeface="PingFang SC Semibold"/>
                  <a:sym typeface="PingFang SC Semibold"/>
                </a:rPr>
                <a:t>工业防火墙</a:t>
              </a:r>
            </a:p>
            <a:p>
              <a:pPr algn="ctr">
                <a:defRPr b="1" sz="1000">
                  <a:solidFill>
                    <a:srgbClr val="24332B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rPr b="0">
                  <a:latin typeface="PingFang SC Semibold"/>
                  <a:ea typeface="PingFang SC Semibold"/>
                  <a:cs typeface="PingFang SC Semibold"/>
                  <a:sym typeface="PingFang SC Semibold"/>
                </a:rPr>
                <a:t>网络隔离</a:t>
              </a:r>
            </a:p>
          </p:txBody>
        </p:sp>
      </p:grpSp>
      <p:sp>
        <p:nvSpPr>
          <p:cNvPr id="397" name="Connector 32"/>
          <p:cNvSpPr/>
          <p:nvPr/>
        </p:nvSpPr>
        <p:spPr>
          <a:xfrm>
            <a:off x="2066544" y="3282696"/>
            <a:ext cx="283465" cy="9145"/>
          </a:xfrm>
          <a:prstGeom prst="line">
            <a:avLst/>
          </a:prstGeom>
          <a:ln w="19050">
            <a:solidFill>
              <a:srgbClr val="7B9284"/>
            </a:solidFill>
            <a:tailEnd type="triangle"/>
          </a:ln>
        </p:spPr>
        <p:txBody>
          <a:bodyPr lIns="45719" rIns="45719"/>
          <a:lstStyle/>
          <a:p>
            <a:pPr/>
          </a:p>
        </p:txBody>
      </p:sp>
      <p:grpSp>
        <p:nvGrpSpPr>
          <p:cNvPr id="400" name="Box 33"/>
          <p:cNvGrpSpPr/>
          <p:nvPr/>
        </p:nvGrpSpPr>
        <p:grpSpPr>
          <a:xfrm>
            <a:off x="2350007" y="2999232"/>
            <a:ext cx="1207009" cy="566929"/>
            <a:chOff x="0" y="0"/>
            <a:chExt cx="1207008" cy="566927"/>
          </a:xfrm>
        </p:grpSpPr>
        <p:sp>
          <p:nvSpPr>
            <p:cNvPr id="398" name="圆角矩形"/>
            <p:cNvSpPr/>
            <p:nvPr/>
          </p:nvSpPr>
          <p:spPr>
            <a:xfrm>
              <a:off x="0" y="0"/>
              <a:ext cx="1207009" cy="566928"/>
            </a:xfrm>
            <a:prstGeom prst="roundRect">
              <a:avLst>
                <a:gd name="adj" fmla="val 16667"/>
              </a:avLst>
            </a:prstGeom>
            <a:solidFill>
              <a:srgbClr val="F7EFE3"/>
            </a:solidFill>
            <a:ln w="12700" cap="flat">
              <a:solidFill>
                <a:srgbClr val="B98A52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000"/>
              </a:pPr>
            </a:p>
          </p:txBody>
        </p:sp>
        <p:sp>
          <p:nvSpPr>
            <p:cNvPr id="399" name="边缘网关…"/>
            <p:cNvSpPr txBox="1"/>
            <p:nvPr/>
          </p:nvSpPr>
          <p:spPr>
            <a:xfrm>
              <a:off x="70601" y="69088"/>
              <a:ext cx="1065806" cy="4287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576" tIns="36576" rIns="36576" bIns="36576" numCol="1" anchor="ctr">
              <a:spAutoFit/>
            </a:bodyPr>
            <a:lstStyle/>
            <a:p>
              <a:pPr algn="ctr">
                <a:defRPr b="1" sz="1000">
                  <a:solidFill>
                    <a:srgbClr val="24332B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rPr b="0">
                  <a:latin typeface="PingFang SC Semibold"/>
                  <a:ea typeface="PingFang SC Semibold"/>
                  <a:cs typeface="PingFang SC Semibold"/>
                  <a:sym typeface="PingFang SC Semibold"/>
                </a:rPr>
                <a:t>边缘网关</a:t>
              </a:r>
            </a:p>
            <a:p>
              <a:pPr algn="ctr">
                <a:defRPr b="1" sz="1000">
                  <a:solidFill>
                    <a:srgbClr val="24332B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rPr b="0">
                  <a:latin typeface="PingFang SC Semibold"/>
                  <a:ea typeface="PingFang SC Semibold"/>
                  <a:cs typeface="PingFang SC Semibold"/>
                  <a:sym typeface="PingFang SC Semibold"/>
                </a:rPr>
                <a:t>协议适配</a:t>
              </a:r>
            </a:p>
          </p:txBody>
        </p:sp>
      </p:grpSp>
      <p:sp>
        <p:nvSpPr>
          <p:cNvPr id="401" name="Connector 34"/>
          <p:cNvSpPr/>
          <p:nvPr/>
        </p:nvSpPr>
        <p:spPr>
          <a:xfrm>
            <a:off x="3575303" y="3282696"/>
            <a:ext cx="246889" cy="9145"/>
          </a:xfrm>
          <a:prstGeom prst="line">
            <a:avLst/>
          </a:prstGeom>
          <a:ln w="19050">
            <a:solidFill>
              <a:srgbClr val="7B9284"/>
            </a:solidFill>
            <a:tailEnd type="triangle"/>
          </a:ln>
        </p:spPr>
        <p:txBody>
          <a:bodyPr lIns="45719" rIns="45719"/>
          <a:lstStyle/>
          <a:p>
            <a:pPr/>
          </a:p>
        </p:txBody>
      </p:sp>
      <p:grpSp>
        <p:nvGrpSpPr>
          <p:cNvPr id="404" name="Box 35"/>
          <p:cNvGrpSpPr/>
          <p:nvPr/>
        </p:nvGrpSpPr>
        <p:grpSpPr>
          <a:xfrm>
            <a:off x="3822191" y="2999232"/>
            <a:ext cx="1371601" cy="566929"/>
            <a:chOff x="0" y="0"/>
            <a:chExt cx="1371600" cy="566927"/>
          </a:xfrm>
        </p:grpSpPr>
        <p:sp>
          <p:nvSpPr>
            <p:cNvPr id="402" name="圆角矩形"/>
            <p:cNvSpPr/>
            <p:nvPr/>
          </p:nvSpPr>
          <p:spPr>
            <a:xfrm>
              <a:off x="0" y="0"/>
              <a:ext cx="1371600" cy="566928"/>
            </a:xfrm>
            <a:prstGeom prst="roundRect">
              <a:avLst>
                <a:gd name="adj" fmla="val 16667"/>
              </a:avLst>
            </a:prstGeom>
            <a:solidFill>
              <a:srgbClr val="F7EFE3"/>
            </a:solidFill>
            <a:ln w="12700" cap="flat">
              <a:solidFill>
                <a:srgbClr val="B98A52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000"/>
              </a:pPr>
            </a:p>
          </p:txBody>
        </p:sp>
        <p:sp>
          <p:nvSpPr>
            <p:cNvPr id="403" name="PLC / 设备…"/>
            <p:cNvSpPr txBox="1"/>
            <p:nvPr/>
          </p:nvSpPr>
          <p:spPr>
            <a:xfrm>
              <a:off x="70601" y="69088"/>
              <a:ext cx="1230398" cy="4287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576" tIns="36576" rIns="36576" bIns="36576" numCol="1" anchor="ctr">
              <a:spAutoFit/>
            </a:bodyPr>
            <a:lstStyle/>
            <a:p>
              <a:pPr algn="ctr">
                <a:defRPr b="1" sz="1000">
                  <a:solidFill>
                    <a:srgbClr val="24332B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PLC / </a:t>
              </a:r>
              <a:r>
                <a:rPr b="0">
                  <a:latin typeface="PingFang SC Semibold"/>
                  <a:ea typeface="PingFang SC Semibold"/>
                  <a:cs typeface="PingFang SC Semibold"/>
                  <a:sym typeface="PingFang SC Semibold"/>
                </a:rPr>
                <a:t>设备</a:t>
              </a:r>
            </a:p>
            <a:p>
              <a:pPr algn="ctr">
                <a:defRPr b="1" sz="1000">
                  <a:solidFill>
                    <a:srgbClr val="24332B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rPr b="0">
                  <a:latin typeface="PingFang SC Semibold"/>
                  <a:ea typeface="PingFang SC Semibold"/>
                  <a:cs typeface="PingFang SC Semibold"/>
                  <a:sym typeface="PingFang SC Semibold"/>
                </a:rPr>
                <a:t>检测仪器</a:t>
              </a:r>
            </a:p>
          </p:txBody>
        </p:sp>
      </p:grpSp>
      <p:grpSp>
        <p:nvGrpSpPr>
          <p:cNvPr id="407" name="Box 36"/>
          <p:cNvGrpSpPr/>
          <p:nvPr/>
        </p:nvGrpSpPr>
        <p:grpSpPr>
          <a:xfrm>
            <a:off x="749808" y="3877055"/>
            <a:ext cx="4443985" cy="493777"/>
            <a:chOff x="0" y="0"/>
            <a:chExt cx="4443984" cy="493776"/>
          </a:xfrm>
        </p:grpSpPr>
        <p:sp>
          <p:nvSpPr>
            <p:cNvPr id="405" name="圆角矩形"/>
            <p:cNvSpPr/>
            <p:nvPr/>
          </p:nvSpPr>
          <p:spPr>
            <a:xfrm>
              <a:off x="0" y="0"/>
              <a:ext cx="4443985" cy="493777"/>
            </a:xfrm>
            <a:prstGeom prst="roundRect">
              <a:avLst>
                <a:gd name="adj" fmla="val 16667"/>
              </a:avLst>
            </a:prstGeom>
            <a:solidFill>
              <a:srgbClr val="FFFBF4"/>
            </a:solidFill>
            <a:ln w="12700" cap="flat">
              <a:solidFill>
                <a:srgbClr val="D5B98C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900"/>
              </a:pPr>
            </a:p>
          </p:txBody>
        </p:sp>
        <p:sp>
          <p:nvSpPr>
            <p:cNvPr id="406" name="现场数据采集、参数下发与批次追溯均经隔离边界"/>
            <p:cNvSpPr txBox="1"/>
            <p:nvPr/>
          </p:nvSpPr>
          <p:spPr>
            <a:xfrm>
              <a:off x="67030" y="127761"/>
              <a:ext cx="4309924" cy="23825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576" tIns="36576" rIns="36576" bIns="36576" numCol="1" anchor="ctr">
              <a:spAutoFit/>
            </a:bodyPr>
            <a:lstStyle>
              <a:lvl1pPr algn="ctr">
                <a:defRPr sz="900">
                  <a:solidFill>
                    <a:srgbClr val="24332B"/>
                  </a:solidFill>
                  <a:latin typeface="PingFang SC Regular"/>
                  <a:ea typeface="PingFang SC Regular"/>
                  <a:cs typeface="PingFang SC Regular"/>
                  <a:sym typeface="PingFang SC Regular"/>
                </a:defRPr>
              </a:lvl1pPr>
            </a:lstStyle>
            <a:p>
              <a:pPr>
                <a:defRPr>
                  <a:latin typeface="Aptos"/>
                  <a:ea typeface="Aptos"/>
                  <a:cs typeface="Aptos"/>
                  <a:sym typeface="Aptos"/>
                </a:defRPr>
              </a:pPr>
              <a:r>
                <a:rPr>
                  <a:latin typeface="PingFang SC Regular"/>
                  <a:ea typeface="PingFang SC Regular"/>
                  <a:cs typeface="PingFang SC Regular"/>
                  <a:sym typeface="PingFang SC Regular"/>
                </a:rPr>
                <a:t>现场数据采集、参数下发与批次追溯均经隔离边界</a:t>
              </a:r>
            </a:p>
          </p:txBody>
        </p:sp>
      </p:grpSp>
      <p:sp>
        <p:nvSpPr>
          <p:cNvPr id="408" name="Connector 37"/>
          <p:cNvSpPr/>
          <p:nvPr/>
        </p:nvSpPr>
        <p:spPr>
          <a:xfrm>
            <a:off x="5413247" y="3282696"/>
            <a:ext cx="301753" cy="9145"/>
          </a:xfrm>
          <a:prstGeom prst="line">
            <a:avLst/>
          </a:prstGeom>
          <a:ln w="19050">
            <a:solidFill>
              <a:srgbClr val="B98A52"/>
            </a:solidFill>
            <a:prstDash val="dash"/>
            <a:tailEnd type="triangle"/>
          </a:ln>
        </p:spPr>
        <p:txBody>
          <a:bodyPr lIns="45719" rIns="45719"/>
          <a:lstStyle/>
          <a:p>
            <a:pPr/>
          </a:p>
        </p:txBody>
      </p:sp>
      <p:grpSp>
        <p:nvGrpSpPr>
          <p:cNvPr id="411" name="Box 39"/>
          <p:cNvGrpSpPr/>
          <p:nvPr/>
        </p:nvGrpSpPr>
        <p:grpSpPr>
          <a:xfrm>
            <a:off x="1965960" y="4965191"/>
            <a:ext cx="1060704" cy="438913"/>
            <a:chOff x="0" y="0"/>
            <a:chExt cx="1060703" cy="438912"/>
          </a:xfrm>
        </p:grpSpPr>
        <p:sp>
          <p:nvSpPr>
            <p:cNvPr id="409" name="圆角矩形"/>
            <p:cNvSpPr/>
            <p:nvPr/>
          </p:nvSpPr>
          <p:spPr>
            <a:xfrm>
              <a:off x="0" y="0"/>
              <a:ext cx="1060704" cy="438913"/>
            </a:xfrm>
            <a:prstGeom prst="roundRect">
              <a:avLst>
                <a:gd name="adj" fmla="val 16667"/>
              </a:avLst>
            </a:prstGeom>
            <a:solidFill>
              <a:srgbClr val="F2F0EA"/>
            </a:solidFill>
            <a:ln w="12700" cap="flat">
              <a:solidFill>
                <a:srgbClr val="A8A39A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000"/>
              </a:pPr>
            </a:p>
          </p:txBody>
        </p:sp>
        <p:sp>
          <p:nvSpPr>
            <p:cNvPr id="410" name="MES"/>
            <p:cNvSpPr txBox="1"/>
            <p:nvPr/>
          </p:nvSpPr>
          <p:spPr>
            <a:xfrm>
              <a:off x="64352" y="106679"/>
              <a:ext cx="932000" cy="22555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576" tIns="36576" rIns="36576" bIns="36576" numCol="1" anchor="ctr">
              <a:spAutoFit/>
            </a:bodyPr>
            <a:lstStyle>
              <a:lvl1pPr algn="ctr">
                <a:defRPr b="1" sz="1000">
                  <a:solidFill>
                    <a:srgbClr val="24332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MES</a:t>
              </a:r>
            </a:p>
          </p:txBody>
        </p:sp>
      </p:grpSp>
      <p:grpSp>
        <p:nvGrpSpPr>
          <p:cNvPr id="414" name="Box 40"/>
          <p:cNvGrpSpPr/>
          <p:nvPr/>
        </p:nvGrpSpPr>
        <p:grpSpPr>
          <a:xfrm>
            <a:off x="3291840" y="4965191"/>
            <a:ext cx="1060705" cy="438913"/>
            <a:chOff x="0" y="0"/>
            <a:chExt cx="1060703" cy="438912"/>
          </a:xfrm>
        </p:grpSpPr>
        <p:sp>
          <p:nvSpPr>
            <p:cNvPr id="412" name="圆角矩形"/>
            <p:cNvSpPr/>
            <p:nvPr/>
          </p:nvSpPr>
          <p:spPr>
            <a:xfrm>
              <a:off x="0" y="0"/>
              <a:ext cx="1060704" cy="438913"/>
            </a:xfrm>
            <a:prstGeom prst="roundRect">
              <a:avLst>
                <a:gd name="adj" fmla="val 16667"/>
              </a:avLst>
            </a:prstGeom>
            <a:solidFill>
              <a:srgbClr val="F2F0EA"/>
            </a:solidFill>
            <a:ln w="12700" cap="flat">
              <a:solidFill>
                <a:srgbClr val="A8A39A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000"/>
              </a:pPr>
            </a:p>
          </p:txBody>
        </p:sp>
        <p:sp>
          <p:nvSpPr>
            <p:cNvPr id="413" name="QMS"/>
            <p:cNvSpPr txBox="1"/>
            <p:nvPr/>
          </p:nvSpPr>
          <p:spPr>
            <a:xfrm>
              <a:off x="64352" y="106679"/>
              <a:ext cx="932000" cy="22555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576" tIns="36576" rIns="36576" bIns="36576" numCol="1" anchor="ctr">
              <a:spAutoFit/>
            </a:bodyPr>
            <a:lstStyle>
              <a:lvl1pPr algn="ctr">
                <a:defRPr b="1" sz="1000">
                  <a:solidFill>
                    <a:srgbClr val="24332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QMS</a:t>
              </a:r>
            </a:p>
          </p:txBody>
        </p:sp>
      </p:grpSp>
      <p:grpSp>
        <p:nvGrpSpPr>
          <p:cNvPr id="417" name="Box 41"/>
          <p:cNvGrpSpPr/>
          <p:nvPr/>
        </p:nvGrpSpPr>
        <p:grpSpPr>
          <a:xfrm>
            <a:off x="4617720" y="4965191"/>
            <a:ext cx="1060705" cy="438913"/>
            <a:chOff x="0" y="0"/>
            <a:chExt cx="1060703" cy="438912"/>
          </a:xfrm>
        </p:grpSpPr>
        <p:sp>
          <p:nvSpPr>
            <p:cNvPr id="415" name="圆角矩形"/>
            <p:cNvSpPr/>
            <p:nvPr/>
          </p:nvSpPr>
          <p:spPr>
            <a:xfrm>
              <a:off x="0" y="0"/>
              <a:ext cx="1060704" cy="438913"/>
            </a:xfrm>
            <a:prstGeom prst="roundRect">
              <a:avLst>
                <a:gd name="adj" fmla="val 16667"/>
              </a:avLst>
            </a:prstGeom>
            <a:solidFill>
              <a:srgbClr val="F2F0EA"/>
            </a:solidFill>
            <a:ln w="12700" cap="flat">
              <a:solidFill>
                <a:srgbClr val="A8A39A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000"/>
              </a:pPr>
            </a:p>
          </p:txBody>
        </p:sp>
        <p:sp>
          <p:nvSpPr>
            <p:cNvPr id="416" name="ERP / PLM"/>
            <p:cNvSpPr txBox="1"/>
            <p:nvPr/>
          </p:nvSpPr>
          <p:spPr>
            <a:xfrm>
              <a:off x="64352" y="106679"/>
              <a:ext cx="932000" cy="22555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576" tIns="36576" rIns="36576" bIns="36576" numCol="1" anchor="ctr">
              <a:spAutoFit/>
            </a:bodyPr>
            <a:lstStyle>
              <a:lvl1pPr algn="ctr">
                <a:defRPr b="1" sz="1000">
                  <a:solidFill>
                    <a:srgbClr val="24332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ERP / PLM</a:t>
              </a:r>
            </a:p>
          </p:txBody>
        </p:sp>
      </p:grpSp>
      <p:sp>
        <p:nvSpPr>
          <p:cNvPr id="418" name="Connector 42"/>
          <p:cNvSpPr/>
          <p:nvPr/>
        </p:nvSpPr>
        <p:spPr>
          <a:xfrm>
            <a:off x="5541264" y="5184647"/>
            <a:ext cx="1225297" cy="9145"/>
          </a:xfrm>
          <a:prstGeom prst="line">
            <a:avLst/>
          </a:prstGeom>
          <a:ln w="19050">
            <a:solidFill>
              <a:srgbClr val="7B9284"/>
            </a:solidFill>
            <a:prstDash val="dash"/>
            <a:tailEnd type="triangle"/>
          </a:ln>
        </p:spPr>
        <p:txBody>
          <a:bodyPr lIns="45719" rIns="45719"/>
          <a:lstStyle/>
          <a:p>
            <a:pPr/>
          </a:p>
        </p:txBody>
      </p:sp>
      <p:grpSp>
        <p:nvGrpSpPr>
          <p:cNvPr id="421" name="Box 43"/>
          <p:cNvGrpSpPr/>
          <p:nvPr/>
        </p:nvGrpSpPr>
        <p:grpSpPr>
          <a:xfrm>
            <a:off x="6784847" y="4965191"/>
            <a:ext cx="2240281" cy="438913"/>
            <a:chOff x="0" y="0"/>
            <a:chExt cx="2240279" cy="438912"/>
          </a:xfrm>
        </p:grpSpPr>
        <p:sp>
          <p:nvSpPr>
            <p:cNvPr id="419" name="圆角矩形"/>
            <p:cNvSpPr/>
            <p:nvPr/>
          </p:nvSpPr>
          <p:spPr>
            <a:xfrm>
              <a:off x="0" y="0"/>
              <a:ext cx="2240280" cy="438913"/>
            </a:xfrm>
            <a:prstGeom prst="roundRect">
              <a:avLst>
                <a:gd name="adj" fmla="val 16667"/>
              </a:avLst>
            </a:prstGeom>
            <a:solidFill>
              <a:srgbClr val="EEF3ED"/>
            </a:solidFill>
            <a:ln w="12700" cap="flat">
              <a:solidFill>
                <a:srgbClr val="8AA68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000"/>
              </a:pPr>
            </a:p>
          </p:txBody>
        </p:sp>
        <p:sp>
          <p:nvSpPr>
            <p:cNvPr id="420" name="标准 API / 接口交换区"/>
            <p:cNvSpPr txBox="1"/>
            <p:nvPr/>
          </p:nvSpPr>
          <p:spPr>
            <a:xfrm>
              <a:off x="64352" y="93979"/>
              <a:ext cx="2111576" cy="25095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576" tIns="36576" rIns="36576" bIns="36576" numCol="1" anchor="ctr">
              <a:spAutoFit/>
            </a:bodyPr>
            <a:lstStyle/>
            <a:p>
              <a:pPr algn="ctr">
                <a:defRPr b="1" sz="1000">
                  <a:solidFill>
                    <a:srgbClr val="24332B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rPr b="0">
                  <a:latin typeface="PingFang SC Semibold"/>
                  <a:ea typeface="PingFang SC Semibold"/>
                  <a:cs typeface="PingFang SC Semibold"/>
                  <a:sym typeface="PingFang SC Semibold"/>
                </a:rPr>
                <a:t>标准 </a:t>
              </a:r>
              <a:r>
                <a:t>API / </a:t>
              </a:r>
              <a:r>
                <a:rPr b="0">
                  <a:latin typeface="PingFang SC Semibold"/>
                  <a:ea typeface="PingFang SC Semibold"/>
                  <a:cs typeface="PingFang SC Semibold"/>
                  <a:sym typeface="PingFang SC Semibold"/>
                </a:rPr>
                <a:t>接口交换区</a:t>
              </a:r>
            </a:p>
          </p:txBody>
        </p:sp>
      </p:grpSp>
      <p:sp>
        <p:nvSpPr>
          <p:cNvPr id="422" name="Connector 44"/>
          <p:cNvSpPr/>
          <p:nvPr/>
        </p:nvSpPr>
        <p:spPr>
          <a:xfrm flipH="1">
            <a:off x="5504688" y="4965191"/>
            <a:ext cx="1280161" cy="9145"/>
          </a:xfrm>
          <a:prstGeom prst="line">
            <a:avLst/>
          </a:prstGeom>
          <a:ln w="19050">
            <a:solidFill>
              <a:srgbClr val="7B9284"/>
            </a:solidFill>
            <a:prstDash val="dash"/>
          </a:ln>
        </p:spPr>
        <p:txBody>
          <a:bodyPr lIns="45719" rIns="45719"/>
          <a:lstStyle/>
          <a:p>
            <a:pPr/>
          </a:p>
        </p:txBody>
      </p:sp>
      <p:sp>
        <p:nvSpPr>
          <p:cNvPr id="423" name="Connector 47"/>
          <p:cNvSpPr/>
          <p:nvPr/>
        </p:nvSpPr>
        <p:spPr>
          <a:xfrm flipV="1">
            <a:off x="5504688" y="3428999"/>
            <a:ext cx="9145" cy="1536193"/>
          </a:xfrm>
          <a:prstGeom prst="line">
            <a:avLst/>
          </a:prstGeom>
          <a:ln w="19050">
            <a:solidFill>
              <a:srgbClr val="7B9284"/>
            </a:solidFill>
            <a:prstDash val="dash"/>
          </a:ln>
        </p:spPr>
        <p:txBody>
          <a:bodyPr lIns="45719" rIns="45719"/>
          <a:lstStyle/>
          <a:p>
            <a:pPr/>
          </a:p>
        </p:txBody>
      </p:sp>
      <p:sp>
        <p:nvSpPr>
          <p:cNvPr id="424" name="Connector 48"/>
          <p:cNvSpPr/>
          <p:nvPr/>
        </p:nvSpPr>
        <p:spPr>
          <a:xfrm>
            <a:off x="5504688" y="3428999"/>
            <a:ext cx="237744" cy="9145"/>
          </a:xfrm>
          <a:prstGeom prst="line">
            <a:avLst/>
          </a:prstGeom>
          <a:ln w="19050">
            <a:solidFill>
              <a:srgbClr val="7B9284"/>
            </a:solidFill>
            <a:prstDash val="dash"/>
            <a:tailEnd type="triangle"/>
          </a:ln>
        </p:spPr>
        <p:txBody>
          <a:bodyPr lIns="45719" rIns="45719"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Shape 0"/>
          <p:cNvSpPr/>
          <p:nvPr/>
        </p:nvSpPr>
        <p:spPr>
          <a:xfrm>
            <a:off x="-1" y="-1"/>
            <a:ext cx="12188954" cy="82298"/>
          </a:xfrm>
          <a:prstGeom prst="rect">
            <a:avLst/>
          </a:prstGeom>
          <a:solidFill>
            <a:srgbClr val="2C5F2D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27" name="Text 1"/>
          <p:cNvSpPr txBox="1"/>
          <p:nvPr/>
        </p:nvSpPr>
        <p:spPr>
          <a:xfrm>
            <a:off x="548639" y="467106"/>
            <a:ext cx="11064242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400">
                <a:solidFill>
                  <a:srgbClr val="1F422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基础设施</a:t>
            </a:r>
          </a:p>
        </p:txBody>
      </p:sp>
      <p:sp>
        <p:nvSpPr>
          <p:cNvPr id="428" name="Text 2"/>
          <p:cNvSpPr txBox="1"/>
          <p:nvPr/>
        </p:nvSpPr>
        <p:spPr>
          <a:xfrm>
            <a:off x="548639" y="952753"/>
            <a:ext cx="11064242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三地各六台 GPU · 每地 9 台基础服务与入口节点 · 本地冗余、远程备用 · IDC 托管</a:t>
            </a:r>
          </a:p>
        </p:txBody>
      </p:sp>
      <p:sp>
        <p:nvSpPr>
          <p:cNvPr id="429" name="Text 3"/>
          <p:cNvSpPr txBox="1"/>
          <p:nvPr/>
        </p:nvSpPr>
        <p:spPr>
          <a:xfrm>
            <a:off x="10332719" y="6605269"/>
            <a:ext cx="128016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19 / 19</a:t>
            </a:r>
          </a:p>
        </p:txBody>
      </p:sp>
      <p:sp>
        <p:nvSpPr>
          <p:cNvPr id="430" name="Text 4"/>
          <p:cNvSpPr txBox="1"/>
          <p:nvPr/>
        </p:nvSpPr>
        <p:spPr>
          <a:xfrm>
            <a:off x="548640" y="6592569"/>
            <a:ext cx="7315201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稻生万物 · 能力中心与渠道中心建设规划</a:t>
            </a:r>
          </a:p>
        </p:txBody>
      </p:sp>
      <p:graphicFrame>
        <p:nvGraphicFramePr>
          <p:cNvPr id="431" name="Table 0"/>
          <p:cNvGraphicFramePr/>
          <p:nvPr/>
        </p:nvGraphicFramePr>
        <p:xfrm>
          <a:off x="548640" y="1325880"/>
          <a:ext cx="11064240" cy="4023361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2655418"/>
                <a:gridCol w="3983125"/>
                <a:gridCol w="1770278"/>
                <a:gridCol w="2655418"/>
              </a:tblGrid>
              <a:tr h="50291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科目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配置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配置阶段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说明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</a:tr>
              <a:tr h="50291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GPU 服务器 × 6 / 地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defRPr>
                      </a:pPr>
                      <a:r>
                        <a:t>8 卡 H20（141G / HBM3e），单机 1,128GB 显存</a:t>
                      </a:r>
                    </a:p>
                    <a:p>
                      <a:pPr algn="l">
                        <a:def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defRPr>
                      </a:pPr>
                      <a:r>
                        <a:t>三台一组：3 × 8 × 141GB = 3,384GB，承载一个完整实例；两组互备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defRPr>
                      </a:pPr>
                      <a:r>
                        <a:t>每地随节点到位 · 共 18 台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依据阿里巴巴 2026-08-03 发布规格：Qwen3.8-Max 总参数 2.4T、激活参数 95B；按 FP8 双实例配置。单组故障时由另一组承接，容量减半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1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GPU 互联 fabric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defRPr>
                      </a:pPr>
                      <a:r>
                        <a:t>400G 级：交换机 × 2 + 网卡 48 张 + 链路</a:t>
                      </a:r>
                    </a:p>
                    <a:p>
                      <a:pPr algn="l">
                        <a:def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defRPr>
                      </a:pPr>
                      <a:r>
                        <a:t>两台交换机各带一个实例，避免交换机成为单点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defRPr>
                      </a:pPr>
                      <a:r>
                        <a:t>每地一套 · 详见独立预算附件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模型横跨多台，GPU 互联为必需项。两实例独立，无需 spine 和交换机互联。整机按 12 个 PCIe Gen5 槽的参考设计选型，实际使用 8 张 GPU 卡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</a:tr>
              <a:tr h="50291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基础服务与入口节点 × 9 / 地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入口负载均衡 2 台 + 编排与应用 2 台 + 数据库与数据服务 3 台 + 中间件 2 台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每地一套 · 共 27 台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HAProxy / Nginx / Envoy + VIP；数据库、向量库、时序库 3 节点；中间件 2 节点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1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存储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每地 150 TB 可用，分层配置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每地一套 · 共 450 TB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预留模型权重 15TB（多版本并存与灰度升级）、向量索引 5TB；时序数据阶段二起按年增 20TB 规划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</a:tr>
              <a:tr h="50291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机房网络 · 安全设备 · 备件 · 测试环境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交换机（业务 / 存储 / 管理）、光模块、布线、备用模块；工业防火墙、OT / IT 隔离、入侵检测、堡垒机、数据库审计、日志审计、终端安全、态势感知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每地一套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网络与安全设备在配置清单中分列，不与 GPU 互联 fabric 混列。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1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边缘网关 · 在线检测仪表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网关按 OT 网段配置；仪表以原料水分与粒径为必配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defRPr>
                      </a:pPr>
                      <a:r>
                        <a:t>产线承接时</a:t>
                      </a:r>
                    </a:p>
                    <a:p>
                      <a:pPr algn="l">
                        <a:def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defRPr>
                      </a:pPr>
                      <a:r>
                        <a:t>不纳入本方案配置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属产线设备范围，随产线定标与承接项目扩展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</a:tr>
              <a:tr h="50291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部署原则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每年一个节点，三地同构，不分批采购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见独立附件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现阶段三地均为 IDC 托管；待大楼建成后迁入自建机房，土建与配电改造另计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32" name="Shape 6"/>
          <p:cNvSpPr/>
          <p:nvPr/>
        </p:nvSpPr>
        <p:spPr>
          <a:xfrm>
            <a:off x="548640" y="5416041"/>
            <a:ext cx="50293" cy="12701"/>
          </a:xfrm>
          <a:prstGeom prst="rect">
            <a:avLst/>
          </a:prstGeom>
          <a:solidFill>
            <a:srgbClr val="A87F5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33" name="Shape 9"/>
          <p:cNvSpPr/>
          <p:nvPr/>
        </p:nvSpPr>
        <p:spPr>
          <a:xfrm>
            <a:off x="548640" y="6010402"/>
            <a:ext cx="50293" cy="12701"/>
          </a:xfrm>
          <a:prstGeom prst="rect">
            <a:avLst/>
          </a:prstGeom>
          <a:solidFill>
            <a:srgbClr val="A87F5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466344"/>
            <a:ext cx="110642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1F422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三节点布局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50976"/>
            <a:ext cx="11064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上海 · 深圳 · 山东 三地对等 · 每地 6 台 H20 · 本地冗余、远程备用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92824"/>
            <a:ext cx="7315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99999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稻生万物 · 能力中心与渠道中心建设规划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601968"/>
            <a:ext cx="1280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99999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18 / 19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25880"/>
            <a:ext cx="356616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E3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48640" y="1325880"/>
            <a:ext cx="54864" cy="2103120"/>
          </a:xfrm>
          <a:prstGeom prst="rect">
            <a:avLst/>
          </a:prstGeom>
          <a:solidFill>
            <a:srgbClr val="5B6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1517904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422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上海 · 首节点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1828800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99999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阶段一 0–6 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139696"/>
            <a:ext cx="31546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GPU 6 台 · 两组各 3 台互备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基础服务与入口 9 台 · 存储 150 TB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IDC 托管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承担全部平台底座与通用应用开发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79" y="1325880"/>
            <a:ext cx="356616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E3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4297679" y="1325880"/>
            <a:ext cx="54864" cy="2103120"/>
          </a:xfrm>
          <a:prstGeom prst="rect">
            <a:avLst/>
          </a:prstGeom>
          <a:solidFill>
            <a:srgbClr val="8B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517136" y="1517904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422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深圳 · 第二节点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7136" y="1828800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99999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阶段二 6–18 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7136" y="2139696"/>
            <a:ext cx="31546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同构 6 台 · 配置与上海完全一致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基础服务与入口 9 台 · 存储 150 TB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IDC 托管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承担本地现场对接与工艺落地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6719" y="1325880"/>
            <a:ext cx="356616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E3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8046719" y="1325880"/>
            <a:ext cx="54864" cy="2103120"/>
          </a:xfrm>
          <a:prstGeom prst="rect">
            <a:avLst/>
          </a:prstGeom>
          <a:solidFill>
            <a:srgbClr val="A87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266175" y="1517904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422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山东 · 第三节点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66175" y="1828800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99999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阶段三 18–36 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6175" y="2139696"/>
            <a:ext cx="31546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同构 6 台 · 配置与上海完全一致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基础服务与入口 9 台 · 存储 150 TB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IDC 托管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承担本地现场对接与工艺落地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3703320"/>
            <a:ext cx="5394960" cy="1417320"/>
          </a:xfrm>
          <a:prstGeom prst="rect">
            <a:avLst/>
          </a:prstGeom>
          <a:solidFill>
            <a:srgbClr val="F0EDE4"/>
          </a:solidFill>
          <a:ln w="6350">
            <a:solidFill>
              <a:srgbClr val="E3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48640" y="3703320"/>
            <a:ext cx="54864" cy="141732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68096" y="3877056"/>
            <a:ext cx="4983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F422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本地冗余 —— 每地内部，日常可用性的来源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" y="4187952"/>
            <a:ext cx="49834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6 台分两组，每组 3 台承载一个完整实例（3 × 8 × 141 GB ＝ 3,384 GB）。</a:t>
            </a:r>
          </a:p>
          <a:p>
            <a:pPr algn="l">
              <a:lnSpc>
                <a:spcPct val="140000"/>
              </a:lnSpc>
            </a:pPr>
            <a:r>
              <a:rPr sz="9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组内单机故障由组内消化，整组故障由另一组接管。</a:t>
            </a:r>
          </a:p>
          <a:p>
            <a:pPr algn="l">
              <a:lnSpc>
                <a:spcPct val="140000"/>
              </a:lnSpc>
            </a:pPr>
            <a:r>
              <a:rPr sz="9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两组各挂一台交换机，互不依赖 —— 这是日常高可用，不跨城。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3703320"/>
            <a:ext cx="5394960" cy="1417320"/>
          </a:xfrm>
          <a:prstGeom prst="rect">
            <a:avLst/>
          </a:prstGeom>
          <a:solidFill>
            <a:srgbClr val="F0EDE4"/>
          </a:solidFill>
          <a:ln w="6350">
            <a:solidFill>
              <a:srgbClr val="E3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6217920" y="3703320"/>
            <a:ext cx="54864" cy="141732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437376" y="3877056"/>
            <a:ext cx="4983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F422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远程备用 —— 三地之间，灾备的来源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37376" y="4187952"/>
            <a:ext cx="49834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任一地整体不可用时，由另外两地承接其业务。</a:t>
            </a:r>
          </a:p>
          <a:p>
            <a:pPr algn="l">
              <a:lnSpc>
                <a:spcPct val="140000"/>
              </a:lnSpc>
            </a:pPr>
            <a:r>
              <a:rPr sz="9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不做跨城拆实例：模型实例不跨城分片，城际时延撑不住 GPU 互联。</a:t>
            </a:r>
          </a:p>
          <a:p>
            <a:pPr algn="l">
              <a:lnSpc>
                <a:spcPct val="140000"/>
              </a:lnSpc>
            </a:pPr>
            <a:r>
              <a:rPr sz="9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远程备用不参与日常调度，只在整地失效时启用。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413248"/>
            <a:ext cx="11064240" cy="777240"/>
          </a:xfrm>
          <a:prstGeom prst="rect">
            <a:avLst/>
          </a:prstGeom>
          <a:solidFill>
            <a:srgbClr val="E8D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548640" y="5413248"/>
            <a:ext cx="54864" cy="777240"/>
          </a:xfrm>
          <a:prstGeom prst="rect">
            <a:avLst/>
          </a:prstGeom>
          <a:solidFill>
            <a:srgbClr val="8B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749808" y="5504688"/>
            <a:ext cx="10661904" cy="5943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IDC 托管是现阶段路线，三地均不自建机房；待各地大楼建成后再评估迁入，迁移成本不含在本次投资内。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三地配置完全一致 —— 同构才能互相接管，也让备件、运维手册和故障预案只维护一套。投资口径与分年安排见独立预算附件。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