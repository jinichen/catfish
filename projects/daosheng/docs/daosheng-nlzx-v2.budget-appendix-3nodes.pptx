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预算附件 · 总体口径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建设期预算与运行边界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1 / 16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sp>
        <p:nvSpPr>
          <p:cNvPr id="25" name="Shape 5"/>
          <p:cNvSpPr/>
          <p:nvPr/>
        </p:nvSpPr>
        <p:spPr>
          <a:xfrm>
            <a:off x="548639" y="1325880"/>
            <a:ext cx="5394962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3E3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548640" y="1325880"/>
            <a:ext cx="50293" cy="1920240"/>
          </a:xfrm>
          <a:prstGeom prst="rect">
            <a:avLst/>
          </a:prstGeom>
          <a:solidFill>
            <a:srgbClr val="5B6C8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749808" y="1504187"/>
            <a:ext cx="5029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5B6C8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能力中心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749808" y="1864868"/>
            <a:ext cx="50292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把知识变成能力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749808" y="2295143"/>
            <a:ext cx="5029201" cy="612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运营 AI Native 技术底座（引入并集成）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把业务流程凝固为可调用能力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沉淀知识资产：工艺 / 认证 / 产业链 / 企业库</a:t>
            </a:r>
          </a:p>
        </p:txBody>
      </p:sp>
      <p:sp>
        <p:nvSpPr>
          <p:cNvPr id="30" name="Shape 10"/>
          <p:cNvSpPr/>
          <p:nvPr/>
        </p:nvSpPr>
        <p:spPr>
          <a:xfrm>
            <a:off x="6217919" y="1325880"/>
            <a:ext cx="5394962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3E3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1"/>
          <p:cNvSpPr/>
          <p:nvPr/>
        </p:nvSpPr>
        <p:spPr>
          <a:xfrm>
            <a:off x="6217920" y="1325880"/>
            <a:ext cx="50293" cy="1920240"/>
          </a:xfrm>
          <a:prstGeom prst="rect">
            <a:avLst/>
          </a:prstGeom>
          <a:solidFill>
            <a:srgbClr val="8B6F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2"/>
          <p:cNvSpPr txBox="1"/>
          <p:nvPr/>
        </p:nvSpPr>
        <p:spPr>
          <a:xfrm>
            <a:off x="6419088" y="1504187"/>
            <a:ext cx="5029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8B6F47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渠道中心</a:t>
            </a:r>
          </a:p>
        </p:txBody>
      </p:sp>
      <p:sp>
        <p:nvSpPr>
          <p:cNvPr id="33" name="Text 13"/>
          <p:cNvSpPr txBox="1"/>
          <p:nvPr/>
        </p:nvSpPr>
        <p:spPr>
          <a:xfrm>
            <a:off x="6419088" y="1864868"/>
            <a:ext cx="50292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把能力变成收入</a:t>
            </a:r>
          </a:p>
        </p:txBody>
      </p:sp>
      <p:sp>
        <p:nvSpPr>
          <p:cNvPr id="34" name="Text 14"/>
          <p:cNvSpPr txBox="1"/>
          <p:nvPr/>
        </p:nvSpPr>
        <p:spPr>
          <a:xfrm>
            <a:off x="6419088" y="2295143"/>
            <a:ext cx="5029201" cy="612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政府关系：政策跟踪、专项申报、园区对接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合作伙伴：上游 / 平行 / 下游 / 生态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渠道销售：材料分销、能力订阅、认证代办</a:t>
            </a:r>
          </a:p>
        </p:txBody>
      </p:sp>
      <p:graphicFrame>
        <p:nvGraphicFramePr>
          <p:cNvPr id="35" name="Table 0"/>
          <p:cNvGraphicFramePr/>
          <p:nvPr/>
        </p:nvGraphicFramePr>
        <p:xfrm>
          <a:off x="548640" y="3383279"/>
          <a:ext cx="11064239" cy="230428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91562"/>
                <a:gridCol w="2323490"/>
                <a:gridCol w="2323490"/>
                <a:gridCol w="2323490"/>
                <a:gridCol w="2102206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阶段一 0–6 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阶段二 6–18 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阶段三 18–36 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三年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能力中心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认证 + 招商智能体（无生产线硬件依赖）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研发 + 生产智能体，接入产线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园区智能体对下游开放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渠道中心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政府关系建线、合作伙伴梳理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渠道销售建线、招商智能体投用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能力订阅与服务销售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自有编制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 人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 人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 人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峰值 15 人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投入（静态）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5,953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2,400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2,483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10,836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项目总投资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11,942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15"/>
          <p:cNvSpPr/>
          <p:nvPr/>
        </p:nvSpPr>
        <p:spPr>
          <a:xfrm>
            <a:off x="548639" y="5806440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6"/>
          <p:cNvSpPr/>
          <p:nvPr/>
        </p:nvSpPr>
        <p:spPr>
          <a:xfrm>
            <a:off x="548640" y="5806440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7"/>
          <p:cNvSpPr txBox="1"/>
          <p:nvPr/>
        </p:nvSpPr>
        <p:spPr>
          <a:xfrm>
            <a:off x="749808" y="5946139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项目总投资控制价 ＝ 静态投资 10,836 ＋ 基本预备费 1,106（不分摊到阶段，动用须逐笔审批）＝ 11,942 万。本口径只到建设期末，不含运营期成本。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安全与合规</a:t>
            </a:r>
          </a:p>
        </p:txBody>
      </p:sp>
      <p:sp>
        <p:nvSpPr>
          <p:cNvPr id="42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按等保三级建设 · 涉工业控制系统</a:t>
            </a:r>
          </a:p>
        </p:txBody>
      </p:sp>
      <p:sp>
        <p:nvSpPr>
          <p:cNvPr id="43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2 / 16</a:t>
            </a:r>
          </a:p>
        </p:txBody>
      </p:sp>
      <p:sp>
        <p:nvSpPr>
          <p:cNvPr id="44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sp>
        <p:nvSpPr>
          <p:cNvPr id="45" name="Shape 5"/>
          <p:cNvSpPr/>
          <p:nvPr/>
        </p:nvSpPr>
        <p:spPr>
          <a:xfrm>
            <a:off x="548639" y="1325880"/>
            <a:ext cx="5394962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3E3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6"/>
          <p:cNvSpPr/>
          <p:nvPr/>
        </p:nvSpPr>
        <p:spPr>
          <a:xfrm>
            <a:off x="548640" y="1325880"/>
            <a:ext cx="50293" cy="2240280"/>
          </a:xfrm>
          <a:prstGeom prst="rect">
            <a:avLst/>
          </a:prstGeom>
          <a:solidFill>
            <a:srgbClr val="5B6C8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7"/>
          <p:cNvSpPr txBox="1"/>
          <p:nvPr/>
        </p:nvSpPr>
        <p:spPr>
          <a:xfrm>
            <a:off x="749808" y="1504187"/>
            <a:ext cx="5029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5B6C8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常规安全面</a:t>
            </a:r>
          </a:p>
        </p:txBody>
      </p:sp>
      <p:sp>
        <p:nvSpPr>
          <p:cNvPr id="48" name="Text 8"/>
          <p:cNvSpPr txBox="1"/>
          <p:nvPr/>
        </p:nvSpPr>
        <p:spPr>
          <a:xfrm>
            <a:off x="749808" y="1837944"/>
            <a:ext cx="5029201" cy="81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机房物理安防、OT / IT 隔离（工业防火墙或网闸）、区域划分与最小开放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数据分类分级——配方与客户资料为最高级；传输与静态加密、脱敏与最小授权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统一身份认证、基于角色与企业的权限模型、全量操作留痕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备份与恢复演练</a:t>
            </a:r>
          </a:p>
        </p:txBody>
      </p:sp>
      <p:sp>
        <p:nvSpPr>
          <p:cNvPr id="49" name="Shape 9"/>
          <p:cNvSpPr/>
          <p:nvPr/>
        </p:nvSpPr>
        <p:spPr>
          <a:xfrm>
            <a:off x="6217919" y="1325880"/>
            <a:ext cx="5394962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3E3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10"/>
          <p:cNvSpPr/>
          <p:nvPr/>
        </p:nvSpPr>
        <p:spPr>
          <a:xfrm>
            <a:off x="6217920" y="1325880"/>
            <a:ext cx="50293" cy="2240280"/>
          </a:xfrm>
          <a:prstGeom prst="rect">
            <a:avLst/>
          </a:prstGeom>
          <a:solidFill>
            <a:srgbClr val="B850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1"/>
          <p:cNvSpPr txBox="1"/>
          <p:nvPr/>
        </p:nvSpPr>
        <p:spPr>
          <a:xfrm>
            <a:off x="6419088" y="1504187"/>
            <a:ext cx="5029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B85042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AI Native 新增的风险面</a:t>
            </a:r>
          </a:p>
        </p:txBody>
      </p:sp>
      <p:sp>
        <p:nvSpPr>
          <p:cNvPr id="52" name="Text 12"/>
          <p:cNvSpPr txBox="1"/>
          <p:nvPr/>
        </p:nvSpPr>
        <p:spPr>
          <a:xfrm>
            <a:off x="6419088" y="1837944"/>
            <a:ext cx="5029201" cy="81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模型自部署：推理与向量数据不出自有实例，不经模型服务商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上下文准入控制、提示注入防护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输出可审计与出处留存——这同时是「答案须附出处」的技术前提</a:t>
            </a:r>
          </a:p>
          <a:p>
            <a:pPr marL="342900" indent="-342900">
              <a:lnSpc>
                <a:spcPts val="1600"/>
              </a:lnSpc>
              <a:buSzPct val="100000"/>
              <a:buChar char="•"/>
              <a:defRPr sz="10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跨企业上下文严格隔离（阶段三对下游开放时的硬约束）</a:t>
            </a:r>
          </a:p>
        </p:txBody>
      </p:sp>
      <p:graphicFrame>
        <p:nvGraphicFramePr>
          <p:cNvPr id="53" name="Table 0"/>
          <p:cNvGraphicFramePr/>
          <p:nvPr/>
        </p:nvGraphicFramePr>
        <p:xfrm>
          <a:off x="548640" y="3749040"/>
          <a:ext cx="11064241" cy="19202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761842"/>
                <a:gridCol w="1770278"/>
                <a:gridCol w="55321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科目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三年金额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说明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安全设备与软件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防火墙、入侵检测、日志审计、堡垒机、数据库审计、终端安全、态势感知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OT / IT 隔离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工业防火墙或网闸，随产线接入部署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测评与整改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首次定级测评 ＋ 三年年度测评；整改与文档体系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已计入投入构成，属可申报科目（固定资产与专项建设）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54" name="Shape 13"/>
          <p:cNvSpPr/>
          <p:nvPr/>
        </p:nvSpPr>
        <p:spPr>
          <a:xfrm>
            <a:off x="548639" y="5760720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4"/>
          <p:cNvSpPr/>
          <p:nvPr/>
        </p:nvSpPr>
        <p:spPr>
          <a:xfrm>
            <a:off x="548640" y="5760720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5"/>
          <p:cNvSpPr txBox="1"/>
          <p:nvPr/>
        </p:nvSpPr>
        <p:spPr>
          <a:xfrm>
            <a:off x="749808" y="5811520"/>
            <a:ext cx="106527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本项目涉及工业控制系统并承载配方、客户等重要数据，规划按等保三级要求建设，最终定级以主管部门确认和测评结果为准。另有两项须在建设前确定：数据跨境评估（若面向海外客户）、入驻企业数据边界（多企业共用平台，隔离方案须写入入驻协议并在系统中强制）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分三阶段</a:t>
            </a:r>
          </a:p>
        </p:txBody>
      </p:sp>
      <p:sp>
        <p:nvSpPr>
          <p:cNvPr id="60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每阶段有独立可用的交付物</a:t>
            </a:r>
          </a:p>
        </p:txBody>
      </p:sp>
      <p:sp>
        <p:nvSpPr>
          <p:cNvPr id="61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3 / 16</a:t>
            </a:r>
          </a:p>
        </p:txBody>
      </p:sp>
      <p:sp>
        <p:nvSpPr>
          <p:cNvPr id="62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graphicFrame>
        <p:nvGraphicFramePr>
          <p:cNvPr id="63" name="Table 0"/>
          <p:cNvGraphicFramePr/>
          <p:nvPr/>
        </p:nvGraphicFramePr>
        <p:xfrm>
          <a:off x="548640" y="1325880"/>
          <a:ext cx="11064240" cy="36576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06424"/>
                <a:gridCol w="1217066"/>
                <a:gridCol w="4757623"/>
                <a:gridCol w="1770278"/>
                <a:gridCol w="2212848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周期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交付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投入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阶段末产出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一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0–6 个月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认证智能体（认证知识库 → 材料清单 → 申报草稿 → 法规监测）、招商智能体；渠道中心政府关系与合作伙伴建线；基础设施采购与部署（12 台 GPU 及基础服务节点一次性）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3,639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认证材料准备提速；政策与合作资源摸清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二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6–18 个月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研发与生产智能体；数据接入规范交付并与集成商联调；边缘网关与控制接口；渠道销售建线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2,400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研发数据结构化；生产异常可归因；招商线索池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18–36 个月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园区智能体对下游开放；多租户与数据隔离；能力订阅计量与计费；渠道中心承接销售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2,483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对入驻企业的能力订阅与服务收入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36 个月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基本预备费不分摊到阶段：它是一笔独立的、动用须逐笔审批的钱，摊进阶段就会被当成该阶段的额度花掉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静态投资 10,836</a:t>
                      </a:r>
                    </a:p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＋预备费 1,106</a:t>
                      </a:r>
                    </a:p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＝控制价 11,942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64" name="Shape 5"/>
          <p:cNvSpPr/>
          <p:nvPr/>
        </p:nvSpPr>
        <p:spPr>
          <a:xfrm>
            <a:off x="548639" y="5074920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6"/>
          <p:cNvSpPr/>
          <p:nvPr/>
        </p:nvSpPr>
        <p:spPr>
          <a:xfrm>
            <a:off x="548640" y="5074920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7"/>
          <p:cNvSpPr txBox="1"/>
          <p:nvPr/>
        </p:nvSpPr>
        <p:spPr>
          <a:xfrm>
            <a:off x="749808" y="5125720"/>
            <a:ext cx="106527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阶段一不接产线：点位表尚未产出，数据接入范围待定。知识库建设与认证档案入库不依赖产线，算力在阶段一即需到位以支撑向量化与模型选型。边缘网关另行立项，不含在阶段二金额内。</a:t>
            </a:r>
          </a:p>
        </p:txBody>
      </p:sp>
      <p:sp>
        <p:nvSpPr>
          <p:cNvPr id="67" name="Shape 8"/>
          <p:cNvSpPr/>
          <p:nvPr/>
        </p:nvSpPr>
        <p:spPr>
          <a:xfrm>
            <a:off x="548639" y="5669279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Shape 9"/>
          <p:cNvSpPr/>
          <p:nvPr/>
        </p:nvSpPr>
        <p:spPr>
          <a:xfrm>
            <a:off x="548640" y="5669279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10"/>
          <p:cNvSpPr txBox="1"/>
          <p:nvPr/>
        </p:nvSpPr>
        <p:spPr>
          <a:xfrm>
            <a:off x="749808" y="5808979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阶段二启动前须确认网关侧方案：不必把 Agent 运行时搬进车间，需要的是网关上的 MCP Server 与平台侧的远端传输，范围比「边缘常驻」窄。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人员需求 · 总量</a:t>
            </a:r>
          </a:p>
        </p:txBody>
      </p:sp>
      <p:sp>
        <p:nvSpPr>
          <p:cNvPr id="73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自有编制 + 委托开发投入</a:t>
            </a:r>
          </a:p>
        </p:txBody>
      </p:sp>
      <p:sp>
        <p:nvSpPr>
          <p:cNvPr id="74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4 / 16</a:t>
            </a:r>
          </a:p>
        </p:txBody>
      </p:sp>
      <p:sp>
        <p:nvSpPr>
          <p:cNvPr id="75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graphicFrame>
        <p:nvGraphicFramePr>
          <p:cNvPr id="76" name="Table 0"/>
          <p:cNvGraphicFramePr/>
          <p:nvPr/>
        </p:nvGraphicFramePr>
        <p:xfrm>
          <a:off x="548640" y="1325880"/>
          <a:ext cx="11064240" cy="27432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434133"/>
                <a:gridCol w="1438351"/>
                <a:gridCol w="1438351"/>
                <a:gridCol w="1438351"/>
                <a:gridCol w="4315054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阶段一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阶段二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说明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能力中心（自有）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3.5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内部抽调业务专家：阶段一 / 二 / 三分别为 0.5 / 1 / 2 人，不计增量成本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渠道中心（自有）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1.5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阶段一由管理层直接分管，不设专职负责人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自有小计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三年人力预算 2,094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委托开发（平台 + 应用）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8.5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18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阶段二最重：研发 / 生产智能体、边缘与控制接口、数据层三条线并行，另需与集成商联调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在场总人数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13.5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23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23.5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阶段三重心从建设转向运营与销售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Shape 5"/>
          <p:cNvSpPr/>
          <p:nvPr/>
        </p:nvSpPr>
        <p:spPr>
          <a:xfrm>
            <a:off x="548639" y="4251959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6"/>
          <p:cNvSpPr/>
          <p:nvPr/>
        </p:nvSpPr>
        <p:spPr>
          <a:xfrm>
            <a:off x="548640" y="4251959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7"/>
          <p:cNvSpPr txBox="1"/>
          <p:nvPr/>
        </p:nvSpPr>
        <p:spPr>
          <a:xfrm>
            <a:off x="749808" y="4391659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委托开发含算法与数据科学、实施联调、安全、边缘工业协议四类角色，三年按 465 人月编制预算，同时覆盖平台与应用两段。</a:t>
            </a:r>
          </a:p>
        </p:txBody>
      </p:sp>
      <p:sp>
        <p:nvSpPr>
          <p:cNvPr id="80" name="Shape 8"/>
          <p:cNvSpPr/>
          <p:nvPr/>
        </p:nvSpPr>
        <p:spPr>
          <a:xfrm>
            <a:off x="548639" y="4846320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9"/>
          <p:cNvSpPr/>
          <p:nvPr/>
        </p:nvSpPr>
        <p:spPr>
          <a:xfrm>
            <a:off x="548640" y="4846320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0"/>
          <p:cNvSpPr txBox="1"/>
          <p:nvPr/>
        </p:nvSpPr>
        <p:spPr>
          <a:xfrm>
            <a:off x="749808" y="4986020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边缘与工业协议工程师阶段二按 2 人配置；市场供给紧张，建议在阶段一即锁定资源。</a:t>
            </a:r>
          </a:p>
        </p:txBody>
      </p:sp>
      <p:sp>
        <p:nvSpPr>
          <p:cNvPr id="83" name="Shape 11"/>
          <p:cNvSpPr/>
          <p:nvPr/>
        </p:nvSpPr>
        <p:spPr>
          <a:xfrm>
            <a:off x="548639" y="5440679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12"/>
          <p:cNvSpPr/>
          <p:nvPr/>
        </p:nvSpPr>
        <p:spPr>
          <a:xfrm>
            <a:off x="548640" y="5440679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3"/>
          <p:cNvSpPr txBox="1"/>
          <p:nvPr/>
        </p:nvSpPr>
        <p:spPr>
          <a:xfrm>
            <a:off x="749808" y="5580379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企业用工成本按税前年薪 × 1.35 计（含社保、公积金及其他用工成本）。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人员需求 · 岗位与职责</a:t>
            </a:r>
          </a:p>
        </p:txBody>
      </p:sp>
      <p:sp>
        <p:nvSpPr>
          <p:cNvPr id="89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自有编制，峰值 15 人</a:t>
            </a:r>
          </a:p>
        </p:txBody>
      </p:sp>
      <p:sp>
        <p:nvSpPr>
          <p:cNvPr id="90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5 / 16</a:t>
            </a:r>
          </a:p>
        </p:txBody>
      </p:sp>
      <p:sp>
        <p:nvSpPr>
          <p:cNvPr id="91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graphicFrame>
        <p:nvGraphicFramePr>
          <p:cNvPr id="92" name="Table 0"/>
          <p:cNvGraphicFramePr/>
          <p:nvPr/>
        </p:nvGraphicFramePr>
        <p:xfrm>
          <a:off x="548640" y="1325880"/>
          <a:ext cx="11064239" cy="422452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12848"/>
                <a:gridCol w="663854"/>
                <a:gridCol w="663854"/>
                <a:gridCol w="663854"/>
                <a:gridCol w="4204411"/>
                <a:gridCol w="2655418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岗位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一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二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职责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预算年薪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能力中心负责人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定方向、判交付质量、对外协调。需同时理解业务与技术可行性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产品与开发管理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把业务需求翻译成可验收的规格，管交付节奏与质量，守住知识资产归属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数据工程师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点位与时序数据、统一语义模型、数据服务与权限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基础设施运维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GPU、存储、网络的日常运维与故障响应。自持设备后阶段一即需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35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业务专家（认证/工艺/招商）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内部抽调。演示业务流程供系统凝固，核对复用结果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不计增量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渠道中心负责人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统筹三条线。阶段一由管理层直接分管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政府关系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政策跟踪、专项申报、园区与管委会对接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55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合作伙伴 / BD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上下游、检测认证机构、高校院所的关系归口与拓展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渠道销售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材料分销、能力订阅、认证代办的销售与回款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万（底薪）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三年人力合计（按用工成本系数 1.35）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2,094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93" name="Shape 5"/>
          <p:cNvSpPr/>
          <p:nvPr/>
        </p:nvSpPr>
        <p:spPr>
          <a:xfrm>
            <a:off x="548639" y="5806440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6"/>
          <p:cNvSpPr/>
          <p:nvPr/>
        </p:nvSpPr>
        <p:spPr>
          <a:xfrm>
            <a:off x="548640" y="5806440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7"/>
          <p:cNvSpPr txBox="1"/>
          <p:nvPr/>
        </p:nvSpPr>
        <p:spPr>
          <a:xfrm>
            <a:off x="749808" y="5946139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能力中心负责人与业务专家两项是启动前提：前者决定方向与验收质量，后者决定系统能凝固出什么。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基础设施</a:t>
            </a:r>
          </a:p>
        </p:txBody>
      </p:sp>
      <p:sp>
        <p:nvSpPr>
          <p:cNvPr id="99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十二台 GPU · 12 台基础服务与入口节点 · 阶段一一次性采购自持 · 单位万元</a:t>
            </a:r>
          </a:p>
        </p:txBody>
      </p:sp>
      <p:sp>
        <p:nvSpPr>
          <p:cNvPr id="100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6 / 16</a:t>
            </a:r>
          </a:p>
        </p:txBody>
      </p:sp>
      <p:sp>
        <p:nvSpPr>
          <p:cNvPr id="101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graphicFrame>
        <p:nvGraphicFramePr>
          <p:cNvPr id="102" name="Table 0"/>
          <p:cNvGraphicFramePr/>
          <p:nvPr/>
        </p:nvGraphicFramePr>
        <p:xfrm>
          <a:off x="548640" y="1325880"/>
          <a:ext cx="11064240" cy="40233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55418"/>
                <a:gridCol w="3983125"/>
                <a:gridCol w="1770278"/>
                <a:gridCol w="2655418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科目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配置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金额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说明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GPU 服务器 × 12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8 卡 GPU 服务器，单机满配显存</a:t>
                      </a:r>
                    </a:p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三台一组承载一个完整实例；四组互备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300 / 台 × 12 = 3,600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按 2.4T 总参数 / 95B 激活参数、FP8 精度的大模型测算；四实例配置。单组故障时由其余组承接，容量按比例下降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GPU 互联 fabric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400G 级：交换机 × 4 + 网卡 96 张 + 链路</a:t>
                      </a:r>
                    </a:p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四台交换机各带一个实例，避免交换机成为单点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700
预算按 700 万控制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模型横跨多台，GPU 互联为必需项。四实例独立，无需 spine 和交换机互联。整机按 12 个 PCIe Gen5 槽的参考设计选型，实际使用 8 张 GPU 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基础服务与入口节点 × 12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入口负载均衡 3 台 + 编排与应用 4 台 + 数据库与数据服务 3 台 + 中间件 2 台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240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HAProxy / Nginx / Envoy + VIP；数据库、向量库、时序库 3 节点；中间件 2 节点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存储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200 TB 可用，分层配置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153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预留模型权重 15TB（多版本并存与灰度升级）、向量索引 5TB；时序数据阶段二起按年增 20TB 规划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机房网络 · 安全设备 · 备件 · 测试环境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交换机（业务 / 存储 / 管理）、光模块、布线、备用模块；工业防火墙、OT / IT 隔离、入侵检测、堡垒机、数据库审计、日志审计、终端安全、态势感知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176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网络基础设施 176 万；安全设备与软件费用已列入第 17 页“安全与合规”250 万，不重复计入本页小计。与 GPU 互联 fabric 分列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边缘网关 · 在线检测仪表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网关按 OT 网段配置；仪表以原料水分与粒径为必配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另行立项</a:t>
                      </a:r>
                    </a:p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defRPr>
                      </a:pPr>
                      <a:r>
                        <a:t>不计入合计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属产线设备投资，随产线定标与承接项目扩展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合计（托管路线）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阶段一一次性采购，不分批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自建机房路线另计土建与配电改造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Shape 6"/>
          <p:cNvSpPr/>
          <p:nvPr/>
        </p:nvSpPr>
        <p:spPr>
          <a:xfrm>
            <a:off x="548640" y="5416041"/>
            <a:ext cx="50293" cy="127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Shape 9"/>
          <p:cNvSpPr/>
          <p:nvPr/>
        </p:nvSpPr>
        <p:spPr>
          <a:xfrm>
            <a:off x="548640" y="6010402"/>
            <a:ext cx="50293" cy="127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投入 · 构成</a:t>
            </a:r>
          </a:p>
        </p:txBody>
      </p:sp>
      <p:sp>
        <p:nvSpPr>
          <p:cNvPr id="108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项目投资控制价 11,942 万 · 含基本预备费</a:t>
            </a:r>
          </a:p>
        </p:txBody>
      </p:sp>
      <p:sp>
        <p:nvSpPr>
          <p:cNvPr id="109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7 / 16</a:t>
            </a:r>
          </a:p>
        </p:txBody>
      </p:sp>
      <p:sp>
        <p:nvSpPr>
          <p:cNvPr id="110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graphicFrame>
        <p:nvGraphicFramePr>
          <p:cNvPr id="111" name="Table 0"/>
          <p:cNvGraphicFramePr/>
          <p:nvPr/>
        </p:nvGraphicFramePr>
        <p:xfrm>
          <a:off x="548640" y="1325880"/>
          <a:ext cx="11064239" cy="382219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097987"/>
                <a:gridCol w="2212848"/>
                <a:gridCol w="1217066"/>
                <a:gridCol w="4536338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科目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三年金额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占比（控制价）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构成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硬件采购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40.8%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GPU × 12、GPU 互联 fabric、12 台基础服务与入口节点、存储、机房网络、备件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运营人力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2,094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17.5%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自有编制 15 人（峰值），按用工成本系数 1.35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平台开发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1,252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10.5%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现有平台授权 300 万 ＋ 供应商基于现有产品的底座定向适配 952 万（向量检索、远端 MCP 传输、OT 协议、多租户）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应用开发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980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8.2%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按 140 人月编制预算，含五类智能体、知识库，以及基于设备 / MES / QMS / ERP 已开放标准接口的连接器、字段映射、接口测试与联调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其他 · 托管 · 培训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890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7.5%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机房托管（十二台功耗上升）、外部服务、数据源、差旅、市场、审计、培训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平台年度技术服务费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501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4.2%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首年含质保；第 2–3 年每年按平台采购额 20% 计取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安全与合规（等保三级）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2.1%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安全设备与软件、OT/IT 隔离、测评与整改。明细见「安全与合规」页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静态投资小计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10,836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不含产线设备、在线仪表、厂房土建、销售提成、边缘网关，以及外部原厂的接口开通、版本升级与非标准改造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 基本预备费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1,106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按科目分档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分档计提：无报价科目 15%、硬件与安全 10%、人力 5%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＝ 项目总投资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11,942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投资控制价 11,942 万。立项与资金安排按此口径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112" name="Shape 5"/>
          <p:cNvSpPr/>
          <p:nvPr/>
        </p:nvSpPr>
        <p:spPr>
          <a:xfrm>
            <a:off x="548639" y="5550368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6"/>
          <p:cNvSpPr/>
          <p:nvPr/>
        </p:nvSpPr>
        <p:spPr>
          <a:xfrm>
            <a:off x="548640" y="5550368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7"/>
          <p:cNvSpPr txBox="1"/>
          <p:nvPr/>
        </p:nvSpPr>
        <p:spPr>
          <a:xfrm>
            <a:off x="749808" y="5690067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各科目均按原测算上限纳入投资控制价。平台适配、应用开发和互联 fabric 在采购前取得正式报价，报价不得突破本表控制价。预备费仅用于经审批的漏项、范围变更和汇率波动。</a:t>
            </a:r>
          </a:p>
        </p:txBody>
      </p:sp>
      <p:sp>
        <p:nvSpPr>
          <p:cNvPr id="115" name="Shape 8"/>
          <p:cNvSpPr/>
          <p:nvPr/>
        </p:nvSpPr>
        <p:spPr>
          <a:xfrm>
            <a:off x="548639" y="6144728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hape 9"/>
          <p:cNvSpPr/>
          <p:nvPr/>
        </p:nvSpPr>
        <p:spPr>
          <a:xfrm>
            <a:off x="548640" y="6144728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0"/>
          <p:cNvSpPr txBox="1"/>
          <p:nvPr/>
        </p:nvSpPr>
        <p:spPr>
          <a:xfrm>
            <a:off x="749808" y="6284428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平台适配的计价方式（买断 / 年费 / 按模块 / 按用户数）须在谈判前确定。预备费不是各科目的加价空间，动用须逐笔审批并说明触发事由，不得作为可自由使用的预算外额度。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投入 · 分阶段</a:t>
            </a:r>
          </a:p>
        </p:txBody>
      </p:sp>
      <p:sp>
        <p:nvSpPr>
          <p:cNvPr id="121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单位万元 · 行列均可核对 · 预备费不分摊到阶段，按需动用</a:t>
            </a:r>
          </a:p>
        </p:txBody>
      </p:sp>
      <p:sp>
        <p:nvSpPr>
          <p:cNvPr id="122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8 / 16</a:t>
            </a:r>
          </a:p>
        </p:txBody>
      </p:sp>
      <p:sp>
        <p:nvSpPr>
          <p:cNvPr id="123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graphicFrame>
        <p:nvGraphicFramePr>
          <p:cNvPr id="124" name="Table 0"/>
          <p:cNvGraphicFramePr/>
          <p:nvPr/>
        </p:nvGraphicFramePr>
        <p:xfrm>
          <a:off x="548640" y="1325880"/>
          <a:ext cx="11064240" cy="243230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59635"/>
                <a:gridCol w="1438351"/>
                <a:gridCol w="1217066"/>
                <a:gridCol w="1327709"/>
                <a:gridCol w="1438351"/>
                <a:gridCol w="1106424"/>
                <a:gridCol w="1327709"/>
                <a:gridCol w="1548994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运营人力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应用开发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平台开发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硬件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安全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服务费与其他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小计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阶段一 0–6 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167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210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405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160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142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5,953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阶段二 6–18 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682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490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721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462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2,400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阶段三 18–36 月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1,245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280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126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787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2,483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静态投资小计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2,094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980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1,252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250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1,391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10,836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 基本预备费（不分摊）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1,106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＝ 项目总投资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11,942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125" name="Shape 5"/>
          <p:cNvSpPr/>
          <p:nvPr/>
        </p:nvSpPr>
        <p:spPr>
          <a:xfrm>
            <a:off x="548639" y="3822191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6"/>
          <p:cNvSpPr/>
          <p:nvPr/>
        </p:nvSpPr>
        <p:spPr>
          <a:xfrm>
            <a:off x="548640" y="3822191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7"/>
          <p:cNvSpPr txBox="1"/>
          <p:nvPr/>
        </p:nvSpPr>
        <p:spPr>
          <a:xfrm>
            <a:off x="749808" y="3961891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硬件与安全设备主体落在阶段一，故阶段一虽只有 6 个月，仍占静态投资约 55%。等保测评在阶段一末首测、后两阶段年度复测。预备费不分摊到阶段，动用须逐笔审批。</a:t>
            </a:r>
          </a:p>
        </p:txBody>
      </p:sp>
      <p:sp>
        <p:nvSpPr>
          <p:cNvPr id="130" name="Shape 9"/>
          <p:cNvSpPr/>
          <p:nvPr/>
        </p:nvSpPr>
        <p:spPr>
          <a:xfrm>
            <a:off x="548639" y="5376671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Shape 10"/>
          <p:cNvSpPr/>
          <p:nvPr/>
        </p:nvSpPr>
        <p:spPr>
          <a:xfrm>
            <a:off x="548640" y="5376671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2"/>
          <p:cNvSpPr/>
          <p:nvPr/>
        </p:nvSpPr>
        <p:spPr>
          <a:xfrm>
            <a:off x="548639" y="5897879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13"/>
          <p:cNvSpPr/>
          <p:nvPr/>
        </p:nvSpPr>
        <p:spPr>
          <a:xfrm>
            <a:off x="548640" y="5897879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Rectangle 134"/>
          <p:cNvSpPr/>
          <p:nvPr/>
        </p:nvSpPr>
        <p:spPr>
          <a:xfrm>
            <a:off x="548640" y="4892040"/>
            <a:ext cx="11064240" cy="731520"/>
          </a:xfrm>
          <a:prstGeom prst="rect">
            <a:avLst/>
          </a:prstGeom>
          <a:solidFill>
            <a:srgbClr val="F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548640" y="4892040"/>
            <a:ext cx="54864" cy="731520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749808" y="4983479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本表只到建设期末。两个中心是常设组织, 建成后仍有人力与托管等年度支出, 那部分走常规运营预算, 不计入本项目的投资控制价。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另行管理: 应用迭代按 350 万/年控制; GPU 换代另行立项; 检测仪表校准与耗材按年度实际需求。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40" y="4892040"/>
            <a:ext cx="11064240" cy="731520"/>
          </a:xfrm>
          <a:prstGeom prst="rect">
            <a:avLst/>
          </a:prstGeom>
          <a:solidFill>
            <a:srgbClr val="F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548640" y="4892040"/>
            <a:ext cx="54864" cy="731520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749808" y="4983479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本表只到建设期末。两个中心是常设组织, 建成后仍有人力与托管等年度支出, 那部分走常规运营预算, 不计入本项目的投资控制价。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另行管理: 应用迭代按 350 万/年控制; GPU 换代另行立项; 检测仪表校准与耗材按年度实际需求。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"/>
          <p:cNvSpPr txBox="1"/>
          <p:nvPr/>
        </p:nvSpPr>
        <p:spPr>
          <a:xfrm>
            <a:off x="548639" y="467106"/>
            <a:ext cx="110642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投入 · 政策可申报部分</a:t>
            </a:r>
          </a:p>
        </p:txBody>
      </p:sp>
      <p:sp>
        <p:nvSpPr>
          <p:cNvPr id="139" name="Text 2"/>
          <p:cNvSpPr txBox="1"/>
          <p:nvPr/>
        </p:nvSpPr>
        <p:spPr>
          <a:xfrm>
            <a:off x="548639" y="952753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按能否纳入专项支持范围划分</a:t>
            </a:r>
          </a:p>
        </p:txBody>
      </p:sp>
      <p:sp>
        <p:nvSpPr>
          <p:cNvPr id="140" name="Text 3"/>
          <p:cNvSpPr txBox="1"/>
          <p:nvPr/>
        </p:nvSpPr>
        <p:spPr>
          <a:xfrm>
            <a:off x="10332719" y="6605269"/>
            <a:ext cx="1280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9 / 16</a:t>
            </a:r>
          </a:p>
        </p:txBody>
      </p:sp>
      <p:sp>
        <p:nvSpPr>
          <p:cNvPr id="141" name="Text 4"/>
          <p:cNvSpPr txBox="1"/>
          <p:nvPr/>
        </p:nvSpPr>
        <p:spPr>
          <a:xfrm>
            <a:off x="548640" y="6592569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稻生万物 · 能力中心与渠道中心建设规划</a:t>
            </a:r>
          </a:p>
        </p:txBody>
      </p:sp>
      <p:graphicFrame>
        <p:nvGraphicFramePr>
          <p:cNvPr id="142" name="Table 0"/>
          <p:cNvGraphicFramePr/>
          <p:nvPr/>
        </p:nvGraphicFramePr>
        <p:xfrm>
          <a:off x="548640" y="1325880"/>
          <a:ext cx="11064240" cy="345643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876702"/>
                <a:gridCol w="2212848"/>
                <a:gridCol w="5974690"/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科目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三年金额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可申报性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硬件采购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可申报。固定资产购置属技改专项典型支持范围。边缘网关按项目立项时同样可申报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平台开发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1,252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可申报。软件购置与委托开发合同均在支持范围内；按年订阅的服务费通常不可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应用开发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980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部分可申报。委托开发合同，须逐条核对当年申报口径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安全与合规（等保三级）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250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可申报。安全设备属固定资产；等保建设在多数工业互联网与技改专项中为明确支持方向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运营人力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2,094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基本不可。人员费用限于直接参与项目的技术人员，且通常不超过补贴总额的 20%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服务费与其他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1,391 万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基本不可。机房托管、平台年服务费、差旅与市场费用</a:t>
                      </a:r>
                    </a:p>
                  </a:txBody>
                  <a:tcPr marL="54864" marR="54864" marT="54864" marB="54864" anchor="ctr" anchorCtr="0" horzOverflow="overflow">
                    <a:lnL w="6350">
                      <a:solidFill>
                        <a:srgbClr val="E3E3DE"/>
                      </a:solidFill>
                    </a:lnL>
                    <a:lnR w="6350">
                      <a:solidFill>
                        <a:srgbClr val="E3E3DE"/>
                      </a:solidFill>
                    </a:lnR>
                    <a:lnT w="6350">
                      <a:solidFill>
                        <a:srgbClr val="E3E3DE"/>
                      </a:solidFill>
                    </a:lnT>
                    <a:lnB w="6350">
                      <a:solidFill>
                        <a:srgbClr val="E3E3DE"/>
                      </a:solidFill>
                    </a:lnB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143" name="Shape 5"/>
          <p:cNvSpPr/>
          <p:nvPr/>
        </p:nvSpPr>
        <p:spPr>
          <a:xfrm>
            <a:off x="548639" y="4846320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6"/>
          <p:cNvSpPr/>
          <p:nvPr/>
        </p:nvSpPr>
        <p:spPr>
          <a:xfrm>
            <a:off x="548640" y="4846320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7"/>
          <p:cNvSpPr txBox="1"/>
          <p:nvPr/>
        </p:nvSpPr>
        <p:spPr>
          <a:xfrm>
            <a:off x="749808" y="4986020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可申报科目按控制价合计 7,351 万，占静态投资约 68%。硬件是最易申报的科目；预备费按实际动用时所属科目归类，此处不预先计入。</a:t>
            </a:r>
          </a:p>
        </p:txBody>
      </p:sp>
      <p:sp>
        <p:nvSpPr>
          <p:cNvPr id="146" name="Shape 8"/>
          <p:cNvSpPr/>
          <p:nvPr/>
        </p:nvSpPr>
        <p:spPr>
          <a:xfrm>
            <a:off x="548639" y="5440679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9"/>
          <p:cNvSpPr/>
          <p:nvPr/>
        </p:nvSpPr>
        <p:spPr>
          <a:xfrm>
            <a:off x="548640" y="5440679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0"/>
          <p:cNvSpPr txBox="1"/>
          <p:nvPr/>
        </p:nvSpPr>
        <p:spPr>
          <a:xfrm>
            <a:off x="749808" y="5580379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补贴按投资额的一定比例发放，实际到手金额小于可申报基数，不改变两个中心的现金流量级。</a:t>
            </a:r>
          </a:p>
        </p:txBody>
      </p:sp>
      <p:sp>
        <p:nvSpPr>
          <p:cNvPr id="149" name="Shape 11"/>
          <p:cNvSpPr/>
          <p:nvPr/>
        </p:nvSpPr>
        <p:spPr>
          <a:xfrm>
            <a:off x="548639" y="6035040"/>
            <a:ext cx="11064242" cy="457201"/>
          </a:xfrm>
          <a:prstGeom prst="rect">
            <a:avLst/>
          </a:prstGeom>
          <a:solidFill>
            <a:srgbClr val="F5F1E8"/>
          </a:solidFill>
          <a:ln>
            <a:solidFill>
              <a:srgbClr val="E8DFC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12"/>
          <p:cNvSpPr/>
          <p:nvPr/>
        </p:nvSpPr>
        <p:spPr>
          <a:xfrm>
            <a:off x="548640" y="6035040"/>
            <a:ext cx="50293" cy="457201"/>
          </a:xfrm>
          <a:prstGeom prst="rect">
            <a:avLst/>
          </a:prstGeom>
          <a:solidFill>
            <a:srgbClr val="A87F5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3"/>
          <p:cNvSpPr txBox="1"/>
          <p:nvPr/>
        </p:nvSpPr>
        <p:spPr>
          <a:xfrm>
            <a:off x="749808" y="6174739"/>
            <a:ext cx="106527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研发费用加计扣除机制不同，可覆盖研发人员人工费用，需先确认工作能否认定为研发活动并建立辅助账。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66344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三节点总体架构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上海 · 深圳 · 山东 三地对等 · 每地 12 台 GPU 服务器 · 本地冗余、远程备用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9282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稻生万物 · 能力中心与渠道中心建设规划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60196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2103120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51790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上海 · 首节点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82880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阶段一 0–6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39696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GPU 12 台 · 四组各 3 台互备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基础服务与入口 12 台 · 存储 200 TB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IDC 托管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承担全部平台底座与通用应用开发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3258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97679" y="1325880"/>
            <a:ext cx="54864" cy="210312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17136" y="151790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深圳 · 第二节点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82880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阶段二 6–18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39696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同构 12 台 · 配置与上海完全一致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基础服务与入口 12 台 · 存储 200 TB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IDC 托管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承担本地现场对接与工艺落地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3258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6719" y="1325880"/>
            <a:ext cx="54864" cy="2103120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66175" y="1517904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山东 · 第三节点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182880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阶段三 18–36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139696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同构 12 台 · 配置与上海完全一致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基础服务与入口 12 台 · 存储 200 TB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IDC 托管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承担本地现场对接与工艺落地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5394960" cy="1417320"/>
          </a:xfrm>
          <a:prstGeom prst="rect">
            <a:avLst/>
          </a:prstGeom>
          <a:solidFill>
            <a:srgbClr val="F0EDE4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3703320"/>
            <a:ext cx="54864" cy="1417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8096" y="3877056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本地冗余 —— 每地内部, 日常可用性的来源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187952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12 台分四组, 每组 3 台承载一个完整实例。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组内单机故障由组内消化, 整组故障由其余组接管。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四组各挂一台交换机, 互不依赖 —— 这是日常高可用, 不跨城。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394960" cy="1417320"/>
          </a:xfrm>
          <a:prstGeom prst="rect">
            <a:avLst/>
          </a:prstGeom>
          <a:solidFill>
            <a:srgbClr val="F0EDE4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54864" cy="14173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远程备用 —— 三地之间, 灾备的来源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2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任一地整体不可用时, 由另外两地承接其业务。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不做跨城拆实例: 模型实例不跨城分片, 城际时延撑不住 GPU 互联。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远程备用不参与日常调度, 只在整地失效时启用。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13248"/>
            <a:ext cx="11064240" cy="777240"/>
          </a:xfrm>
          <a:prstGeom prst="rect">
            <a:avLst/>
          </a:prstGeom>
          <a:solidFill>
            <a:srgbClr val="E8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5413248"/>
            <a:ext cx="54864" cy="77724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9808" y="550468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IDC 托管是现阶段路线, 三地均不自建机房; 待各地大楼建成后再评估迁入, 迁移成本不含在本次投资内。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三地配置完全一致 —— 同构才能互相接管, 也让备件、运维手册和故障预案只维护一套。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66344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三节点硬件明细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单节点口径见第 6 页 · 三地同构 · 单位万元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9282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稻生万物 · 能力中心与渠道中心建设规划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60196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11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39" cy="26700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466343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科目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单节点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三节点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为什么按节点复制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GPU 服务器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 台 · 3,600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36 台 · 10,800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三地同构, 每地 12 台 8 卡 GPU 服务器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GPU 互联 fabric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700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2,100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交换机 × 4 + 网卡 96 张, 每地一套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基础服务与入口节点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 台 · 240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36 台 · 720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入口 / 编排 / 数据库, 每地自足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存储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200 TB · 153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600 TB · 459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每地各存一份权重、索引与时序数据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机房网络 · 安全设备 · 备件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176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528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交换机、光模块、布线、备件, 每地一套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合计（托管路线）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14,607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3.00 —— 全部按节点复制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206240"/>
            <a:ext cx="11064240" cy="100584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4206240"/>
            <a:ext cx="54864" cy="1005840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297679"/>
            <a:ext cx="106619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硬件是唯一一个整体 × 3 的科目。第 6 页那六个行项全部是场地内的物理设备, 本地冗余要求每地自足, 没有可共用的部分。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城际链路不在此表: 三地之间只做权重与知识库的数据同步, 按企业专线计, 已含在「其他 · 托管」科目, 采购前需取得运营商报价。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边缘网关与在线检测仪表仍按第 6 页口径另行立项, 三节点方案不改变这一点。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68112"/>
            <a:ext cx="11064240" cy="566928"/>
          </a:xfrm>
          <a:prstGeom prst="rect">
            <a:avLst/>
          </a:prstGeom>
          <a:solidFill>
            <a:srgbClr val="F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5468112"/>
            <a:ext cx="54864" cy="566928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5559552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同构带来的隐性收益: 备件通用、运维手册一套、故障预案一套。三地若各选各的配置, 运维人力不止翻三倍。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66344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三节点静态投资与控制价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静态投资 23,605 万 · 投资控制价 25,946 万 · 单位万元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9282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稻生万物 · 能力中心与渠道中心建设规划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60196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12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39" cy="31912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  <a:gridCol w="1234440"/>
                <a:gridCol w="1234440"/>
                <a:gridCol w="1051559"/>
                <a:gridCol w="48006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科目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单节点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三节点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倍数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倍数是怎么来的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硬件采购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14,607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3.00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场地内物理设备, 本地冗余要求每地自足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运营人力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2,094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3,201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1.53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编制 15 → 27 人, 增量随节点投产逐年到位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平台开发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1,252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1,402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1.12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平台一套三地共用, 增量只有跨地调度与故障切换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应用开发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980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1,568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1.60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通用智能体与知识库共用, 现场点位 / 工艺 / MES 每地重做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其他 · 托管 · 培训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890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1,501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1.69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机房托管按节点数计, 差旅、市场、培训跨三城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平台年度技术服务费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651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1.30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按平台采购额计取, 多地部署抬升服务基数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安全与合规（等保三级）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675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2.70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安全设备与 OT/IT 隔离每地一套, 等保测评三地取点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静态投资小计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10,836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23,605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2.18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软件不复制, 所以远低于 × 3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 基本预备费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1,106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2,341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按科目分档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分档口径同第 7 页: 无报价 15% / 硬件与安全 10% / 人力 5%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＝ 投资控制价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11,942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25,946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× 2.17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立项与资金安排按此口径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864608"/>
            <a:ext cx="11064240" cy="82296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4864608"/>
            <a:ext cx="54864" cy="822960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95604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三个节点不是三倍钱。平台底座、通用智能体和知识库开发一次三地共用 —— 这三项占单节点静态投资的 21%, 复制节点时基本不重复投入。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真正按节点复制的只有硬件（× 3.00）、安全设备（× 2.70）和现场对接部分的应用开发。整体落在 × 2.18。硬件翻倍后它在总盘子里占 62%, 所以这个倍数比上一版更靠近 3。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33872"/>
            <a:ext cx="11064240" cy="566928"/>
          </a:xfrm>
          <a:prstGeom prst="rect">
            <a:avLst/>
          </a:prstGeom>
          <a:solidFill>
            <a:srgbClr val="F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5833872"/>
            <a:ext cx="54864" cy="566928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5925312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各科目仍按原测算上限纳入控制价。互联 fabric、平台适配、应用开发在采购前取得正式报价, 不得突破本表。预备费不分摊、不作为加价空间, 动用须逐笔审批。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66344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分阶段投资 · 每年一个节点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与第 8 页同结构 · 行列均可核对 · 预备费不分摊到阶段 · 单位万元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9282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稻生万物 · 能力中心与渠道中心建设规划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60196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13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34" cy="2560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931"/>
                <a:gridCol w="1194937"/>
                <a:gridCol w="1150680"/>
                <a:gridCol w="1150680"/>
                <a:gridCol w="1194937"/>
                <a:gridCol w="885139"/>
                <a:gridCol w="1416222"/>
                <a:gridCol w="132770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运营人力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应用开发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平台开发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硬件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安全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服务费与其他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小计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阶段一 0–6 月 · 上海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167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210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405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225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220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6,096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阶段二 6–18 月 · 深圳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959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784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871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225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714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8,422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阶段三 18–36 月 · 山东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2,075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574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4,869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225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1,218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9,087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静态投资小计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3,201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1,568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1,402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14,607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675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2,152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23,605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 基本预备费（不分摊）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2,341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＝ 项目总投资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25,946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4206240"/>
            <a:ext cx="54864" cy="822960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297679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硬件按节点均摊到三个阶段, 每阶段 4,869 万 —— 与单节点方案「阶段一一次到位」的口径不同, 因为节点是逐年建的。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人力不是估的: 按「各阶段编制 × 岗位年薪 × 1.35 × 阶段时长」算, 这个式子代入单节点编制能精确还原第 8 页的 167 / 682 / 1,245, 所以三节点的 167 / 959 / 2,075 同样是推出来的。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175504"/>
            <a:ext cx="11064240" cy="685800"/>
          </a:xfrm>
          <a:prstGeom prst="rect">
            <a:avLst/>
          </a:prstGeom>
          <a:solidFill>
            <a:srgbClr val="F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5175504"/>
            <a:ext cx="54864" cy="685800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5266944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阶段一只有 6 个月却要投 3,782 万, 因为首节点硬件与平台底座都压在这里。这一阶段的交付质量决定后两个节点能不能按「复制」而不是「重做」推进 —— 如果首节点的能力没有凝固成可复制的东西, 第二、三节点的倍数会从 0.5 涨回 1.0。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66344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三节点建设期编制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编制 15 → 27 人 · 阶段一 5 / 阶段二 17 / 阶段三 27 人 · 建设期人力已含在静态投资内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9282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稻生万物 · 能力中心与渠道中心建设规划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60196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14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32826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8880"/>
                <a:gridCol w="685800"/>
                <a:gridCol w="685800"/>
                <a:gridCol w="640080"/>
                <a:gridCol w="1234440"/>
                <a:gridCol w="5349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岗位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单地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三地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增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年薪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为什么加 / 为什么不加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能力中心负责人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90 万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不加。一人管三地才能保持方向与验收口径一致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产品与开发管理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 万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每地产线工艺不同, 需求翻译要落地到现场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数据工程师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40 万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点位、时序、语义模型按站点建, 最直接随节点涨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基础设施运维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35 万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托管可远程为主, 但三地各需现场处置能力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业务专家（内部抽调）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不计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内部抽调不计增量。每地工艺不同, 各地要出人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渠道中心负责人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80 万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不加。统筹三条线, 一人管三地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政府关系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55 万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★ 三地政策各申各的, 属地关系无法远程 —— 必须每地一人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合作伙伴 / BD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 万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上下游与检测认证机构按区域拓展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渠道销售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万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材料分销、能力订阅、认证代办按区域覆盖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合计（用工成本系数 1.35）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＋12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830 → 1,384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年人力成本 × 1.67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864608"/>
            <a:ext cx="11064240" cy="65836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4864608"/>
            <a:ext cx="54864" cy="658368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956048"/>
            <a:ext cx="106619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政府关系是唯一「不加不行」的岗位 —— 三地政策各申各的, 属地关系无法远程。两个负责人岗不加: 加人反而分裂方向。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编制爬坡 5 → 17 → 27 人。阶段一仍是 5 人、与单节点方案完全相同 —— 那一阶段本来就只建上海。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69280"/>
            <a:ext cx="11064240" cy="566928"/>
          </a:xfrm>
          <a:prstGeom prst="rect">
            <a:avLst/>
          </a:prstGeom>
          <a:solidFill>
            <a:srgbClr val="F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5669280"/>
            <a:ext cx="54864" cy="566928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5760720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本页只讲建设期编制, 对应静态投资里的「运营人力」科目。建成后两个中心仍是常设组织, 那部分人力走常规运营预算, 不在本次投资口径内。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66344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建设期投资 · 三年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每年一个节点 · 不含运营期成本 · 单位万元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9282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稻生万物 · 能力中心与渠道中心建设规划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60196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66160" cy="1188720"/>
          </a:xfrm>
          <a:prstGeom prst="rect">
            <a:avLst/>
          </a:prstGeom>
          <a:solidFill>
            <a:srgbClr val="F0EDE4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11887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49961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静态投资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755648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23,605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3113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三年建设, 三个节点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325880"/>
            <a:ext cx="3566160" cy="1188720"/>
          </a:xfrm>
          <a:prstGeom prst="rect">
            <a:avLst/>
          </a:prstGeom>
          <a:solidFill>
            <a:srgbClr val="F0EDE4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97679" y="1325880"/>
            <a:ext cx="54864" cy="1188720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17136" y="149961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＋ 基本预备费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755648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2,341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23113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分档计提, 不分摊到阶段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325880"/>
            <a:ext cx="3566160" cy="1188720"/>
          </a:xfrm>
          <a:prstGeom prst="rect">
            <a:avLst/>
          </a:prstGeom>
          <a:solidFill>
            <a:srgbClr val="F0EDE4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6719" y="1325880"/>
            <a:ext cx="54864" cy="118872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66175" y="149961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＝ 投资控制价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1755648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25,946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23113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2.59 亿 · 在 3 亿以内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2743200"/>
          <a:ext cx="11064240" cy="19751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71600"/>
                <a:gridCol w="5852160"/>
                <a:gridCol w="1920240"/>
                <a:gridCol w="19202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年度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内容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当年投入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累计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2C5F2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第 1 年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上海节点（12 台）＋ 平台底座 ＋ 通用应用起步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6,096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6,096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第 2 年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深圳节点（12 台）＋ 应用开发主体 ＋ 三地贯通设计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8,422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14,518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第 3 年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山东节点（12 台）＋ 三地现场对接 ＋ 远程备用演练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9,087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23,605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（不分摊）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基本预备费 · 按需动用, 逐笔审批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2,341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25,946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F0EDE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投资控制价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建设三年合计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25,946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——</a:t>
                      </a:r>
                    </a:p>
                  </a:txBody>
                  <a:tcPr marL="54864" marR="54864" marT="54864" marB="54864" anchor="ctr">
                    <a:lnB w="6350">
                      <a:solidFill>
                        <a:srgbClr val="E3E3DE"/>
                      </a:solidFill>
                    </a:lnB>
                    <a:lnT w="6350">
                      <a:solidFill>
                        <a:srgbClr val="E3E3DE"/>
                      </a:solidFill>
                    </a:lnT>
                    <a:lnR w="6350">
                      <a:solidFill>
                        <a:srgbClr val="E3E3DE"/>
                      </a:solidFill>
                    </a:lnR>
                    <a:lnL w="6350">
                      <a:solidFill>
                        <a:srgbClr val="E3E3DE"/>
                      </a:solidFill>
                    </a:lnL>
                    <a:solidFill>
                      <a:srgbClr val="E8DFC8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54864" cy="822960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9808" y="4937759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控制价 25,946 万 ＝ 2.59 亿, 在 3 亿以内, 余量 4,054 万（14%）。余量留给采购报价与汇率波动, 不作为可自由使用的额度。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硬件占静态投资 62%, 是最大的单一科目 —— 这个项目以硬件投入为主, 采购谈判的权重要放在这里。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15584"/>
            <a:ext cx="11064240" cy="566928"/>
          </a:xfrm>
          <a:prstGeom prst="rect">
            <a:avLst/>
          </a:prstGeom>
          <a:solidFill>
            <a:srgbClr val="F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5815584"/>
            <a:ext cx="54864" cy="566928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5907024"/>
            <a:ext cx="106619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本表只到建设期末。两个中心建成后仍是常设组织, 人力、机房托管、平台年服务费等年度支出走常规运营预算, 不计入本项目投资控制价。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66344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三节点方案的边界 · 不含项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以下各项不在 3 亿之内 · 沿用第 7 页口径并按三节点更新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9282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稻生万物 · 能力中心与渠道中心建设规划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601968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94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1298448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47218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GPU 换代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481328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504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每轮约 10,800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783080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8 页口径: GPU 三年后换代。三地各 12 台分三年投产, 第一轮落在第 4、5、6 年, 每地 3,600 万、三地合计 10,800 万。金额比建设期硬件本身还大, 必须单列。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394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" cy="1298448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7376" y="147218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产线设备与工艺路线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481328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B6F4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本方案只覆盖智能制造的数字化与 AI 部分。设备选型、工艺路线、现场施工不在范围内。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07208"/>
            <a:ext cx="5394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2807208"/>
            <a:ext cx="54864" cy="1298448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8096" y="295351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厂房土建与配电改造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962656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B6F4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26440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现阶段三地均为 IDC 托管。待大楼建成后迁入自建机房的土建、配电与迁移成本另行测算。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07208"/>
            <a:ext cx="5394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0" y="2807208"/>
            <a:ext cx="54864" cy="1298448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37376" y="295351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边缘网关 · 在线检测仪表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962656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87F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另行立项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26440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属产线设备投资, 随产线定标与承接项目扩展。校准与耗材按年度实际需求纳入运营预算。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88536"/>
            <a:ext cx="5394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4288536"/>
            <a:ext cx="54864" cy="1298448"/>
          </a:xfrm>
          <a:prstGeom prst="rect">
            <a:avLst/>
          </a:prstGeom>
          <a:solidFill>
            <a:srgbClr val="A87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8096" y="443484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应用迭代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443984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A87F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350 万/年 单独控制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745736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 8 页口径。三节点下通用应用仍是一套, 该额度暂不按节点放大, 但需按年复核。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288536"/>
            <a:ext cx="5394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217920" y="4288536"/>
            <a:ext cx="54864" cy="1298448"/>
          </a:xfrm>
          <a:prstGeom prst="rect">
            <a:avLst/>
          </a:prstGeom>
          <a:solidFill>
            <a:srgbClr val="5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37376" y="443484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22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销售提成 · 外部原厂授权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443984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C8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745736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沿用第 7 页静态投资小计的排除口径, 三节点不改变。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24144"/>
            <a:ext cx="11064240" cy="749808"/>
          </a:xfrm>
          <a:prstGeom prst="rect">
            <a:avLst/>
          </a:prstGeom>
          <a:solidFill>
            <a:srgbClr val="E8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5724144"/>
            <a:ext cx="54864" cy="749808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9808" y="5815583"/>
            <a:ext cx="10661904" cy="566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六项都不在 3 亿内, 但其中两项会在运营期内实打实发生: GPU 换代（每轮约 10,800 万, 首笔在第 4 年）与应用迭代（350 万/年 × 5 年 ＝ 1,750 万）, 合计 10,750 万, 相当于 3 亿的 36%。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建议在立项文件里把它写成一条独立的资本开支路径, 与本方案同步报批, 不要等设备到寿再讨论。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